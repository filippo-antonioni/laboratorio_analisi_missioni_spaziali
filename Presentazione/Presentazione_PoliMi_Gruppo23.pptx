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Presentiamo il lavoro del Gruppo 23 per il Laboratorio di Analisi di Missioni Spaziali: la progettazione di un trasferimento orbitale verso l'asteroide near-Earth 363505 (2003 UC20), della classe Aten, classificato dalla NASA come potenzialmente pericoloso. L'intera analisi e' stata sviluppata in MATLAB. Anticipiamo il filo conduttore: la missione e' scomposta in tre scenari concatenati di cui stimeremo costi (delta-V) e tempi.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metodo regge tutta l'analisi. Patched conics: dentro ogni sfera d'influenza consideriamo solo l'attrattore dominante, riducendo l'n-corpi a piu' problemi a due corpi. Manovre impulsive: variazioni di velocita' istantanee, adeguate con motori termochimici. Tre sistemi di riferimento. La missione e' divisa in tre scenari concatenati: orbita di parcheggio, trasferimento interplanetario, fuga e arrivo.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Approfondimento metodologico. Le due ipotesi fondanti sono le patched conics e le manovre impulsive. A destra i tre sistemi di riferimento: ECI per le manovre attorno alla Terra, HCI per il trasferimento eliocentrico, perifocale per la descrizione naturale delle orbite. Slide da usare se la commissione chiede dettagli sulle assunzioni.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scenario, attrattore Terra: dall'orbita GTO a un'orbita di parcheggio. Priorita' al risparmio di delta-V e di propellente.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dati di partenza e arrivo. La GTO ha alta eccentricita' (0,73) e bassa inclinazione (0,10 rad); il parcheggio ha eccentricita' simile ma inclinazione molto maggiore (0,51 rad) e diverso orientamento. Dobbiamo quindi cambiare piano, orientamento e geometria: tre famiglie di manovre da ordinare in modo ottimale.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la sequenza piu' intuitiva, tre manovre in ordine fisso - cambio piano, cambio pericentro, bitangente. Costa 6,44 km/s in 1,4 giorni. Tenete a mente questo numero: e' il riferimento da battere.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guadagno: riordinando le manovre si scende da 6,44 a 5,70 km/s. Due ragioni fisiche: effetto Oberth e cambio piano su orbita piu' grande. La sequenza piu' veloce non e' la piu' economica: compare il trade-off delta-V/tempo.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Tabella di dettaglio sulle sequenze. La voce dominante e' sempre la rotazione del pericentro (4,82 km/s): qualunque ordine la lascia cara. Per questo nelle slide successive introduciamo le orbite ausiliarie circolari, che la rendono gratuita. Slide per rispondere a domande sul perche' proprio quell'ordine.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colpo grosso dello scenario 1: l'orbita ausiliaria circolare annulla il costo di rotazione del pericentro. Due soluzioni: A ai margini della SOI (2,87 km/s ma 112 giorni), B di compromesso a quota GTO (4,04 km/s ma 2,3 giorni). Per il bilancio finale useremo la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Giustificazione analitica. Il costo del pericentro e' proporzionale a e: con e=0 si annulla. Il cambio piano scala come 1/radice di a. La ricerca monodimensionale trova l'ottimo al limite della SOI. La soluzione B (quota GTO) e' invece un compromesso pratico per non sacrificare i tempi. Slide per le domande sulle formule.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Secondo scenario, attrattore Sole: trasferimento interplanetario diretto a due impulsi. Tre metodi per trovare e validare l'ottimo.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bersaglio: asteroide Aten, semiasse 1,17·10^8 km, eccentricita' 0,34, quasi nell'eclittica; dati dal database JPL della NASA. Il problema ha tre incognite: theta1 (partenza), theta2 (arrivo), omega_T (orientamento). Trovare la terna ottima e' il cuore dello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metodo: GridSearch a griglia adattiva sullo spazio delle tre variabili. La griglia si ricentra e dimezza ad ogni passo. Vincoli fisici: niente orbite aperte, margine di sicurezza dal Sole. Risultato 7,1380 km/s. Robusto ma pesante: da qui il passaggio agli evolutivi.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metodo piu' elegante: l'algoritmo genetico imita l'evoluzione (selezione, crossover, mutazione), con fitness pari al delta-V. Tuning automatico degli iperparametri e rifinitura con fmincon. La PSO conferma lo stesso valore. Punto chiave: tre metodi indipendenti danno 7,1380 km/s -&gt; ottimo globale.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Approfondimento sulla robustezza. Il rischio degli euristici e' convergere a un ottimo locale: lo controlliamo con un'analisi statistica su molte run. Le deviazioni standard piccolissime (0,068 per il GA, 0,034 per la PSO) e la coincidenza con la GridSearch confermano che 7,1380 km/s e' l'ottimo globale. Slide per domande sulla validazione.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Terzo scenario: le iperboli di fuga e arrivo che raccordano i due precedenti, lavorando ai confini delle sfere d'influenza.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Fuga dalla Terra. Parametro chiave: v infinito. Caso 2D complanare ideale (0,94 km/s); caso 3D realistico in cui l'iperbole deve aumentare energia e cambiare piano insieme. L'innesco ottimale non e' al pericentro: 3,79 km/s in 4,4 giorni.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Dettaglio 3D. Il punto e' la proiezione di v infinito dall'eclittica all'equatore tramite l'inclinazione dell'asse terrestre. Poi una mappatura su tutte le anomalie vere con un sistema non lineare e vincoli di sicurezza individua l'iniezione ottimale. Il costo maggiore rispetto al 2D e' il prezzo del cambio piano. Slide per domande tecniche.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Cattura: SOI minuscola (8-16 km), tolleranze strettissime. L'iperbole d'arrivo e' quasi una retta perche' la massa e' piccolissima. Paradosso: frenare costa caro (5,23 km/s) proprio perche' la gravita' e' debole. Tempo SOI-pericentro: 3 secondi. Ellittica vince di un nulla sulla circolare.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Bilancio: sommando SC1 (circolarizzazione), fuga e cattura otteniamo 11,89 km/s in circa 212 giorni, dominati dalla fase iniziale lenta. La cattura e' la voce piu' cara in delta-V. Stima cautelativa: niente gravity assist ne' margini statistici.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 delta-V al propellente con Tsiolkovsky: il 93% della massa al lancio e' propellente. Con 500 kg a secco servono circa 7400 kg al lancio. Lanciatore Falcon Heavy, costo diretto ~190 M$. Riferimento reale: OSIRIS-REx.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Approfondimento conclusivo. L'ipotesi impulsiva regge per la propulsione termochimica (come OSIRIS-REx). La frazione di propellente del 93% e' alta ma sostenibile per payload leggeri, e la stima e' cautelativa. Massa al lancio ~7,4 t, costo ~190 M$. Slide per la discussione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Chiusura. Tre scenari, ottimo validato da tre metodi (7,1380 km/s), bilancio complessivo ~11,9 km/s in 212 giorni, 93% di propellente, ~190 M$. Missione impegnativa ma fattibile. Grazie, restiamo a disposizione per le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gif"/><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gif"/><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gif"/><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gif"/><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sessions/laughing-busy-clarke/mnt/outputs/assets/asteroid.png">    </p:cNvPr>
          <p:cNvPicPr>
            <a:picLocks noChangeAspect="1"/>
          </p:cNvPicPr>
          <p:nvPr/>
        </p:nvPicPr>
        <p:blipFill>
          <a:blip r:embed="rId2"/>
          <a:stretch>
            <a:fillRect/>
          </a:stretch>
        </p:blipFill>
        <p:spPr>
          <a:xfrm>
            <a:off x="7818120" y="1325880"/>
            <a:ext cx="4023360" cy="4023360"/>
          </a:xfrm>
          <a:prstGeom prst="rect">
            <a:avLst/>
          </a:prstGeom>
        </p:spPr>
      </p:pic>
      <p:sp>
        <p:nvSpPr>
          <p:cNvPr id="3" name="Shape 0"/>
          <p:cNvSpPr/>
          <p:nvPr/>
        </p:nvSpPr>
        <p:spPr>
          <a:xfrm>
            <a:off x="8366760" y="5029200"/>
            <a:ext cx="2926080" cy="329184"/>
          </a:xfrm>
          <a:prstGeom prst="ellipse">
            <a:avLst/>
          </a:prstGeom>
          <a:solidFill>
            <a:srgbClr val="000000">
              <a:alpha val="36000"/>
            </a:srgbClr>
          </a:solidFill>
          <a:ln/>
        </p:spPr>
      </p:sp>
      <p:pic>
        <p:nvPicPr>
          <p:cNvPr id="4" name="Image 1" descr="/sessions/laughing-busy-clarke/mnt/outputs/polimi/logo_white.png">    </p:cNvPr>
          <p:cNvPicPr>
            <a:picLocks noChangeAspect="1"/>
          </p:cNvPicPr>
          <p:nvPr/>
        </p:nvPicPr>
        <p:blipFill>
          <a:blip r:embed="rId3"/>
          <a:stretch>
            <a:fillRect/>
          </a:stretch>
        </p:blipFill>
        <p:spPr>
          <a:xfrm>
            <a:off x="566928" y="457200"/>
            <a:ext cx="2697480" cy="621792"/>
          </a:xfrm>
          <a:prstGeom prst="rect">
            <a:avLst/>
          </a:prstGeom>
        </p:spPr>
      </p:pic>
      <p:sp>
        <p:nvSpPr>
          <p:cNvPr id="5" name="Text 1"/>
          <p:cNvSpPr/>
          <p:nvPr/>
        </p:nvSpPr>
        <p:spPr>
          <a:xfrm>
            <a:off x="566928" y="1691640"/>
            <a:ext cx="7315200" cy="365760"/>
          </a:xfrm>
          <a:prstGeom prst="rect">
            <a:avLst/>
          </a:prstGeom>
          <a:noFill/>
          <a:ln/>
        </p:spPr>
        <p:txBody>
          <a:bodyPr wrap="square" lIns="0" tIns="0" rIns="0" bIns="0" rtlCol="0" anchor="ctr"/>
          <a:lstStyle/>
          <a:p>
            <a:pPr indent="0" marL="0">
              <a:buNone/>
            </a:pPr>
            <a:r>
              <a:rPr lang="en-US" sz="1300" b="1" spc="160" kern="0" dirty="0">
                <a:solidFill>
                  <a:srgbClr val="4DC9FF"/>
                </a:solidFill>
                <a:latin typeface="Arial" pitchFamily="34" charset="0"/>
                <a:ea typeface="Arial" pitchFamily="34" charset="-122"/>
                <a:cs typeface="Arial" pitchFamily="34" charset="-120"/>
              </a:rPr>
              <a:t>LABORATORIO DI ANALISI DI MISSIONI SPAZIALI</a:t>
            </a:r>
            <a:endParaRPr lang="en-US" sz="1300" dirty="0"/>
          </a:p>
        </p:txBody>
      </p:sp>
      <p:sp>
        <p:nvSpPr>
          <p:cNvPr id="6" name="Text 2"/>
          <p:cNvSpPr/>
          <p:nvPr/>
        </p:nvSpPr>
        <p:spPr>
          <a:xfrm>
            <a:off x="566928" y="2194560"/>
            <a:ext cx="7040880" cy="1371600"/>
          </a:xfrm>
          <a:prstGeom prst="rect">
            <a:avLst/>
          </a:prstGeom>
          <a:noFill/>
          <a:ln/>
        </p:spPr>
        <p:txBody>
          <a:bodyPr wrap="square" lIns="0" tIns="0" rIns="0" bIns="0" rtlCol="0" anchor="ctr"/>
          <a:lstStyle/>
          <a:p>
            <a:pPr indent="0" marL="0">
              <a:lnSpc>
                <a:spcPct val="104000"/>
              </a:lnSpc>
              <a:buNone/>
            </a:pPr>
            <a:r>
              <a:rPr lang="en-US" sz="3100" b="1" dirty="0">
                <a:solidFill>
                  <a:srgbClr val="FFFFFF"/>
                </a:solidFill>
                <a:latin typeface="Arial" pitchFamily="34" charset="0"/>
                <a:ea typeface="Arial" pitchFamily="34" charset="-122"/>
                <a:cs typeface="Arial" pitchFamily="34" charset="-120"/>
              </a:rPr>
              <a:t>Progettazione di un trasferimento orbitale verso l'asteroide</a:t>
            </a:r>
            <a:endParaRPr lang="en-US" sz="3100" dirty="0"/>
          </a:p>
        </p:txBody>
      </p:sp>
      <p:sp>
        <p:nvSpPr>
          <p:cNvPr id="7" name="Text 3"/>
          <p:cNvSpPr/>
          <p:nvPr/>
        </p:nvSpPr>
        <p:spPr>
          <a:xfrm>
            <a:off x="566928" y="3611880"/>
            <a:ext cx="7040880" cy="640080"/>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363505 </a:t>
            </a:r>
            <a:pPr indent="0" marL="0">
              <a:buNone/>
            </a:pPr>
            <a:r>
              <a:rPr lang="en-US" sz="3100" b="1" dirty="0">
                <a:solidFill>
                  <a:srgbClr val="4DC9FF"/>
                </a:solidFill>
                <a:latin typeface="Arial" pitchFamily="34" charset="0"/>
                <a:ea typeface="Arial" pitchFamily="34" charset="-122"/>
                <a:cs typeface="Arial" pitchFamily="34" charset="-120"/>
              </a:rPr>
              <a:t>(2003 UC20)</a:t>
            </a:r>
            <a:endParaRPr lang="en-US" sz="3100" dirty="0"/>
          </a:p>
        </p:txBody>
      </p:sp>
      <p:sp>
        <p:nvSpPr>
          <p:cNvPr id="8" name="Text 4"/>
          <p:cNvSpPr/>
          <p:nvPr/>
        </p:nvSpPr>
        <p:spPr>
          <a:xfrm>
            <a:off x="566928" y="4297680"/>
            <a:ext cx="7040880" cy="365760"/>
          </a:xfrm>
          <a:prstGeom prst="rect">
            <a:avLst/>
          </a:prstGeom>
          <a:noFill/>
          <a:ln/>
        </p:spPr>
        <p:txBody>
          <a:bodyPr wrap="square" lIns="0" tIns="0" rIns="0" bIns="0" rtlCol="0" anchor="ctr"/>
          <a:lstStyle/>
          <a:p>
            <a:pPr indent="0" marL="0">
              <a:buNone/>
            </a:pPr>
            <a:r>
              <a:rPr lang="en-US" sz="1300" i="1" dirty="0">
                <a:solidFill>
                  <a:srgbClr val="C7D6EA"/>
                </a:solidFill>
                <a:latin typeface="Arial" pitchFamily="34" charset="0"/>
                <a:ea typeface="Arial" pitchFamily="34" charset="-122"/>
                <a:cs typeface="Arial" pitchFamily="34" charset="-120"/>
              </a:rPr>
              <a:t>Near-Earth Asteroid  ·  classe Aten  ·  Potentially Hazardous Asteroid (PHA)</a:t>
            </a:r>
            <a:endParaRPr lang="en-US" sz="1300" dirty="0"/>
          </a:p>
        </p:txBody>
      </p:sp>
      <p:sp>
        <p:nvSpPr>
          <p:cNvPr id="9" name="Shape 5"/>
          <p:cNvSpPr/>
          <p:nvPr/>
        </p:nvSpPr>
        <p:spPr>
          <a:xfrm>
            <a:off x="566928" y="4937760"/>
            <a:ext cx="6400800" cy="0"/>
          </a:xfrm>
          <a:prstGeom prst="line">
            <a:avLst/>
          </a:prstGeom>
          <a:noFill/>
          <a:ln w="15240">
            <a:solidFill>
              <a:srgbClr val="2C4A72"/>
            </a:solidFill>
            <a:prstDash val="solid"/>
          </a:ln>
        </p:spPr>
      </p:sp>
      <p:sp>
        <p:nvSpPr>
          <p:cNvPr id="10" name="Text 6"/>
          <p:cNvSpPr/>
          <p:nvPr/>
        </p:nvSpPr>
        <p:spPr>
          <a:xfrm>
            <a:off x="566928" y="5084064"/>
            <a:ext cx="7040880" cy="31089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Gruppo 23</a:t>
            </a:r>
            <a:pPr indent="0" marL="0">
              <a:buNone/>
            </a:pPr>
            <a:r>
              <a:rPr lang="en-US" sz="1200" dirty="0">
                <a:solidFill>
                  <a:srgbClr val="C7D6EA"/>
                </a:solidFill>
                <a:latin typeface="Arial" pitchFamily="34" charset="0"/>
                <a:ea typeface="Arial" pitchFamily="34" charset="-122"/>
                <a:cs typeface="Arial" pitchFamily="34" charset="-120"/>
              </a:rPr>
              <a:t>   ·   Amr Abou Eish   ·   Simone Amoruso   ·   Filippo Antonioni</a:t>
            </a:r>
            <a:endParaRPr lang="en-US" sz="1350" dirty="0"/>
          </a:p>
        </p:txBody>
      </p:sp>
      <p:sp>
        <p:nvSpPr>
          <p:cNvPr id="11" name="Text 7"/>
          <p:cNvSpPr/>
          <p:nvPr/>
        </p:nvSpPr>
        <p:spPr>
          <a:xfrm>
            <a:off x="566928" y="5449824"/>
            <a:ext cx="7040880" cy="310896"/>
          </a:xfrm>
          <a:prstGeom prst="rect">
            <a:avLst/>
          </a:prstGeom>
          <a:noFill/>
          <a:ln/>
        </p:spPr>
        <p:txBody>
          <a:bodyPr wrap="square" lIns="0" tIns="0" rIns="0" bIns="0" rtlCol="0" anchor="ctr"/>
          <a:lstStyle/>
          <a:p>
            <a:pPr indent="0" marL="0">
              <a:buNone/>
            </a:pPr>
            <a:r>
              <a:rPr lang="en-US" sz="1150" dirty="0">
                <a:solidFill>
                  <a:srgbClr val="90A6C4"/>
                </a:solidFill>
                <a:latin typeface="Arial" pitchFamily="34" charset="0"/>
                <a:ea typeface="Arial" pitchFamily="34" charset="-122"/>
                <a:cs typeface="Arial" pitchFamily="34" charset="-120"/>
              </a:rPr>
              <a:t>Docenti: Prof. Mauro Massari  ·  Prof. Fabio Ferrari      |      A.A. 2025-2026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INTRODUZIONE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Obiettivo e approccio metodologico</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Shape 4"/>
          <p:cNvSpPr/>
          <p:nvPr/>
        </p:nvSpPr>
        <p:spPr>
          <a:xfrm>
            <a:off x="566928" y="1783080"/>
            <a:ext cx="493776" cy="493776"/>
          </a:xfrm>
          <a:prstGeom prst="ellipse">
            <a:avLst/>
          </a:prstGeom>
          <a:solidFill>
            <a:srgbClr val="102C53"/>
          </a:solidFill>
          <a:ln/>
        </p:spPr>
      </p:sp>
      <p:pic>
        <p:nvPicPr>
          <p:cNvPr id="8" name="Image 1" descr="preencoded.png">    </p:cNvPr>
          <p:cNvPicPr>
            <a:picLocks noChangeAspect="1"/>
          </p:cNvPicPr>
          <p:nvPr/>
        </p:nvPicPr>
        <p:blipFill>
          <a:blip r:embed="rId2"/>
          <a:stretch>
            <a:fillRect/>
          </a:stretch>
        </p:blipFill>
        <p:spPr>
          <a:xfrm>
            <a:off x="685800" y="1901952"/>
            <a:ext cx="256032" cy="256032"/>
          </a:xfrm>
          <a:prstGeom prst="rect">
            <a:avLst/>
          </a:prstGeom>
        </p:spPr>
      </p:pic>
      <p:sp>
        <p:nvSpPr>
          <p:cNvPr id="9" name="Text 5"/>
          <p:cNvSpPr/>
          <p:nvPr/>
        </p:nvSpPr>
        <p:spPr>
          <a:xfrm>
            <a:off x="1243584" y="1737360"/>
            <a:ext cx="484632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Modello a Patched Conics</a:t>
            </a:r>
            <a:endParaRPr lang="en-US" sz="1400" dirty="0"/>
          </a:p>
        </p:txBody>
      </p:sp>
      <p:sp>
        <p:nvSpPr>
          <p:cNvPr id="10" name="Text 6"/>
          <p:cNvSpPr/>
          <p:nvPr/>
        </p:nvSpPr>
        <p:spPr>
          <a:xfrm>
            <a:off x="1243584" y="2020824"/>
            <a:ext cx="484632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Lo spazio e' suddiviso in sfere d'influenza (SOI): un problema di n-corpi diventa una catena di problemi a 2 corpi kepleriani.</a:t>
            </a:r>
            <a:endParaRPr lang="en-US" sz="1150" dirty="0"/>
          </a:p>
        </p:txBody>
      </p:sp>
      <p:sp>
        <p:nvSpPr>
          <p:cNvPr id="11" name="Shape 7"/>
          <p:cNvSpPr/>
          <p:nvPr/>
        </p:nvSpPr>
        <p:spPr>
          <a:xfrm>
            <a:off x="566928" y="2715768"/>
            <a:ext cx="493776" cy="493776"/>
          </a:xfrm>
          <a:prstGeom prst="ellipse">
            <a:avLst/>
          </a:prstGeom>
          <a:solidFill>
            <a:srgbClr val="102C53"/>
          </a:solidFill>
          <a:ln/>
        </p:spPr>
      </p:sp>
      <p:pic>
        <p:nvPicPr>
          <p:cNvPr id="12" name="Image 2" descr="preencoded.png">    </p:cNvPr>
          <p:cNvPicPr>
            <a:picLocks noChangeAspect="1"/>
          </p:cNvPicPr>
          <p:nvPr/>
        </p:nvPicPr>
        <p:blipFill>
          <a:blip r:embed="rId3"/>
          <a:stretch>
            <a:fillRect/>
          </a:stretch>
        </p:blipFill>
        <p:spPr>
          <a:xfrm>
            <a:off x="685800" y="2834640"/>
            <a:ext cx="256032" cy="256032"/>
          </a:xfrm>
          <a:prstGeom prst="rect">
            <a:avLst/>
          </a:prstGeom>
        </p:spPr>
      </p:pic>
      <p:sp>
        <p:nvSpPr>
          <p:cNvPr id="13" name="Text 8"/>
          <p:cNvSpPr/>
          <p:nvPr/>
        </p:nvSpPr>
        <p:spPr>
          <a:xfrm>
            <a:off x="1243584" y="2670048"/>
            <a:ext cx="484632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Manovre impulsive</a:t>
            </a:r>
            <a:endParaRPr lang="en-US" sz="1400" dirty="0"/>
          </a:p>
        </p:txBody>
      </p:sp>
      <p:sp>
        <p:nvSpPr>
          <p:cNvPr id="14" name="Text 9"/>
          <p:cNvSpPr/>
          <p:nvPr/>
        </p:nvSpPr>
        <p:spPr>
          <a:xfrm>
            <a:off x="1243584" y="2953512"/>
            <a:ext cx="484632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Variazioni di velocita' istantanee: ipotesi valida per propulsione termochimica e per una stima preliminare dei costi.</a:t>
            </a:r>
            <a:endParaRPr lang="en-US" sz="1150" dirty="0"/>
          </a:p>
        </p:txBody>
      </p:sp>
      <p:sp>
        <p:nvSpPr>
          <p:cNvPr id="15" name="Shape 10"/>
          <p:cNvSpPr/>
          <p:nvPr/>
        </p:nvSpPr>
        <p:spPr>
          <a:xfrm>
            <a:off x="566928" y="3648456"/>
            <a:ext cx="493776" cy="493776"/>
          </a:xfrm>
          <a:prstGeom prst="ellipse">
            <a:avLst/>
          </a:prstGeom>
          <a:solidFill>
            <a:srgbClr val="102C53"/>
          </a:solidFill>
          <a:ln/>
        </p:spPr>
      </p:sp>
      <p:pic>
        <p:nvPicPr>
          <p:cNvPr id="16" name="Image 3" descr="preencoded.png">    </p:cNvPr>
          <p:cNvPicPr>
            <a:picLocks noChangeAspect="1"/>
          </p:cNvPicPr>
          <p:nvPr/>
        </p:nvPicPr>
        <p:blipFill>
          <a:blip r:embed="rId4"/>
          <a:stretch>
            <a:fillRect/>
          </a:stretch>
        </p:blipFill>
        <p:spPr>
          <a:xfrm>
            <a:off x="685800" y="3767328"/>
            <a:ext cx="256032" cy="256032"/>
          </a:xfrm>
          <a:prstGeom prst="rect">
            <a:avLst/>
          </a:prstGeom>
        </p:spPr>
      </p:pic>
      <p:sp>
        <p:nvSpPr>
          <p:cNvPr id="17" name="Text 11"/>
          <p:cNvSpPr/>
          <p:nvPr/>
        </p:nvSpPr>
        <p:spPr>
          <a:xfrm>
            <a:off x="1243584" y="3602736"/>
            <a:ext cx="484632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Tre sistemi di riferimento</a:t>
            </a:r>
            <a:endParaRPr lang="en-US" sz="1400" dirty="0"/>
          </a:p>
        </p:txBody>
      </p:sp>
      <p:sp>
        <p:nvSpPr>
          <p:cNvPr id="18" name="Text 12"/>
          <p:cNvSpPr/>
          <p:nvPr/>
        </p:nvSpPr>
        <p:spPr>
          <a:xfrm>
            <a:off x="1243584" y="3886200"/>
            <a:ext cx="484632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Earth-Centered Inertial (ECI), Inerziale Eliocentrico (HCI) e Perifocale, scelti in funzione della fase di missione.</a:t>
            </a:r>
            <a:endParaRPr lang="en-US" sz="1150" dirty="0"/>
          </a:p>
        </p:txBody>
      </p:sp>
      <p:sp>
        <p:nvSpPr>
          <p:cNvPr id="19" name="Text 13"/>
          <p:cNvSpPr/>
          <p:nvPr/>
        </p:nvSpPr>
        <p:spPr>
          <a:xfrm>
            <a:off x="6583680" y="1691640"/>
            <a:ext cx="5029200" cy="310896"/>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La missione in tre scenari concatenati</a:t>
            </a:r>
            <a:endParaRPr lang="en-US" sz="1300" dirty="0"/>
          </a:p>
        </p:txBody>
      </p:sp>
      <p:sp>
        <p:nvSpPr>
          <p:cNvPr id="20" name="Shape 14"/>
          <p:cNvSpPr/>
          <p:nvPr/>
        </p:nvSpPr>
        <p:spPr>
          <a:xfrm>
            <a:off x="6583680" y="2103120"/>
            <a:ext cx="5029200" cy="932688"/>
          </a:xfrm>
          <a:prstGeom prst="roundRect">
            <a:avLst>
              <a:gd name="adj" fmla="val 6863"/>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1" name="Shape 15"/>
          <p:cNvSpPr/>
          <p:nvPr/>
        </p:nvSpPr>
        <p:spPr>
          <a:xfrm>
            <a:off x="6766560" y="2331720"/>
            <a:ext cx="475488" cy="475488"/>
          </a:xfrm>
          <a:prstGeom prst="ellipse">
            <a:avLst/>
          </a:prstGeom>
          <a:solidFill>
            <a:srgbClr val="102C53"/>
          </a:solidFill>
          <a:ln/>
        </p:spPr>
      </p:sp>
      <p:sp>
        <p:nvSpPr>
          <p:cNvPr id="22" name="Text 16"/>
          <p:cNvSpPr/>
          <p:nvPr/>
        </p:nvSpPr>
        <p:spPr>
          <a:xfrm>
            <a:off x="6766560" y="233172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23" name="Text 17"/>
          <p:cNvSpPr/>
          <p:nvPr/>
        </p:nvSpPr>
        <p:spPr>
          <a:xfrm>
            <a:off x="7452360" y="2249424"/>
            <a:ext cx="4023360" cy="365760"/>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Orbita di parcheggio</a:t>
            </a:r>
            <a:endParaRPr lang="en-US" sz="1400" dirty="0"/>
          </a:p>
        </p:txBody>
      </p:sp>
      <p:sp>
        <p:nvSpPr>
          <p:cNvPr id="24" name="Text 18"/>
          <p:cNvSpPr/>
          <p:nvPr/>
        </p:nvSpPr>
        <p:spPr>
          <a:xfrm>
            <a:off x="7452360" y="2615184"/>
            <a:ext cx="4023360" cy="365760"/>
          </a:xfrm>
          <a:prstGeom prst="rect">
            <a:avLst/>
          </a:prstGeom>
          <a:noFill/>
          <a:ln/>
        </p:spPr>
        <p:txBody>
          <a:bodyPr wrap="square" lIns="0" tIns="0" rIns="0" bIns="0" rtlCol="0" anchor="ctr"/>
          <a:lstStyle/>
          <a:p>
            <a:pPr indent="0" marL="0">
              <a:buNone/>
            </a:pPr>
            <a:r>
              <a:rPr lang="en-US" sz="1100" dirty="0">
                <a:solidFill>
                  <a:srgbClr val="35475E"/>
                </a:solidFill>
                <a:latin typeface="Arial" pitchFamily="34" charset="0"/>
                <a:ea typeface="Arial" pitchFamily="34" charset="-122"/>
                <a:cs typeface="Arial" pitchFamily="34" charset="-120"/>
              </a:rPr>
              <a:t>Da GTO a parcheggio geocentrico (attrattore: Terra)</a:t>
            </a:r>
            <a:endParaRPr lang="en-US" sz="1100" dirty="0"/>
          </a:p>
        </p:txBody>
      </p:sp>
      <p:sp>
        <p:nvSpPr>
          <p:cNvPr id="25" name="Shape 19"/>
          <p:cNvSpPr/>
          <p:nvPr/>
        </p:nvSpPr>
        <p:spPr>
          <a:xfrm>
            <a:off x="6583680" y="3182112"/>
            <a:ext cx="5029200" cy="932688"/>
          </a:xfrm>
          <a:prstGeom prst="roundRect">
            <a:avLst>
              <a:gd name="adj" fmla="val 6863"/>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6" name="Shape 20"/>
          <p:cNvSpPr/>
          <p:nvPr/>
        </p:nvSpPr>
        <p:spPr>
          <a:xfrm>
            <a:off x="6766560" y="3410712"/>
            <a:ext cx="475488" cy="475488"/>
          </a:xfrm>
          <a:prstGeom prst="ellipse">
            <a:avLst/>
          </a:prstGeom>
          <a:solidFill>
            <a:srgbClr val="102C53"/>
          </a:solidFill>
          <a:ln/>
        </p:spPr>
      </p:sp>
      <p:sp>
        <p:nvSpPr>
          <p:cNvPr id="27" name="Text 21"/>
          <p:cNvSpPr/>
          <p:nvPr/>
        </p:nvSpPr>
        <p:spPr>
          <a:xfrm>
            <a:off x="6766560" y="341071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8" name="Text 22"/>
          <p:cNvSpPr/>
          <p:nvPr/>
        </p:nvSpPr>
        <p:spPr>
          <a:xfrm>
            <a:off x="7452360" y="3328416"/>
            <a:ext cx="4023360" cy="365760"/>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Trasferimento interplanetario</a:t>
            </a:r>
            <a:endParaRPr lang="en-US" sz="1400" dirty="0"/>
          </a:p>
        </p:txBody>
      </p:sp>
      <p:sp>
        <p:nvSpPr>
          <p:cNvPr id="29" name="Text 23"/>
          <p:cNvSpPr/>
          <p:nvPr/>
        </p:nvSpPr>
        <p:spPr>
          <a:xfrm>
            <a:off x="7452360" y="3694176"/>
            <a:ext cx="4023360" cy="365760"/>
          </a:xfrm>
          <a:prstGeom prst="rect">
            <a:avLst/>
          </a:prstGeom>
          <a:noFill/>
          <a:ln/>
        </p:spPr>
        <p:txBody>
          <a:bodyPr wrap="square" lIns="0" tIns="0" rIns="0" bIns="0" rtlCol="0" anchor="ctr"/>
          <a:lstStyle/>
          <a:p>
            <a:pPr indent="0" marL="0">
              <a:buNone/>
            </a:pPr>
            <a:r>
              <a:rPr lang="en-US" sz="1100" dirty="0">
                <a:solidFill>
                  <a:srgbClr val="35475E"/>
                </a:solidFill>
                <a:latin typeface="Arial" pitchFamily="34" charset="0"/>
                <a:ea typeface="Arial" pitchFamily="34" charset="-122"/>
                <a:cs typeface="Arial" pitchFamily="34" charset="-120"/>
              </a:rPr>
              <a:t>Orbita eliocentrica Terra -&gt; asteroide (attrattore: Sole)</a:t>
            </a:r>
            <a:endParaRPr lang="en-US" sz="1100" dirty="0"/>
          </a:p>
        </p:txBody>
      </p:sp>
      <p:sp>
        <p:nvSpPr>
          <p:cNvPr id="30" name="Shape 24"/>
          <p:cNvSpPr/>
          <p:nvPr/>
        </p:nvSpPr>
        <p:spPr>
          <a:xfrm>
            <a:off x="6583680" y="4261104"/>
            <a:ext cx="5029200" cy="932688"/>
          </a:xfrm>
          <a:prstGeom prst="roundRect">
            <a:avLst>
              <a:gd name="adj" fmla="val 6863"/>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31" name="Shape 25"/>
          <p:cNvSpPr/>
          <p:nvPr/>
        </p:nvSpPr>
        <p:spPr>
          <a:xfrm>
            <a:off x="6766560" y="4489704"/>
            <a:ext cx="475488" cy="475488"/>
          </a:xfrm>
          <a:prstGeom prst="ellipse">
            <a:avLst/>
          </a:prstGeom>
          <a:solidFill>
            <a:srgbClr val="102C53"/>
          </a:solidFill>
          <a:ln/>
        </p:spPr>
      </p:sp>
      <p:sp>
        <p:nvSpPr>
          <p:cNvPr id="32" name="Text 26"/>
          <p:cNvSpPr/>
          <p:nvPr/>
        </p:nvSpPr>
        <p:spPr>
          <a:xfrm>
            <a:off x="6766560" y="4489704"/>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3" name="Text 27"/>
          <p:cNvSpPr/>
          <p:nvPr/>
        </p:nvSpPr>
        <p:spPr>
          <a:xfrm>
            <a:off x="7452360" y="4407408"/>
            <a:ext cx="4023360" cy="365760"/>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Fuga e arrivo</a:t>
            </a:r>
            <a:endParaRPr lang="en-US" sz="1400" dirty="0"/>
          </a:p>
        </p:txBody>
      </p:sp>
      <p:sp>
        <p:nvSpPr>
          <p:cNvPr id="34" name="Text 28"/>
          <p:cNvSpPr/>
          <p:nvPr/>
        </p:nvSpPr>
        <p:spPr>
          <a:xfrm>
            <a:off x="7452360" y="4773168"/>
            <a:ext cx="4023360" cy="365760"/>
          </a:xfrm>
          <a:prstGeom prst="rect">
            <a:avLst/>
          </a:prstGeom>
          <a:noFill/>
          <a:ln/>
        </p:spPr>
        <p:txBody>
          <a:bodyPr wrap="square" lIns="0" tIns="0" rIns="0" bIns="0" rtlCol="0" anchor="ctr"/>
          <a:lstStyle/>
          <a:p>
            <a:pPr indent="0" marL="0">
              <a:buNone/>
            </a:pPr>
            <a:r>
              <a:rPr lang="en-US" sz="1100" dirty="0">
                <a:solidFill>
                  <a:srgbClr val="35475E"/>
                </a:solidFill>
                <a:latin typeface="Arial" pitchFamily="34" charset="0"/>
                <a:ea typeface="Arial" pitchFamily="34" charset="-122"/>
                <a:cs typeface="Arial" pitchFamily="34" charset="-120"/>
              </a:rPr>
              <a:t>Iperboli di fuga dalla Terra e di cattura sull'asteroide</a:t>
            </a:r>
            <a:endParaRPr lang="en-US" sz="1100" dirty="0"/>
          </a:p>
        </p:txBody>
      </p:sp>
      <p:sp>
        <p:nvSpPr>
          <p:cNvPr id="35" name="Text 29"/>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36" name="Text 30"/>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INTRODUZIONE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Ipotesi e sistemi di riferimento</a:t>
            </a:r>
            <a:endParaRPr lang="en-US" sz="2600" dirty="0"/>
          </a:p>
        </p:txBody>
      </p:sp>
      <p:sp>
        <p:nvSpPr>
          <p:cNvPr id="6" name="Shape 3"/>
          <p:cNvSpPr/>
          <p:nvPr/>
        </p:nvSpPr>
        <p:spPr>
          <a:xfrm>
            <a:off x="9793224" y="841248"/>
            <a:ext cx="1828800" cy="365760"/>
          </a:xfrm>
          <a:prstGeom prst="roundRect">
            <a:avLst>
              <a:gd name="adj" fmla="val 50000"/>
            </a:avLst>
          </a:prstGeom>
          <a:solidFill>
            <a:srgbClr val="E7F6FF"/>
          </a:solidFill>
          <a:ln w="12700">
            <a:solidFill>
              <a:srgbClr val="4DC9FF"/>
            </a:solidFill>
            <a:prstDash val="solid"/>
          </a:ln>
        </p:spPr>
      </p:sp>
      <p:sp>
        <p:nvSpPr>
          <p:cNvPr id="7" name="Text 4"/>
          <p:cNvSpPr/>
          <p:nvPr/>
        </p:nvSpPr>
        <p:spPr>
          <a:xfrm>
            <a:off x="9793224" y="841248"/>
            <a:ext cx="1828800" cy="365760"/>
          </a:xfrm>
          <a:prstGeom prst="rect">
            <a:avLst/>
          </a:prstGeom>
          <a:noFill/>
          <a:ln/>
        </p:spPr>
        <p:txBody>
          <a:bodyPr wrap="square" lIns="0" tIns="0" rIns="0" bIns="0" rtlCol="0" anchor="ctr"/>
          <a:lstStyle/>
          <a:p>
            <a:pPr algn="ctr" indent="0" marL="0">
              <a:buNone/>
            </a:pPr>
            <a:r>
              <a:rPr lang="en-US" sz="1000" b="1" spc="150" kern="0" dirty="0">
                <a:solidFill>
                  <a:srgbClr val="1C82C0"/>
                </a:solidFill>
                <a:latin typeface="Arial" pitchFamily="34" charset="0"/>
                <a:ea typeface="Arial" pitchFamily="34" charset="-122"/>
                <a:cs typeface="Arial" pitchFamily="34" charset="-120"/>
              </a:rPr>
              <a:t>APPROFONDIMENTO</a:t>
            </a:r>
            <a:endParaRPr lang="en-US" sz="1000" dirty="0"/>
          </a:p>
        </p:txBody>
      </p:sp>
      <p:sp>
        <p:nvSpPr>
          <p:cNvPr id="8" name="Shape 5"/>
          <p:cNvSpPr/>
          <p:nvPr/>
        </p:nvSpPr>
        <p:spPr>
          <a:xfrm>
            <a:off x="566928" y="1463040"/>
            <a:ext cx="11055096" cy="0"/>
          </a:xfrm>
          <a:prstGeom prst="line">
            <a:avLst/>
          </a:prstGeom>
          <a:noFill/>
          <a:ln w="12700">
            <a:solidFill>
              <a:srgbClr val="DBE3EE"/>
            </a:solidFill>
            <a:prstDash val="solid"/>
          </a:ln>
        </p:spPr>
      </p:sp>
      <p:sp>
        <p:nvSpPr>
          <p:cNvPr id="9" name="Text 6"/>
          <p:cNvSpPr/>
          <p:nvPr/>
        </p:nvSpPr>
        <p:spPr>
          <a:xfrm>
            <a:off x="566928" y="1691640"/>
            <a:ext cx="5532120" cy="4206240"/>
          </a:xfrm>
          <a:prstGeom prst="rect">
            <a:avLst/>
          </a:prstGeom>
          <a:noFill/>
          <a:ln/>
        </p:spPr>
        <p:txBody>
          <a:bodyPr wrap="square" lIns="0" tIns="0" rIns="0" bIns="0" rtlCol="0" anchor="t"/>
          <a:lstStyle/>
          <a:p>
            <a:pPr algn="l" indent="0" marL="0">
              <a:lnSpc>
                <a:spcPct val="112000"/>
              </a:lnSpc>
              <a:buNone/>
            </a:pPr>
            <a:r>
              <a:rPr lang="en-US" sz="1300" b="1" dirty="0">
                <a:solidFill>
                  <a:srgbClr val="102C53"/>
                </a:solidFill>
                <a:latin typeface="Arial" pitchFamily="34" charset="0"/>
                <a:ea typeface="Arial" pitchFamily="34" charset="-122"/>
                <a:cs typeface="Arial" pitchFamily="34" charset="-120"/>
              </a:rPr>
              <a:t>Patched conics. </a:t>
            </a:r>
            <a:pPr algn="l" indent="0" marL="0">
              <a:lnSpc>
                <a:spcPct val="112000"/>
              </a:lnSpc>
              <a:buNone/>
            </a:pPr>
            <a:r>
              <a:rPr lang="en-US" sz="1300" dirty="0">
                <a:solidFill>
                  <a:srgbClr val="35475E"/>
                </a:solidFill>
                <a:latin typeface="Arial" pitchFamily="34" charset="0"/>
                <a:ea typeface="Arial" pitchFamily="34" charset="-122"/>
                <a:cs typeface="Arial" pitchFamily="34" charset="-120"/>
              </a:rPr>
              <a:t>Trattandosi di uno studio preliminare, lo spazio viene suddiviso in sfere d'influenza (SOI), regioni entro le quali l'unica forza considerata e' l'attrazione gravitazionale del corpo piu' massiccio. Il complesso problema di n-corpi si riduce cosi' a una successione di problemi a due corpi, le cui soluzioni sono le note orbite kepleriane.
</a:t>
            </a:r>
            <a:pPr algn="l" indent="0" marL="0">
              <a:lnSpc>
                <a:spcPct val="112000"/>
              </a:lnSpc>
              <a:buNone/>
            </a:pPr>
            <a:r>
              <a:rPr lang="en-US" sz="1300" b="1" dirty="0">
                <a:solidFill>
                  <a:srgbClr val="102C53"/>
                </a:solidFill>
                <a:latin typeface="Arial" pitchFamily="34" charset="0"/>
                <a:ea typeface="Arial" pitchFamily="34" charset="-122"/>
                <a:cs typeface="Arial" pitchFamily="34" charset="-120"/>
              </a:rPr>
              <a:t>Manovre impulsive. </a:t>
            </a:r>
            <a:pPr algn="l" indent="0" marL="0">
              <a:lnSpc>
                <a:spcPct val="112000"/>
              </a:lnSpc>
              <a:buNone/>
            </a:pPr>
            <a:r>
              <a:rPr lang="en-US" sz="1300" dirty="0">
                <a:solidFill>
                  <a:srgbClr val="35475E"/>
                </a:solidFill>
                <a:latin typeface="Arial" pitchFamily="34" charset="0"/>
                <a:ea typeface="Arial" pitchFamily="34" charset="-122"/>
                <a:cs typeface="Arial" pitchFamily="34" charset="-120"/>
              </a:rPr>
              <a:t>Le accensioni sono modellate come variazioni di velocita' istantanee. L'approssimazione e' adeguata quando i tempi di manovra sono molto piccoli rispetto ai periodi orbitali, ed e' particolarmente accurata per la propulsione termochimica, che eroga grandi spinte in tempi brevi.</a:t>
            </a:r>
            <a:endParaRPr lang="en-US" sz="1300" dirty="0"/>
          </a:p>
        </p:txBody>
      </p:sp>
      <p:sp>
        <p:nvSpPr>
          <p:cNvPr id="10" name="Text 7"/>
          <p:cNvSpPr/>
          <p:nvPr/>
        </p:nvSpPr>
        <p:spPr>
          <a:xfrm>
            <a:off x="6537960" y="1691640"/>
            <a:ext cx="5120640" cy="310896"/>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I tre sistemi di riferimento</a:t>
            </a:r>
            <a:endParaRPr lang="en-US" sz="1300" dirty="0"/>
          </a:p>
        </p:txBody>
      </p:sp>
      <p:sp>
        <p:nvSpPr>
          <p:cNvPr id="11" name="Shape 8"/>
          <p:cNvSpPr/>
          <p:nvPr/>
        </p:nvSpPr>
        <p:spPr>
          <a:xfrm>
            <a:off x="6537960" y="2084832"/>
            <a:ext cx="5074920" cy="1097280"/>
          </a:xfrm>
          <a:prstGeom prst="roundRect">
            <a:avLst>
              <a:gd name="adj" fmla="val 5833"/>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2" name="Text 9"/>
          <p:cNvSpPr/>
          <p:nvPr/>
        </p:nvSpPr>
        <p:spPr>
          <a:xfrm>
            <a:off x="6748272" y="2203704"/>
            <a:ext cx="4663440" cy="329184"/>
          </a:xfrm>
          <a:prstGeom prst="rect">
            <a:avLst/>
          </a:prstGeom>
          <a:noFill/>
          <a:ln/>
        </p:spPr>
        <p:txBody>
          <a:bodyPr wrap="square" lIns="0" tIns="0" rIns="0" bIns="0" rtlCol="0" anchor="ctr"/>
          <a:lstStyle/>
          <a:p>
            <a:pPr indent="0" marL="0">
              <a:buNone/>
            </a:pPr>
            <a:r>
              <a:rPr lang="en-US" sz="1250" b="1" dirty="0">
                <a:solidFill>
                  <a:srgbClr val="102C53"/>
                </a:solidFill>
                <a:latin typeface="Arial" pitchFamily="34" charset="0"/>
                <a:ea typeface="Arial" pitchFamily="34" charset="-122"/>
                <a:cs typeface="Arial" pitchFamily="34" charset="-120"/>
              </a:rPr>
              <a:t>ECI — Earth Centered Inertial</a:t>
            </a:r>
            <a:endParaRPr lang="en-US" sz="1250" dirty="0"/>
          </a:p>
        </p:txBody>
      </p:sp>
      <p:sp>
        <p:nvSpPr>
          <p:cNvPr id="13" name="Text 10"/>
          <p:cNvSpPr/>
          <p:nvPr/>
        </p:nvSpPr>
        <p:spPr>
          <a:xfrm>
            <a:off x="6748272" y="2542032"/>
            <a:ext cx="4663440" cy="566928"/>
          </a:xfrm>
          <a:prstGeom prst="rect">
            <a:avLst/>
          </a:prstGeom>
          <a:noFill/>
          <a:ln/>
        </p:spPr>
        <p:txBody>
          <a:bodyPr wrap="square" lIns="0" tIns="0" rIns="0" bIns="0" rtlCol="0" anchor="ctr"/>
          <a:lstStyle/>
          <a:p>
            <a:pPr indent="0" marL="0">
              <a:lnSpc>
                <a:spcPct val="100000"/>
              </a:lnSpc>
              <a:buNone/>
            </a:pPr>
            <a:r>
              <a:rPr lang="en-US" sz="1100" dirty="0">
                <a:solidFill>
                  <a:srgbClr val="35475E"/>
                </a:solidFill>
                <a:latin typeface="Arial" pitchFamily="34" charset="0"/>
                <a:ea typeface="Arial" pitchFamily="34" charset="-122"/>
                <a:cs typeface="Arial" pitchFamily="34" charset="-120"/>
              </a:rPr>
              <a:t>Origine nel centro della Terra, piano equatoriale celeste, asse principale verso il punto d'Ariete.</a:t>
            </a:r>
            <a:endParaRPr lang="en-US" sz="1100" dirty="0"/>
          </a:p>
        </p:txBody>
      </p:sp>
      <p:sp>
        <p:nvSpPr>
          <p:cNvPr id="14" name="Shape 11"/>
          <p:cNvSpPr/>
          <p:nvPr/>
        </p:nvSpPr>
        <p:spPr>
          <a:xfrm>
            <a:off x="6537960" y="3328416"/>
            <a:ext cx="5074920" cy="1097280"/>
          </a:xfrm>
          <a:prstGeom prst="roundRect">
            <a:avLst>
              <a:gd name="adj" fmla="val 5833"/>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5" name="Text 12"/>
          <p:cNvSpPr/>
          <p:nvPr/>
        </p:nvSpPr>
        <p:spPr>
          <a:xfrm>
            <a:off x="6748272" y="3447288"/>
            <a:ext cx="4663440" cy="329184"/>
          </a:xfrm>
          <a:prstGeom prst="rect">
            <a:avLst/>
          </a:prstGeom>
          <a:noFill/>
          <a:ln/>
        </p:spPr>
        <p:txBody>
          <a:bodyPr wrap="square" lIns="0" tIns="0" rIns="0" bIns="0" rtlCol="0" anchor="ctr"/>
          <a:lstStyle/>
          <a:p>
            <a:pPr indent="0" marL="0">
              <a:buNone/>
            </a:pPr>
            <a:r>
              <a:rPr lang="en-US" sz="1250" b="1" dirty="0">
                <a:solidFill>
                  <a:srgbClr val="102C53"/>
                </a:solidFill>
                <a:latin typeface="Arial" pitchFamily="34" charset="0"/>
                <a:ea typeface="Arial" pitchFamily="34" charset="-122"/>
                <a:cs typeface="Arial" pitchFamily="34" charset="-120"/>
              </a:rPr>
              <a:t>HCI — Inerziale Eliocentrico</a:t>
            </a:r>
            <a:endParaRPr lang="en-US" sz="1250" dirty="0"/>
          </a:p>
        </p:txBody>
      </p:sp>
      <p:sp>
        <p:nvSpPr>
          <p:cNvPr id="16" name="Text 13"/>
          <p:cNvSpPr/>
          <p:nvPr/>
        </p:nvSpPr>
        <p:spPr>
          <a:xfrm>
            <a:off x="6748272" y="3785616"/>
            <a:ext cx="4663440" cy="566928"/>
          </a:xfrm>
          <a:prstGeom prst="rect">
            <a:avLst/>
          </a:prstGeom>
          <a:noFill/>
          <a:ln/>
        </p:spPr>
        <p:txBody>
          <a:bodyPr wrap="square" lIns="0" tIns="0" rIns="0" bIns="0" rtlCol="0" anchor="ctr"/>
          <a:lstStyle/>
          <a:p>
            <a:pPr indent="0" marL="0">
              <a:lnSpc>
                <a:spcPct val="100000"/>
              </a:lnSpc>
              <a:buNone/>
            </a:pPr>
            <a:r>
              <a:rPr lang="en-US" sz="1100" dirty="0">
                <a:solidFill>
                  <a:srgbClr val="35475E"/>
                </a:solidFill>
                <a:latin typeface="Arial" pitchFamily="34" charset="0"/>
                <a:ea typeface="Arial" pitchFamily="34" charset="-122"/>
                <a:cs typeface="Arial" pitchFamily="34" charset="-120"/>
              </a:rPr>
              <a:t>Origine nel Sole, piano dell'eclittica, asse verso il punto d'Ariete; usato nel trasferimento interplanetario.</a:t>
            </a:r>
            <a:endParaRPr lang="en-US" sz="1100" dirty="0"/>
          </a:p>
        </p:txBody>
      </p:sp>
      <p:sp>
        <p:nvSpPr>
          <p:cNvPr id="17" name="Shape 14"/>
          <p:cNvSpPr/>
          <p:nvPr/>
        </p:nvSpPr>
        <p:spPr>
          <a:xfrm>
            <a:off x="6537960" y="4572000"/>
            <a:ext cx="5074920" cy="1097280"/>
          </a:xfrm>
          <a:prstGeom prst="roundRect">
            <a:avLst>
              <a:gd name="adj" fmla="val 5833"/>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8" name="Text 15"/>
          <p:cNvSpPr/>
          <p:nvPr/>
        </p:nvSpPr>
        <p:spPr>
          <a:xfrm>
            <a:off x="6748272" y="4690872"/>
            <a:ext cx="4663440" cy="329184"/>
          </a:xfrm>
          <a:prstGeom prst="rect">
            <a:avLst/>
          </a:prstGeom>
          <a:noFill/>
          <a:ln/>
        </p:spPr>
        <p:txBody>
          <a:bodyPr wrap="square" lIns="0" tIns="0" rIns="0" bIns="0" rtlCol="0" anchor="ctr"/>
          <a:lstStyle/>
          <a:p>
            <a:pPr indent="0" marL="0">
              <a:buNone/>
            </a:pPr>
            <a:r>
              <a:rPr lang="en-US" sz="1250" b="1" dirty="0">
                <a:solidFill>
                  <a:srgbClr val="102C53"/>
                </a:solidFill>
                <a:latin typeface="Arial" pitchFamily="34" charset="0"/>
                <a:ea typeface="Arial" pitchFamily="34" charset="-122"/>
                <a:cs typeface="Arial" pitchFamily="34" charset="-120"/>
              </a:rPr>
              <a:t>Perifocale</a:t>
            </a:r>
            <a:endParaRPr lang="en-US" sz="1250" dirty="0"/>
          </a:p>
        </p:txBody>
      </p:sp>
      <p:sp>
        <p:nvSpPr>
          <p:cNvPr id="19" name="Text 16"/>
          <p:cNvSpPr/>
          <p:nvPr/>
        </p:nvSpPr>
        <p:spPr>
          <a:xfrm>
            <a:off x="6748272" y="5029200"/>
            <a:ext cx="4663440" cy="566928"/>
          </a:xfrm>
          <a:prstGeom prst="rect">
            <a:avLst/>
          </a:prstGeom>
          <a:noFill/>
          <a:ln/>
        </p:spPr>
        <p:txBody>
          <a:bodyPr wrap="square" lIns="0" tIns="0" rIns="0" bIns="0" rtlCol="0" anchor="ctr"/>
          <a:lstStyle/>
          <a:p>
            <a:pPr indent="0" marL="0">
              <a:lnSpc>
                <a:spcPct val="100000"/>
              </a:lnSpc>
              <a:buNone/>
            </a:pPr>
            <a:r>
              <a:rPr lang="en-US" sz="1100" dirty="0">
                <a:solidFill>
                  <a:srgbClr val="35475E"/>
                </a:solidFill>
                <a:latin typeface="Arial" pitchFamily="34" charset="0"/>
                <a:ea typeface="Arial" pitchFamily="34" charset="-122"/>
                <a:cs typeface="Arial" pitchFamily="34" charset="-120"/>
              </a:rPr>
              <a:t>Origine nel fuoco, asse p verso il pericentro, asse q ruotato di 90 gradi nel verso del moto; ideale per descrivere le orbite.</a:t>
            </a:r>
            <a:endParaRPr lang="en-US" sz="1100" dirty="0"/>
          </a:p>
        </p:txBody>
      </p:sp>
      <p:sp>
        <p:nvSpPr>
          <p:cNvPr id="20" name="Text 17"/>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21" name="Text 18"/>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sessions/laughing-busy-clarke/mnt/outputs/polimi/logo_white.png">    </p:cNvPr>
          <p:cNvPicPr>
            <a:picLocks noChangeAspect="1"/>
          </p:cNvPicPr>
          <p:nvPr/>
        </p:nvPicPr>
        <p:blipFill>
          <a:blip r:embed="rId2"/>
          <a:stretch>
            <a:fillRect/>
          </a:stretch>
        </p:blipFill>
        <p:spPr>
          <a:xfrm>
            <a:off x="9902952" y="292608"/>
            <a:ext cx="1719072" cy="393192"/>
          </a:xfrm>
          <a:prstGeom prst="rect">
            <a:avLst/>
          </a:prstGeom>
        </p:spPr>
      </p:pic>
      <p:sp>
        <p:nvSpPr>
          <p:cNvPr id="3" name="Text 0"/>
          <p:cNvSpPr/>
          <p:nvPr/>
        </p:nvSpPr>
        <p:spPr>
          <a:xfrm>
            <a:off x="612648" y="1417320"/>
            <a:ext cx="4572000" cy="2377440"/>
          </a:xfrm>
          <a:prstGeom prst="rect">
            <a:avLst/>
          </a:prstGeom>
          <a:noFill/>
          <a:ln/>
        </p:spPr>
        <p:txBody>
          <a:bodyPr wrap="square" lIns="0" tIns="0" rIns="0" bIns="0" rtlCol="0" anchor="ctr"/>
          <a:lstStyle/>
          <a:p>
            <a:pPr indent="0" marL="0">
              <a:buNone/>
            </a:pPr>
            <a:r>
              <a:rPr lang="en-US" sz="16500" b="1" dirty="0">
                <a:solidFill>
                  <a:srgbClr val="1C3A66"/>
                </a:solidFill>
                <a:latin typeface="Arial" pitchFamily="34" charset="0"/>
                <a:ea typeface="Arial" pitchFamily="34" charset="-122"/>
                <a:cs typeface="Arial" pitchFamily="34" charset="-120"/>
              </a:rPr>
              <a:t>01</a:t>
            </a:r>
            <a:endParaRPr lang="en-US" sz="16500" dirty="0"/>
          </a:p>
        </p:txBody>
      </p:sp>
      <p:sp>
        <p:nvSpPr>
          <p:cNvPr id="4" name="Shape 1"/>
          <p:cNvSpPr/>
          <p:nvPr/>
        </p:nvSpPr>
        <p:spPr>
          <a:xfrm>
            <a:off x="676656" y="3310128"/>
            <a:ext cx="128016" cy="128016"/>
          </a:xfrm>
          <a:prstGeom prst="rect">
            <a:avLst/>
          </a:prstGeom>
          <a:solidFill>
            <a:srgbClr val="4DC9FF"/>
          </a:solidFill>
          <a:ln/>
        </p:spPr>
      </p:sp>
      <p:sp>
        <p:nvSpPr>
          <p:cNvPr id="5" name="Text 2"/>
          <p:cNvSpPr/>
          <p:nvPr/>
        </p:nvSpPr>
        <p:spPr>
          <a:xfrm>
            <a:off x="896112" y="3218688"/>
            <a:ext cx="8229600" cy="329184"/>
          </a:xfrm>
          <a:prstGeom prst="rect">
            <a:avLst/>
          </a:prstGeom>
          <a:noFill/>
          <a:ln/>
        </p:spPr>
        <p:txBody>
          <a:bodyPr wrap="square" lIns="0" tIns="0" rIns="0" bIns="0" rtlCol="0" anchor="ctr"/>
          <a:lstStyle/>
          <a:p>
            <a:pPr indent="0" marL="0">
              <a:buNone/>
            </a:pPr>
            <a:r>
              <a:rPr lang="en-US" sz="1300" b="1" spc="250" kern="0" dirty="0">
                <a:solidFill>
                  <a:srgbClr val="4DC9FF"/>
                </a:solidFill>
                <a:latin typeface="Arial" pitchFamily="34" charset="0"/>
                <a:ea typeface="Arial" pitchFamily="34" charset="-122"/>
                <a:cs typeface="Arial" pitchFamily="34" charset="-120"/>
              </a:rPr>
              <a:t>SCENARIO 1 · ATTRATTORE: TERRA (ECI)</a:t>
            </a:r>
            <a:endParaRPr lang="en-US" sz="1300" dirty="0"/>
          </a:p>
        </p:txBody>
      </p:sp>
      <p:sp>
        <p:nvSpPr>
          <p:cNvPr id="6" name="Text 3"/>
          <p:cNvSpPr/>
          <p:nvPr/>
        </p:nvSpPr>
        <p:spPr>
          <a:xfrm>
            <a:off x="621792" y="3566160"/>
            <a:ext cx="10607040" cy="10972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Raggiungimento dell'orbita di parcheggio</a:t>
            </a:r>
            <a:endParaRPr lang="en-US" sz="3800" dirty="0"/>
          </a:p>
        </p:txBody>
      </p:sp>
      <p:sp>
        <p:nvSpPr>
          <p:cNvPr id="7" name="Text 4"/>
          <p:cNvSpPr/>
          <p:nvPr/>
        </p:nvSpPr>
        <p:spPr>
          <a:xfrm>
            <a:off x="640080" y="4709160"/>
            <a:ext cx="9875520" cy="914400"/>
          </a:xfrm>
          <a:prstGeom prst="rect">
            <a:avLst/>
          </a:prstGeom>
          <a:noFill/>
          <a:ln/>
        </p:spPr>
        <p:txBody>
          <a:bodyPr wrap="square" lIns="0" tIns="0" rIns="0" bIns="0" rtlCol="0" anchor="ctr"/>
          <a:lstStyle/>
          <a:p>
            <a:pPr indent="0" marL="0">
              <a:lnSpc>
                <a:spcPct val="112000"/>
              </a:lnSpc>
              <a:buNone/>
            </a:pPr>
            <a:r>
              <a:rPr lang="en-US" sz="1450" dirty="0">
                <a:solidFill>
                  <a:srgbClr val="C7D6EA"/>
                </a:solidFill>
                <a:latin typeface="Arial" pitchFamily="34" charset="0"/>
                <a:ea typeface="Arial" pitchFamily="34" charset="-122"/>
                <a:cs typeface="Arial" pitchFamily="34" charset="-120"/>
              </a:rPr>
              <a:t>Dall'orbita GTO iniziale a un'orbita di parcheggio geocentrica, privilegiando il risparmio di delta-V (e quindi di propellente) rispetto al tempo di missione.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1 · DATI</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Caratterizzazione delle orbite</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Shape 4"/>
          <p:cNvSpPr/>
          <p:nvPr/>
        </p:nvSpPr>
        <p:spPr>
          <a:xfrm>
            <a:off x="566928" y="1691640"/>
            <a:ext cx="5532120" cy="1828800"/>
          </a:xfrm>
          <a:prstGeom prst="roundRect">
            <a:avLst>
              <a:gd name="adj" fmla="val 4000"/>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pic>
        <p:nvPicPr>
          <p:cNvPr id="8" name="Image 1" descr="preencoded.png">    </p:cNvPr>
          <p:cNvPicPr>
            <a:picLocks noChangeAspect="1"/>
          </p:cNvPicPr>
          <p:nvPr/>
        </p:nvPicPr>
        <p:blipFill>
          <a:blip r:embed="rId2"/>
          <a:stretch>
            <a:fillRect/>
          </a:stretch>
        </p:blipFill>
        <p:spPr>
          <a:xfrm>
            <a:off x="749808" y="1874520"/>
            <a:ext cx="292608" cy="292608"/>
          </a:xfrm>
          <a:prstGeom prst="rect">
            <a:avLst/>
          </a:prstGeom>
        </p:spPr>
      </p:pic>
      <p:sp>
        <p:nvSpPr>
          <p:cNvPr id="9" name="Text 5"/>
          <p:cNvSpPr/>
          <p:nvPr/>
        </p:nvSpPr>
        <p:spPr>
          <a:xfrm>
            <a:off x="1133856" y="1837944"/>
            <a:ext cx="4800600" cy="365760"/>
          </a:xfrm>
          <a:prstGeom prst="rect">
            <a:avLst/>
          </a:prstGeom>
          <a:noFill/>
          <a:ln/>
        </p:spPr>
        <p:txBody>
          <a:bodyPr wrap="square" lIns="0" tIns="0" rIns="0" bIns="0" rtlCol="0" anchor="ctr"/>
          <a:lstStyle/>
          <a:p>
            <a:pPr indent="0" marL="0">
              <a:buNone/>
            </a:pPr>
            <a:r>
              <a:rPr lang="en-US" sz="1350" b="1" dirty="0">
                <a:solidFill>
                  <a:srgbClr val="102C53"/>
                </a:solidFill>
                <a:latin typeface="Arial" pitchFamily="34" charset="0"/>
                <a:ea typeface="Arial" pitchFamily="34" charset="-122"/>
                <a:cs typeface="Arial" pitchFamily="34" charset="-120"/>
              </a:rPr>
              <a:t>Orbita GTO iniziale</a:t>
            </a:r>
            <a:endParaRPr lang="en-US" sz="1350" dirty="0"/>
          </a:p>
        </p:txBody>
      </p:sp>
      <p:sp>
        <p:nvSpPr>
          <p:cNvPr id="10" name="Text 6"/>
          <p:cNvSpPr/>
          <p:nvPr/>
        </p:nvSpPr>
        <p:spPr>
          <a:xfrm>
            <a:off x="795528" y="233172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a</a:t>
            </a:r>
            <a:endParaRPr lang="en-US" sz="950" dirty="0"/>
          </a:p>
        </p:txBody>
      </p:sp>
      <p:sp>
        <p:nvSpPr>
          <p:cNvPr id="11" name="Text 7"/>
          <p:cNvSpPr/>
          <p:nvPr/>
        </p:nvSpPr>
        <p:spPr>
          <a:xfrm>
            <a:off x="2064258" y="233172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24 400 km</a:t>
            </a:r>
            <a:endParaRPr lang="en-US" sz="1050" dirty="0"/>
          </a:p>
        </p:txBody>
      </p:sp>
      <p:sp>
        <p:nvSpPr>
          <p:cNvPr id="12" name="Text 8"/>
          <p:cNvSpPr/>
          <p:nvPr/>
        </p:nvSpPr>
        <p:spPr>
          <a:xfrm>
            <a:off x="3332988" y="233172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e</a:t>
            </a:r>
            <a:endParaRPr lang="en-US" sz="950" dirty="0"/>
          </a:p>
        </p:txBody>
      </p:sp>
      <p:sp>
        <p:nvSpPr>
          <p:cNvPr id="13" name="Text 9"/>
          <p:cNvSpPr/>
          <p:nvPr/>
        </p:nvSpPr>
        <p:spPr>
          <a:xfrm>
            <a:off x="4601718" y="233172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0,7283</a:t>
            </a:r>
            <a:endParaRPr lang="en-US" sz="1050" dirty="0"/>
          </a:p>
        </p:txBody>
      </p:sp>
      <p:sp>
        <p:nvSpPr>
          <p:cNvPr id="14" name="Text 10"/>
          <p:cNvSpPr/>
          <p:nvPr/>
        </p:nvSpPr>
        <p:spPr>
          <a:xfrm>
            <a:off x="795528" y="268224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i</a:t>
            </a:r>
            <a:endParaRPr lang="en-US" sz="950" dirty="0"/>
          </a:p>
        </p:txBody>
      </p:sp>
      <p:sp>
        <p:nvSpPr>
          <p:cNvPr id="15" name="Text 11"/>
          <p:cNvSpPr/>
          <p:nvPr/>
        </p:nvSpPr>
        <p:spPr>
          <a:xfrm>
            <a:off x="2064258" y="268224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0,1047 rad</a:t>
            </a:r>
            <a:endParaRPr lang="en-US" sz="1050" dirty="0"/>
          </a:p>
        </p:txBody>
      </p:sp>
      <p:sp>
        <p:nvSpPr>
          <p:cNvPr id="16" name="Text 12"/>
          <p:cNvSpPr/>
          <p:nvPr/>
        </p:nvSpPr>
        <p:spPr>
          <a:xfrm>
            <a:off x="3332988" y="268224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RAAN</a:t>
            </a:r>
            <a:endParaRPr lang="en-US" sz="950" dirty="0"/>
          </a:p>
        </p:txBody>
      </p:sp>
      <p:sp>
        <p:nvSpPr>
          <p:cNvPr id="17" name="Text 13"/>
          <p:cNvSpPr/>
          <p:nvPr/>
        </p:nvSpPr>
        <p:spPr>
          <a:xfrm>
            <a:off x="4601718" y="268224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2,6130 rad</a:t>
            </a:r>
            <a:endParaRPr lang="en-US" sz="1050" dirty="0"/>
          </a:p>
        </p:txBody>
      </p:sp>
      <p:sp>
        <p:nvSpPr>
          <p:cNvPr id="18" name="Text 14"/>
          <p:cNvSpPr/>
          <p:nvPr/>
        </p:nvSpPr>
        <p:spPr>
          <a:xfrm>
            <a:off x="795528" y="303276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ω</a:t>
            </a:r>
            <a:endParaRPr lang="en-US" sz="950" dirty="0"/>
          </a:p>
        </p:txBody>
      </p:sp>
      <p:sp>
        <p:nvSpPr>
          <p:cNvPr id="19" name="Text 15"/>
          <p:cNvSpPr/>
          <p:nvPr/>
        </p:nvSpPr>
        <p:spPr>
          <a:xfrm>
            <a:off x="2064258" y="303276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3,1070 rad</a:t>
            </a:r>
            <a:endParaRPr lang="en-US" sz="1050" dirty="0"/>
          </a:p>
        </p:txBody>
      </p:sp>
      <p:sp>
        <p:nvSpPr>
          <p:cNvPr id="20" name="Text 16"/>
          <p:cNvSpPr/>
          <p:nvPr/>
        </p:nvSpPr>
        <p:spPr>
          <a:xfrm>
            <a:off x="3332988" y="303276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θ</a:t>
            </a:r>
            <a:endParaRPr lang="en-US" sz="950" dirty="0"/>
          </a:p>
        </p:txBody>
      </p:sp>
      <p:sp>
        <p:nvSpPr>
          <p:cNvPr id="21" name="Text 17"/>
          <p:cNvSpPr/>
          <p:nvPr/>
        </p:nvSpPr>
        <p:spPr>
          <a:xfrm>
            <a:off x="4601718" y="303276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1,5390 rad</a:t>
            </a:r>
            <a:endParaRPr lang="en-US" sz="1050" dirty="0"/>
          </a:p>
        </p:txBody>
      </p:sp>
      <p:sp>
        <p:nvSpPr>
          <p:cNvPr id="22" name="Shape 18"/>
          <p:cNvSpPr/>
          <p:nvPr/>
        </p:nvSpPr>
        <p:spPr>
          <a:xfrm>
            <a:off x="566928" y="3703320"/>
            <a:ext cx="5532120" cy="1828800"/>
          </a:xfrm>
          <a:prstGeom prst="roundRect">
            <a:avLst>
              <a:gd name="adj" fmla="val 4000"/>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pic>
        <p:nvPicPr>
          <p:cNvPr id="23" name="Image 2" descr="preencoded.png">    </p:cNvPr>
          <p:cNvPicPr>
            <a:picLocks noChangeAspect="1"/>
          </p:cNvPicPr>
          <p:nvPr/>
        </p:nvPicPr>
        <p:blipFill>
          <a:blip r:embed="rId3"/>
          <a:stretch>
            <a:fillRect/>
          </a:stretch>
        </p:blipFill>
        <p:spPr>
          <a:xfrm>
            <a:off x="749808" y="3886200"/>
            <a:ext cx="292608" cy="292608"/>
          </a:xfrm>
          <a:prstGeom prst="rect">
            <a:avLst/>
          </a:prstGeom>
        </p:spPr>
      </p:pic>
      <p:sp>
        <p:nvSpPr>
          <p:cNvPr id="24" name="Text 19"/>
          <p:cNvSpPr/>
          <p:nvPr/>
        </p:nvSpPr>
        <p:spPr>
          <a:xfrm>
            <a:off x="1133856" y="3849624"/>
            <a:ext cx="4800600" cy="365760"/>
          </a:xfrm>
          <a:prstGeom prst="rect">
            <a:avLst/>
          </a:prstGeom>
          <a:noFill/>
          <a:ln/>
        </p:spPr>
        <p:txBody>
          <a:bodyPr wrap="square" lIns="0" tIns="0" rIns="0" bIns="0" rtlCol="0" anchor="ctr"/>
          <a:lstStyle/>
          <a:p>
            <a:pPr indent="0" marL="0">
              <a:buNone/>
            </a:pPr>
            <a:r>
              <a:rPr lang="en-US" sz="1350" b="1" dirty="0">
                <a:solidFill>
                  <a:srgbClr val="102C53"/>
                </a:solidFill>
                <a:latin typeface="Arial" pitchFamily="34" charset="0"/>
                <a:ea typeface="Arial" pitchFamily="34" charset="-122"/>
                <a:cs typeface="Arial" pitchFamily="34" charset="-120"/>
              </a:rPr>
              <a:t>Orbita di parcheggio finale</a:t>
            </a:r>
            <a:endParaRPr lang="en-US" sz="1350" dirty="0"/>
          </a:p>
        </p:txBody>
      </p:sp>
      <p:sp>
        <p:nvSpPr>
          <p:cNvPr id="25" name="Text 20"/>
          <p:cNvSpPr/>
          <p:nvPr/>
        </p:nvSpPr>
        <p:spPr>
          <a:xfrm>
            <a:off x="795528" y="434340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a</a:t>
            </a:r>
            <a:endParaRPr lang="en-US" sz="950" dirty="0"/>
          </a:p>
        </p:txBody>
      </p:sp>
      <p:sp>
        <p:nvSpPr>
          <p:cNvPr id="26" name="Text 21"/>
          <p:cNvSpPr/>
          <p:nvPr/>
        </p:nvSpPr>
        <p:spPr>
          <a:xfrm>
            <a:off x="2064258" y="434340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28 084 km</a:t>
            </a:r>
            <a:endParaRPr lang="en-US" sz="1050" dirty="0"/>
          </a:p>
        </p:txBody>
      </p:sp>
      <p:sp>
        <p:nvSpPr>
          <p:cNvPr id="27" name="Text 22"/>
          <p:cNvSpPr/>
          <p:nvPr/>
        </p:nvSpPr>
        <p:spPr>
          <a:xfrm>
            <a:off x="3332988" y="434340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e</a:t>
            </a:r>
            <a:endParaRPr lang="en-US" sz="950" dirty="0"/>
          </a:p>
        </p:txBody>
      </p:sp>
      <p:sp>
        <p:nvSpPr>
          <p:cNvPr id="28" name="Text 23"/>
          <p:cNvSpPr/>
          <p:nvPr/>
        </p:nvSpPr>
        <p:spPr>
          <a:xfrm>
            <a:off x="4601718" y="434340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0,7045</a:t>
            </a:r>
            <a:endParaRPr lang="en-US" sz="1050" dirty="0"/>
          </a:p>
        </p:txBody>
      </p:sp>
      <p:sp>
        <p:nvSpPr>
          <p:cNvPr id="29" name="Text 24"/>
          <p:cNvSpPr/>
          <p:nvPr/>
        </p:nvSpPr>
        <p:spPr>
          <a:xfrm>
            <a:off x="795528" y="469392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i</a:t>
            </a:r>
            <a:endParaRPr lang="en-US" sz="950" dirty="0"/>
          </a:p>
        </p:txBody>
      </p:sp>
      <p:sp>
        <p:nvSpPr>
          <p:cNvPr id="30" name="Text 25"/>
          <p:cNvSpPr/>
          <p:nvPr/>
        </p:nvSpPr>
        <p:spPr>
          <a:xfrm>
            <a:off x="2064258" y="469392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0,5128 rad</a:t>
            </a:r>
            <a:endParaRPr lang="en-US" sz="1050" dirty="0"/>
          </a:p>
        </p:txBody>
      </p:sp>
      <p:sp>
        <p:nvSpPr>
          <p:cNvPr id="31" name="Text 26"/>
          <p:cNvSpPr/>
          <p:nvPr/>
        </p:nvSpPr>
        <p:spPr>
          <a:xfrm>
            <a:off x="3332988" y="469392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RAAN</a:t>
            </a:r>
            <a:endParaRPr lang="en-US" sz="950" dirty="0"/>
          </a:p>
        </p:txBody>
      </p:sp>
      <p:sp>
        <p:nvSpPr>
          <p:cNvPr id="32" name="Text 27"/>
          <p:cNvSpPr/>
          <p:nvPr/>
        </p:nvSpPr>
        <p:spPr>
          <a:xfrm>
            <a:off x="4601718" y="469392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2,4706 rad</a:t>
            </a:r>
            <a:endParaRPr lang="en-US" sz="1050" dirty="0"/>
          </a:p>
        </p:txBody>
      </p:sp>
      <p:sp>
        <p:nvSpPr>
          <p:cNvPr id="33" name="Text 28"/>
          <p:cNvSpPr/>
          <p:nvPr/>
        </p:nvSpPr>
        <p:spPr>
          <a:xfrm>
            <a:off x="795528" y="504444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ω</a:t>
            </a:r>
            <a:endParaRPr lang="en-US" sz="950" dirty="0"/>
          </a:p>
        </p:txBody>
      </p:sp>
      <p:sp>
        <p:nvSpPr>
          <p:cNvPr id="34" name="Text 29"/>
          <p:cNvSpPr/>
          <p:nvPr/>
        </p:nvSpPr>
        <p:spPr>
          <a:xfrm>
            <a:off x="2064258" y="504444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1,8442 rad</a:t>
            </a:r>
            <a:endParaRPr lang="en-US" sz="1050" dirty="0"/>
          </a:p>
        </p:txBody>
      </p:sp>
      <p:sp>
        <p:nvSpPr>
          <p:cNvPr id="35" name="Text 30"/>
          <p:cNvSpPr/>
          <p:nvPr/>
        </p:nvSpPr>
        <p:spPr>
          <a:xfrm>
            <a:off x="3332988" y="5044440"/>
            <a:ext cx="1319479" cy="35052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θ</a:t>
            </a:r>
            <a:endParaRPr lang="en-US" sz="950" dirty="0"/>
          </a:p>
        </p:txBody>
      </p:sp>
      <p:sp>
        <p:nvSpPr>
          <p:cNvPr id="36" name="Text 31"/>
          <p:cNvSpPr/>
          <p:nvPr/>
        </p:nvSpPr>
        <p:spPr>
          <a:xfrm>
            <a:off x="4601718" y="5044440"/>
            <a:ext cx="1217981" cy="3505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 0 rad</a:t>
            </a:r>
            <a:endParaRPr lang="en-US" sz="1050" dirty="0"/>
          </a:p>
        </p:txBody>
      </p:sp>
      <p:sp>
        <p:nvSpPr>
          <p:cNvPr id="37" name="Text 32"/>
          <p:cNvSpPr/>
          <p:nvPr/>
        </p:nvSpPr>
        <p:spPr>
          <a:xfrm>
            <a:off x="566928" y="5669280"/>
            <a:ext cx="5532120" cy="822960"/>
          </a:xfrm>
          <a:prstGeom prst="rect">
            <a:avLst/>
          </a:prstGeom>
          <a:noFill/>
          <a:ln/>
        </p:spPr>
        <p:txBody>
          <a:bodyPr wrap="square" lIns="0" tIns="0" rIns="0" bIns="0" rtlCol="0" anchor="t"/>
          <a:lstStyle/>
          <a:p>
            <a:pPr algn="l" indent="0" marL="0">
              <a:lnSpc>
                <a:spcPct val="112000"/>
              </a:lnSpc>
              <a:buNone/>
            </a:pPr>
            <a:r>
              <a:rPr lang="en-US" sz="1100" i="1" dirty="0">
                <a:solidFill>
                  <a:srgbClr val="7C8BA1"/>
                </a:solidFill>
                <a:latin typeface="Arial" pitchFamily="34" charset="0"/>
                <a:ea typeface="Arial" pitchFamily="34" charset="-122"/>
                <a:cs typeface="Arial" pitchFamily="34" charset="-120"/>
              </a:rPr>
              <a:t>La manovra richiede di modificare contemporaneamente piano orbitale (i, RAAN), orientamento (ω) e geometria (a, e): da qui la necessita' di una sequenza ottimizzata.</a:t>
            </a:r>
            <a:endParaRPr lang="en-US" sz="1100" dirty="0"/>
          </a:p>
        </p:txBody>
      </p:sp>
      <p:sp>
        <p:nvSpPr>
          <p:cNvPr id="38" name="Shape 33"/>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39" name="Image 3" descr="/sessions/laughing-busy-clarke/mnt/outputs/figs/sc1_overview_orbite.png">    </p:cNvPr>
          <p:cNvPicPr>
            <a:picLocks noChangeAspect="1"/>
          </p:cNvPicPr>
          <p:nvPr/>
        </p:nvPicPr>
        <p:blipFill>
          <a:blip r:embed="rId4"/>
          <a:srcRect l="0" r="0" t="0" b="0"/>
          <a:stretch/>
        </p:blipFill>
        <p:spPr>
          <a:xfrm>
            <a:off x="6483096" y="1819656"/>
            <a:ext cx="5001768" cy="3968496"/>
          </a:xfrm>
          <a:prstGeom prst="rect">
            <a:avLst/>
          </a:prstGeom>
        </p:spPr>
      </p:pic>
      <p:sp>
        <p:nvSpPr>
          <p:cNvPr id="40" name="Text 34"/>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Orbita GTO e orbita di parcheggio nel sistema ECI (Fig. 2.1)</a:t>
            </a:r>
            <a:endParaRPr lang="en-US" sz="950" dirty="0"/>
          </a:p>
        </p:txBody>
      </p:sp>
      <p:sp>
        <p:nvSpPr>
          <p:cNvPr id="41" name="Text 35"/>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42" name="Text 36"/>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1 · BASELINE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Strategia standard</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91640"/>
            <a:ext cx="5394960" cy="310896"/>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Sequenza predefinita in tre manovre</a:t>
            </a:r>
            <a:endParaRPr lang="en-US" sz="1300" dirty="0"/>
          </a:p>
        </p:txBody>
      </p:sp>
      <p:sp>
        <p:nvSpPr>
          <p:cNvPr id="8" name="Shape 5"/>
          <p:cNvSpPr/>
          <p:nvPr/>
        </p:nvSpPr>
        <p:spPr>
          <a:xfrm>
            <a:off x="566928" y="2148840"/>
            <a:ext cx="493776" cy="493776"/>
          </a:xfrm>
          <a:prstGeom prst="ellipse">
            <a:avLst/>
          </a:prstGeom>
          <a:solidFill>
            <a:srgbClr val="102C53"/>
          </a:solidFill>
          <a:ln/>
        </p:spPr>
      </p:sp>
      <p:pic>
        <p:nvPicPr>
          <p:cNvPr id="9" name="Image 1" descr="preencoded.png">    </p:cNvPr>
          <p:cNvPicPr>
            <a:picLocks noChangeAspect="1"/>
          </p:cNvPicPr>
          <p:nvPr/>
        </p:nvPicPr>
        <p:blipFill>
          <a:blip r:embed="rId2"/>
          <a:stretch>
            <a:fillRect/>
          </a:stretch>
        </p:blipFill>
        <p:spPr>
          <a:xfrm>
            <a:off x="685800" y="2267712"/>
            <a:ext cx="256032" cy="256032"/>
          </a:xfrm>
          <a:prstGeom prst="rect">
            <a:avLst/>
          </a:prstGeom>
        </p:spPr>
      </p:pic>
      <p:sp>
        <p:nvSpPr>
          <p:cNvPr id="10" name="Text 6"/>
          <p:cNvSpPr/>
          <p:nvPr/>
        </p:nvSpPr>
        <p:spPr>
          <a:xfrm>
            <a:off x="1243584" y="2103120"/>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1 · Cambio di piano</a:t>
            </a:r>
            <a:endParaRPr lang="en-US" sz="1400" dirty="0"/>
          </a:p>
        </p:txBody>
      </p:sp>
      <p:sp>
        <p:nvSpPr>
          <p:cNvPr id="11" name="Text 7"/>
          <p:cNvSpPr/>
          <p:nvPr/>
        </p:nvSpPr>
        <p:spPr>
          <a:xfrm>
            <a:off x="1243584" y="2386584"/>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Modifica di inclinazione e RAAN; piu' efficiente lontano dall'attrattore, dove la velocita' e' minore.</a:t>
            </a:r>
            <a:endParaRPr lang="en-US" sz="1150" dirty="0"/>
          </a:p>
        </p:txBody>
      </p:sp>
      <p:sp>
        <p:nvSpPr>
          <p:cNvPr id="12" name="Shape 8"/>
          <p:cNvSpPr/>
          <p:nvPr/>
        </p:nvSpPr>
        <p:spPr>
          <a:xfrm>
            <a:off x="566928" y="3044952"/>
            <a:ext cx="493776" cy="493776"/>
          </a:xfrm>
          <a:prstGeom prst="ellipse">
            <a:avLst/>
          </a:prstGeom>
          <a:solidFill>
            <a:srgbClr val="102C53"/>
          </a:solidFill>
          <a:ln/>
        </p:spPr>
      </p:sp>
      <p:pic>
        <p:nvPicPr>
          <p:cNvPr id="13" name="Image 2" descr="preencoded.png">    </p:cNvPr>
          <p:cNvPicPr>
            <a:picLocks noChangeAspect="1"/>
          </p:cNvPicPr>
          <p:nvPr/>
        </p:nvPicPr>
        <p:blipFill>
          <a:blip r:embed="rId3"/>
          <a:stretch>
            <a:fillRect/>
          </a:stretch>
        </p:blipFill>
        <p:spPr>
          <a:xfrm>
            <a:off x="685800" y="3163824"/>
            <a:ext cx="256032" cy="256032"/>
          </a:xfrm>
          <a:prstGeom prst="rect">
            <a:avLst/>
          </a:prstGeom>
        </p:spPr>
      </p:pic>
      <p:sp>
        <p:nvSpPr>
          <p:cNvPr id="14" name="Text 9"/>
          <p:cNvSpPr/>
          <p:nvPr/>
        </p:nvSpPr>
        <p:spPr>
          <a:xfrm>
            <a:off x="1243584" y="2999232"/>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2 · Cambio argomento del pericentro</a:t>
            </a:r>
            <a:endParaRPr lang="en-US" sz="1400" dirty="0"/>
          </a:p>
        </p:txBody>
      </p:sp>
      <p:sp>
        <p:nvSpPr>
          <p:cNvPr id="15" name="Text 10"/>
          <p:cNvSpPr/>
          <p:nvPr/>
        </p:nvSpPr>
        <p:spPr>
          <a:xfrm>
            <a:off x="1243584" y="3282696"/>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Rotazione delle apsidi nel nuovo piano orbitale, nei punti di intersezione utili.</a:t>
            </a:r>
            <a:endParaRPr lang="en-US" sz="1150" dirty="0"/>
          </a:p>
        </p:txBody>
      </p:sp>
      <p:sp>
        <p:nvSpPr>
          <p:cNvPr id="16" name="Shape 11"/>
          <p:cNvSpPr/>
          <p:nvPr/>
        </p:nvSpPr>
        <p:spPr>
          <a:xfrm>
            <a:off x="566928" y="3941064"/>
            <a:ext cx="493776" cy="493776"/>
          </a:xfrm>
          <a:prstGeom prst="ellipse">
            <a:avLst/>
          </a:prstGeom>
          <a:solidFill>
            <a:srgbClr val="102C53"/>
          </a:solidFill>
          <a:ln/>
        </p:spPr>
      </p:sp>
      <p:pic>
        <p:nvPicPr>
          <p:cNvPr id="17" name="Image 3" descr="preencoded.png">    </p:cNvPr>
          <p:cNvPicPr>
            <a:picLocks noChangeAspect="1"/>
          </p:cNvPicPr>
          <p:nvPr/>
        </p:nvPicPr>
        <p:blipFill>
          <a:blip r:embed="rId4"/>
          <a:stretch>
            <a:fillRect/>
          </a:stretch>
        </p:blipFill>
        <p:spPr>
          <a:xfrm>
            <a:off x="685800" y="4059936"/>
            <a:ext cx="256032" cy="256032"/>
          </a:xfrm>
          <a:prstGeom prst="rect">
            <a:avLst/>
          </a:prstGeom>
        </p:spPr>
      </p:pic>
      <p:sp>
        <p:nvSpPr>
          <p:cNvPr id="18" name="Text 12"/>
          <p:cNvSpPr/>
          <p:nvPr/>
        </p:nvSpPr>
        <p:spPr>
          <a:xfrm>
            <a:off x="1243584" y="3895344"/>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3 · Trasferimento bitangente (pa)</a:t>
            </a:r>
            <a:endParaRPr lang="en-US" sz="1400" dirty="0"/>
          </a:p>
        </p:txBody>
      </p:sp>
      <p:sp>
        <p:nvSpPr>
          <p:cNvPr id="19" name="Text 13"/>
          <p:cNvSpPr/>
          <p:nvPr/>
        </p:nvSpPr>
        <p:spPr>
          <a:xfrm>
            <a:off x="1243584" y="4178808"/>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Collega pericentro iniziale e apocentro finale: efficiente per grandi variazioni di a ed e.</a:t>
            </a:r>
            <a:endParaRPr lang="en-US" sz="1150" dirty="0"/>
          </a:p>
        </p:txBody>
      </p:sp>
      <p:sp>
        <p:nvSpPr>
          <p:cNvPr id="20" name="Shape 14"/>
          <p:cNvSpPr/>
          <p:nvPr/>
        </p:nvSpPr>
        <p:spPr>
          <a:xfrm>
            <a:off x="566928" y="502920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1" name="Text 15"/>
          <p:cNvSpPr/>
          <p:nvPr/>
        </p:nvSpPr>
        <p:spPr>
          <a:xfrm>
            <a:off x="731520" y="5138928"/>
            <a:ext cx="2276856" cy="566928"/>
          </a:xfrm>
          <a:prstGeom prst="rect">
            <a:avLst/>
          </a:prstGeom>
          <a:noFill/>
          <a:ln/>
        </p:spPr>
        <p:txBody>
          <a:bodyPr wrap="square" lIns="0" tIns="0" rIns="0" bIns="0" rtlCol="0" anchor="ctr"/>
          <a:lstStyle/>
          <a:p>
            <a:pPr algn="l" indent="0" marL="0">
              <a:buNone/>
            </a:pPr>
            <a:r>
              <a:rPr lang="en-US" sz="3000" b="1" dirty="0">
                <a:solidFill>
                  <a:srgbClr val="E06A6A"/>
                </a:solidFill>
                <a:latin typeface="Arial" pitchFamily="34" charset="0"/>
                <a:ea typeface="Arial" pitchFamily="34" charset="-122"/>
                <a:cs typeface="Arial" pitchFamily="34" charset="-120"/>
              </a:rPr>
              <a:t>6,44</a:t>
            </a:r>
            <a:pPr algn="l" indent="0" marL="0">
              <a:buNone/>
            </a:pPr>
            <a:r>
              <a:rPr lang="en-US" sz="1300" b="1" dirty="0">
                <a:solidFill>
                  <a:srgbClr val="E06A6A"/>
                </a:solidFill>
              </a:rPr>
              <a:t> km/s</a:t>
            </a:r>
            <a:endParaRPr lang="en-US" sz="3000" dirty="0"/>
          </a:p>
        </p:txBody>
      </p:sp>
      <p:sp>
        <p:nvSpPr>
          <p:cNvPr id="22" name="Text 16"/>
          <p:cNvSpPr/>
          <p:nvPr/>
        </p:nvSpPr>
        <p:spPr>
          <a:xfrm>
            <a:off x="731520" y="570585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DELTA-V TOTALE</a:t>
            </a:r>
            <a:endParaRPr lang="en-US" sz="900" dirty="0"/>
          </a:p>
        </p:txBody>
      </p:sp>
      <p:sp>
        <p:nvSpPr>
          <p:cNvPr id="23" name="Shape 17"/>
          <p:cNvSpPr/>
          <p:nvPr/>
        </p:nvSpPr>
        <p:spPr>
          <a:xfrm>
            <a:off x="3355848" y="502920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4" name="Text 18"/>
          <p:cNvSpPr/>
          <p:nvPr/>
        </p:nvSpPr>
        <p:spPr>
          <a:xfrm>
            <a:off x="3520440" y="5138928"/>
            <a:ext cx="2276856" cy="566928"/>
          </a:xfrm>
          <a:prstGeom prst="rect">
            <a:avLst/>
          </a:prstGeom>
          <a:noFill/>
          <a:ln/>
        </p:spPr>
        <p:txBody>
          <a:bodyPr wrap="square" lIns="0" tIns="0" rIns="0" bIns="0" rtlCol="0" anchor="ctr"/>
          <a:lstStyle/>
          <a:p>
            <a:pPr algn="l" indent="0" marL="0">
              <a:buNone/>
            </a:pPr>
            <a:r>
              <a:rPr lang="en-US" sz="3000" b="1" dirty="0">
                <a:solidFill>
                  <a:srgbClr val="102C53"/>
                </a:solidFill>
                <a:latin typeface="Arial" pitchFamily="34" charset="0"/>
                <a:ea typeface="Arial" pitchFamily="34" charset="-122"/>
                <a:cs typeface="Arial" pitchFamily="34" charset="-120"/>
              </a:rPr>
              <a:t>1,38</a:t>
            </a:r>
            <a:pPr algn="l" indent="0" marL="0">
              <a:buNone/>
            </a:pPr>
            <a:r>
              <a:rPr lang="en-US" sz="1300" b="1" dirty="0">
                <a:solidFill>
                  <a:srgbClr val="102C53"/>
                </a:solidFill>
              </a:rPr>
              <a:t> giorni</a:t>
            </a:r>
            <a:endParaRPr lang="en-US" sz="3000" dirty="0"/>
          </a:p>
        </p:txBody>
      </p:sp>
      <p:sp>
        <p:nvSpPr>
          <p:cNvPr id="25" name="Text 19"/>
          <p:cNvSpPr/>
          <p:nvPr/>
        </p:nvSpPr>
        <p:spPr>
          <a:xfrm>
            <a:off x="3520440" y="570585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TEMPO DI VOLO</a:t>
            </a:r>
            <a:endParaRPr lang="en-US" sz="900" dirty="0"/>
          </a:p>
        </p:txBody>
      </p:sp>
      <p:sp>
        <p:nvSpPr>
          <p:cNvPr id="26" name="Text 20"/>
          <p:cNvSpPr/>
          <p:nvPr/>
        </p:nvSpPr>
        <p:spPr>
          <a:xfrm>
            <a:off x="566928" y="6263640"/>
            <a:ext cx="5394960" cy="274320"/>
          </a:xfrm>
          <a:prstGeom prst="rect">
            <a:avLst/>
          </a:prstGeom>
          <a:noFill/>
          <a:ln/>
        </p:spPr>
        <p:txBody>
          <a:bodyPr wrap="square" lIns="0" tIns="0" rIns="0" bIns="0" rtlCol="0" anchor="ctr"/>
          <a:lstStyle/>
          <a:p>
            <a:pPr indent="0" marL="0">
              <a:buNone/>
            </a:pPr>
            <a:r>
              <a:rPr lang="en-US" sz="1050" i="1" dirty="0">
                <a:solidFill>
                  <a:srgbClr val="7C8BA1"/>
                </a:solidFill>
                <a:latin typeface="Arial" pitchFamily="34" charset="0"/>
                <a:ea typeface="Arial" pitchFamily="34" charset="-122"/>
                <a:cs typeface="Arial" pitchFamily="34" charset="-120"/>
              </a:rPr>
              <a:t>E' la nostra baseline: il costo che le strategie successive puntano ad abbattere.</a:t>
            </a:r>
            <a:endParaRPr lang="en-US" sz="1050" dirty="0"/>
          </a:p>
        </p:txBody>
      </p:sp>
      <p:sp>
        <p:nvSpPr>
          <p:cNvPr id="27" name="Shape 21"/>
          <p:cNvSpPr/>
          <p:nvPr/>
        </p:nvSpPr>
        <p:spPr>
          <a:xfrm>
            <a:off x="6355080" y="1783080"/>
            <a:ext cx="5257800" cy="4160520"/>
          </a:xfrm>
          <a:prstGeom prst="roundRect">
            <a:avLst>
              <a:gd name="adj" fmla="val 1319"/>
            </a:avLst>
          </a:prstGeom>
          <a:solidFill>
            <a:srgbClr val="0B2243"/>
          </a:solidFill>
          <a:ln w="12700">
            <a:solidFill>
              <a:srgbClr val="102C53"/>
            </a:solidFill>
            <a:prstDash val="solid"/>
          </a:ln>
          <a:effectLst>
            <a:outerShdw sx="100000" sy="100000" kx="0" ky="0" algn="bl" rotWithShape="0" blurRad="114300" dist="38100" dir="5400000">
              <a:srgbClr val="6E7F95">
                <a:alpha val="20000"/>
              </a:srgbClr>
            </a:outerShdw>
          </a:effectLst>
        </p:spPr>
      </p:sp>
      <p:pic>
        <p:nvPicPr>
          <p:cNvPr id="28" name="Image 4" descr="/sessions/laughing-busy-clarke/mnt/outputs/gifs/sc1_standard.gif">    </p:cNvPr>
          <p:cNvPicPr>
            <a:picLocks noChangeAspect="1"/>
          </p:cNvPicPr>
          <p:nvPr/>
        </p:nvPicPr>
        <p:blipFill>
          <a:blip r:embed="rId5"/>
          <a:srcRect l="0" r="0" t="0" b="0"/>
          <a:stretch/>
        </p:blipFill>
        <p:spPr>
          <a:xfrm>
            <a:off x="6464808" y="1892808"/>
            <a:ext cx="5038344" cy="3703320"/>
          </a:xfrm>
          <a:prstGeom prst="rect">
            <a:avLst/>
          </a:prstGeom>
        </p:spPr>
      </p:pic>
      <p:sp>
        <p:nvSpPr>
          <p:cNvPr id="29" name="Shape 22"/>
          <p:cNvSpPr/>
          <p:nvPr/>
        </p:nvSpPr>
        <p:spPr>
          <a:xfrm>
            <a:off x="6501384" y="1929384"/>
            <a:ext cx="1280160" cy="310896"/>
          </a:xfrm>
          <a:prstGeom prst="roundRect">
            <a:avLst>
              <a:gd name="adj" fmla="val 50000"/>
            </a:avLst>
          </a:prstGeom>
          <a:solidFill>
            <a:srgbClr val="4DC9FF"/>
          </a:solidFill>
          <a:ln/>
        </p:spPr>
      </p:sp>
      <p:pic>
        <p:nvPicPr>
          <p:cNvPr id="30" name="Image 5" descr="preencoded.png">    </p:cNvPr>
          <p:cNvPicPr>
            <a:picLocks noChangeAspect="1"/>
          </p:cNvPicPr>
          <p:nvPr/>
        </p:nvPicPr>
        <p:blipFill>
          <a:blip r:embed="rId6"/>
          <a:stretch>
            <a:fillRect/>
          </a:stretch>
        </p:blipFill>
        <p:spPr>
          <a:xfrm>
            <a:off x="6592824" y="1988820"/>
            <a:ext cx="201168" cy="201168"/>
          </a:xfrm>
          <a:prstGeom prst="rect">
            <a:avLst/>
          </a:prstGeom>
        </p:spPr>
      </p:pic>
      <p:sp>
        <p:nvSpPr>
          <p:cNvPr id="31" name="Text 23"/>
          <p:cNvSpPr/>
          <p:nvPr/>
        </p:nvSpPr>
        <p:spPr>
          <a:xfrm>
            <a:off x="6812280" y="1929384"/>
            <a:ext cx="960120" cy="310896"/>
          </a:xfrm>
          <a:prstGeom prst="rect">
            <a:avLst/>
          </a:prstGeom>
          <a:noFill/>
          <a:ln/>
        </p:spPr>
        <p:txBody>
          <a:bodyPr wrap="square" lIns="0" tIns="0" rIns="0" bIns="0" rtlCol="0" anchor="ctr"/>
          <a:lstStyle/>
          <a:p>
            <a:pPr algn="l" indent="0" marL="0">
              <a:buNone/>
            </a:pPr>
            <a:r>
              <a:rPr lang="en-US" sz="900" b="1" spc="100" kern="0" dirty="0">
                <a:solidFill>
                  <a:srgbClr val="06335C"/>
                </a:solidFill>
                <a:latin typeface="Arial" pitchFamily="34" charset="0"/>
                <a:ea typeface="Arial" pitchFamily="34" charset="-122"/>
                <a:cs typeface="Arial" pitchFamily="34" charset="-120"/>
              </a:rPr>
              <a:t>ANIMAZIONE</a:t>
            </a:r>
            <a:endParaRPr lang="en-US" sz="900" dirty="0"/>
          </a:p>
        </p:txBody>
      </p:sp>
      <p:sp>
        <p:nvSpPr>
          <p:cNvPr id="32" name="Text 24"/>
          <p:cNvSpPr/>
          <p:nvPr/>
        </p:nvSpPr>
        <p:spPr>
          <a:xfrm>
            <a:off x="6464808" y="5650992"/>
            <a:ext cx="5038344" cy="219456"/>
          </a:xfrm>
          <a:prstGeom prst="rect">
            <a:avLst/>
          </a:prstGeom>
          <a:noFill/>
          <a:ln/>
        </p:spPr>
        <p:txBody>
          <a:bodyPr wrap="square" lIns="0" tIns="0" rIns="0" bIns="0" rtlCol="0" anchor="ctr"/>
          <a:lstStyle/>
          <a:p>
            <a:pPr algn="ctr" indent="0" marL="0">
              <a:buNone/>
            </a:pPr>
            <a:r>
              <a:rPr lang="en-US" sz="950" i="1" dirty="0">
                <a:solidFill>
                  <a:srgbClr val="AFC6E0"/>
                </a:solidFill>
                <a:latin typeface="Arial" pitchFamily="34" charset="0"/>
                <a:ea typeface="Arial" pitchFamily="34" charset="-122"/>
                <a:cs typeface="Arial" pitchFamily="34" charset="-120"/>
              </a:rPr>
              <a:t>Sequenza standard di manovre (ECI)</a:t>
            </a:r>
            <a:endParaRPr lang="en-US" sz="950" dirty="0"/>
          </a:p>
        </p:txBody>
      </p:sp>
      <p:sp>
        <p:nvSpPr>
          <p:cNvPr id="33" name="Text 25"/>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34" name="Text 26"/>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1 · OTTIMIZZAZIONE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Sequenza ottima delle manovre</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45920"/>
            <a:ext cx="5440680" cy="822960"/>
          </a:xfrm>
          <a:prstGeom prst="rect">
            <a:avLst/>
          </a:prstGeom>
          <a:noFill/>
          <a:ln/>
        </p:spPr>
        <p:txBody>
          <a:bodyPr wrap="square" lIns="0" tIns="0" rIns="0" bIns="0" rtlCol="0" anchor="t"/>
          <a:lstStyle/>
          <a:p>
            <a:pPr algn="l" indent="0" marL="0">
              <a:lnSpc>
                <a:spcPct val="112000"/>
              </a:lnSpc>
              <a:buNone/>
            </a:pPr>
            <a:r>
              <a:rPr lang="en-US" sz="1350" dirty="0">
                <a:solidFill>
                  <a:srgbClr val="35475E"/>
                </a:solidFill>
                <a:latin typeface="Arial" pitchFamily="34" charset="0"/>
                <a:ea typeface="Arial" pitchFamily="34" charset="-122"/>
                <a:cs typeface="Arial" pitchFamily="34" charset="-120"/>
              </a:rPr>
              <a:t>Le manovre sono le stesse: cambia il loro </a:t>
            </a:r>
            <a:pPr algn="l" indent="0" marL="0">
              <a:lnSpc>
                <a:spcPct val="112000"/>
              </a:lnSpc>
              <a:buNone/>
            </a:pPr>
            <a:r>
              <a:rPr lang="en-US" sz="1350" b="1" dirty="0">
                <a:solidFill>
                  <a:srgbClr val="102C53"/>
                </a:solidFill>
                <a:latin typeface="Arial" pitchFamily="34" charset="0"/>
                <a:ea typeface="Arial" pitchFamily="34" charset="-122"/>
                <a:cs typeface="Arial" pitchFamily="34" charset="-120"/>
              </a:rPr>
              <a:t>ordine di esecuzione</a:t>
            </a:r>
            <a:pPr algn="l" indent="0" marL="0">
              <a:lnSpc>
                <a:spcPct val="112000"/>
              </a:lnSpc>
              <a:buNone/>
            </a:pPr>
            <a:r>
              <a:rPr lang="en-US" sz="1350" dirty="0">
                <a:solidFill>
                  <a:srgbClr val="35475E"/>
                </a:solidFill>
                <a:latin typeface="Arial" pitchFamily="34" charset="0"/>
                <a:ea typeface="Arial" pitchFamily="34" charset="-122"/>
                <a:cs typeface="Arial" pitchFamily="34" charset="-120"/>
              </a:rPr>
              <a:t>. Un algoritmo confronta tutte le combinazioni e seleziona quella di costo minimo.</a:t>
            </a:r>
            <a:endParaRPr lang="en-US" sz="1350" dirty="0"/>
          </a:p>
        </p:txBody>
      </p:sp>
      <p:sp>
        <p:nvSpPr>
          <p:cNvPr id="8" name="Text 5"/>
          <p:cNvSpPr/>
          <p:nvPr/>
        </p:nvSpPr>
        <p:spPr>
          <a:xfrm>
            <a:off x="566928" y="2487168"/>
            <a:ext cx="5440680" cy="292608"/>
          </a:xfrm>
          <a:prstGeom prst="rect">
            <a:avLst/>
          </a:prstGeom>
          <a:noFill/>
          <a:ln/>
        </p:spPr>
        <p:txBody>
          <a:bodyPr wrap="square" lIns="0" tIns="0" rIns="0" bIns="0" rtlCol="0" anchor="ctr"/>
          <a:lstStyle/>
          <a:p>
            <a:pPr indent="0" marL="0">
              <a:buNone/>
            </a:pPr>
            <a:r>
              <a:rPr lang="en-US" sz="1250" b="1" dirty="0">
                <a:solidFill>
                  <a:srgbClr val="0E2342"/>
                </a:solidFill>
                <a:latin typeface="Arial" pitchFamily="34" charset="0"/>
                <a:ea typeface="Arial" pitchFamily="34" charset="-122"/>
                <a:cs typeface="Arial" pitchFamily="34" charset="-120"/>
              </a:rPr>
              <a:t>Ottima: Bitangente → Cambio piano → Cambio pericentro</a:t>
            </a:r>
            <a:endParaRPr lang="en-US" sz="1250" dirty="0"/>
          </a:p>
        </p:txBody>
      </p:sp>
      <p:sp>
        <p:nvSpPr>
          <p:cNvPr id="9" name="Text 6"/>
          <p:cNvSpPr/>
          <p:nvPr/>
        </p:nvSpPr>
        <p:spPr>
          <a:xfrm>
            <a:off x="566928" y="2852928"/>
            <a:ext cx="5440680" cy="155448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250" dirty="0">
                <a:solidFill>
                  <a:srgbClr val="35475E"/>
                </a:solidFill>
                <a:latin typeface="Arial" pitchFamily="34" charset="0"/>
                <a:ea typeface="Arial" pitchFamily="34" charset="-122"/>
                <a:cs typeface="Arial" pitchFamily="34" charset="-120"/>
              </a:rPr>
              <a:t>Effetto Oberth: aumentando la velocita' al punto d'innesco, il bitangente costa meno.</a:t>
            </a:r>
            <a:endParaRPr lang="en-US" sz="1250" dirty="0"/>
          </a:p>
          <a:p>
            <a:pPr marL="177800" indent="-177800">
              <a:lnSpc>
                <a:spcPct val="102000"/>
              </a:lnSpc>
              <a:spcAft>
                <a:spcPts val="700"/>
              </a:spcAft>
              <a:buSzPct val="100000"/>
              <a:buChar char="•"/>
            </a:pPr>
            <a:r>
              <a:rPr lang="en-US" sz="1250" dirty="0">
                <a:solidFill>
                  <a:srgbClr val="35475E"/>
                </a:solidFill>
                <a:latin typeface="Arial" pitchFamily="34" charset="0"/>
                <a:ea typeface="Arial" pitchFamily="34" charset="-122"/>
                <a:cs typeface="Arial" pitchFamily="34" charset="-120"/>
              </a:rPr>
              <a:t>Eseguito per primo, il cambio piano avviene su un'orbita piu' ampia (velocita' minore, costo minore).</a:t>
            </a:r>
            <a:endParaRPr lang="en-US" sz="1250" dirty="0"/>
          </a:p>
          <a:p>
            <a:pPr marL="177800" indent="-177800">
              <a:lnSpc>
                <a:spcPct val="102000"/>
              </a:lnSpc>
              <a:spcAft>
                <a:spcPts val="700"/>
              </a:spcAft>
              <a:buSzPct val="100000"/>
              <a:buChar char="•"/>
            </a:pPr>
            <a:r>
              <a:rPr lang="en-US" sz="1250" dirty="0">
                <a:solidFill>
                  <a:srgbClr val="35475E"/>
                </a:solidFill>
                <a:latin typeface="Arial" pitchFamily="34" charset="0"/>
                <a:ea typeface="Arial" pitchFamily="34" charset="-122"/>
                <a:cs typeface="Arial" pitchFamily="34" charset="-120"/>
              </a:rPr>
              <a:t>La rotazione del pericentro resta la voce dominante: la si affronta con le orbite ausiliarie.</a:t>
            </a:r>
            <a:endParaRPr lang="en-US" sz="1250" dirty="0"/>
          </a:p>
        </p:txBody>
      </p:sp>
      <p:sp>
        <p:nvSpPr>
          <p:cNvPr id="10" name="Shape 7"/>
          <p:cNvSpPr/>
          <p:nvPr/>
        </p:nvSpPr>
        <p:spPr>
          <a:xfrm>
            <a:off x="566928" y="461772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1" name="Text 8"/>
          <p:cNvSpPr/>
          <p:nvPr/>
        </p:nvSpPr>
        <p:spPr>
          <a:xfrm>
            <a:off x="731520" y="4727448"/>
            <a:ext cx="2276856" cy="566928"/>
          </a:xfrm>
          <a:prstGeom prst="rect">
            <a:avLst/>
          </a:prstGeom>
          <a:noFill/>
          <a:ln/>
        </p:spPr>
        <p:txBody>
          <a:bodyPr wrap="square" lIns="0" tIns="0" rIns="0" bIns="0" rtlCol="0" anchor="ctr"/>
          <a:lstStyle/>
          <a:p>
            <a:pPr algn="l" indent="0" marL="0">
              <a:buNone/>
            </a:pPr>
            <a:r>
              <a:rPr lang="en-US" sz="3000" b="1" dirty="0">
                <a:solidFill>
                  <a:srgbClr val="102C53"/>
                </a:solidFill>
                <a:latin typeface="Arial" pitchFamily="34" charset="0"/>
                <a:ea typeface="Arial" pitchFamily="34" charset="-122"/>
                <a:cs typeface="Arial" pitchFamily="34" charset="-120"/>
              </a:rPr>
              <a:t>5,70</a:t>
            </a:r>
            <a:pPr algn="l" indent="0" marL="0">
              <a:buNone/>
            </a:pPr>
            <a:r>
              <a:rPr lang="en-US" sz="1300" b="1" dirty="0">
                <a:solidFill>
                  <a:srgbClr val="102C53"/>
                </a:solidFill>
              </a:rPr>
              <a:t> km/s</a:t>
            </a:r>
            <a:endParaRPr lang="en-US" sz="3000" dirty="0"/>
          </a:p>
        </p:txBody>
      </p:sp>
      <p:sp>
        <p:nvSpPr>
          <p:cNvPr id="12" name="Text 9"/>
          <p:cNvSpPr/>
          <p:nvPr/>
        </p:nvSpPr>
        <p:spPr>
          <a:xfrm>
            <a:off x="731520" y="529437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DELTA-V OTTIMO</a:t>
            </a:r>
            <a:endParaRPr lang="en-US" sz="900" dirty="0"/>
          </a:p>
        </p:txBody>
      </p:sp>
      <p:sp>
        <p:nvSpPr>
          <p:cNvPr id="13" name="Shape 10"/>
          <p:cNvSpPr/>
          <p:nvPr/>
        </p:nvSpPr>
        <p:spPr>
          <a:xfrm>
            <a:off x="3355848" y="461772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4" name="Text 11"/>
          <p:cNvSpPr/>
          <p:nvPr/>
        </p:nvSpPr>
        <p:spPr>
          <a:xfrm>
            <a:off x="3520440" y="4727448"/>
            <a:ext cx="2276856" cy="566928"/>
          </a:xfrm>
          <a:prstGeom prst="rect">
            <a:avLst/>
          </a:prstGeom>
          <a:noFill/>
          <a:ln/>
        </p:spPr>
        <p:txBody>
          <a:bodyPr wrap="square" lIns="0" tIns="0" rIns="0" bIns="0" rtlCol="0" anchor="ctr"/>
          <a:lstStyle/>
          <a:p>
            <a:pPr algn="l" indent="0" marL="0">
              <a:buNone/>
            </a:pPr>
            <a:r>
              <a:rPr lang="en-US" sz="3000" b="1" dirty="0">
                <a:solidFill>
                  <a:srgbClr val="102C53"/>
                </a:solidFill>
                <a:latin typeface="Arial" pitchFamily="34" charset="0"/>
                <a:ea typeface="Arial" pitchFamily="34" charset="-122"/>
                <a:cs typeface="Arial" pitchFamily="34" charset="-120"/>
              </a:rPr>
              <a:t>0,61</a:t>
            </a:r>
            <a:pPr algn="l" indent="0" marL="0">
              <a:buNone/>
            </a:pPr>
            <a:r>
              <a:rPr lang="en-US" sz="1300" b="1" dirty="0">
                <a:solidFill>
                  <a:srgbClr val="102C53"/>
                </a:solidFill>
              </a:rPr>
              <a:t> giorni</a:t>
            </a:r>
            <a:endParaRPr lang="en-US" sz="3000" dirty="0"/>
          </a:p>
        </p:txBody>
      </p:sp>
      <p:sp>
        <p:nvSpPr>
          <p:cNvPr id="15" name="Text 12"/>
          <p:cNvSpPr/>
          <p:nvPr/>
        </p:nvSpPr>
        <p:spPr>
          <a:xfrm>
            <a:off x="3520440" y="529437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MIGLIOR TEMPO (SEQ. 4)</a:t>
            </a:r>
            <a:endParaRPr lang="en-US" sz="900" dirty="0"/>
          </a:p>
        </p:txBody>
      </p:sp>
      <p:sp>
        <p:nvSpPr>
          <p:cNvPr id="16" name="Text 13"/>
          <p:cNvSpPr/>
          <p:nvPr/>
        </p:nvSpPr>
        <p:spPr>
          <a:xfrm>
            <a:off x="566928" y="5806440"/>
            <a:ext cx="5394960" cy="457200"/>
          </a:xfrm>
          <a:prstGeom prst="rect">
            <a:avLst/>
          </a:prstGeom>
          <a:noFill/>
          <a:ln/>
        </p:spPr>
        <p:txBody>
          <a:bodyPr wrap="square" lIns="0" tIns="0" rIns="0" bIns="0" rtlCol="0" anchor="ctr"/>
          <a:lstStyle/>
          <a:p>
            <a:pPr indent="0" marL="0">
              <a:buNone/>
            </a:pPr>
            <a:r>
              <a:rPr lang="en-US" sz="1050" i="1" dirty="0">
                <a:solidFill>
                  <a:srgbClr val="7C8BA1"/>
                </a:solidFill>
                <a:latin typeface="Arial" pitchFamily="34" charset="0"/>
                <a:ea typeface="Arial" pitchFamily="34" charset="-122"/>
                <a:cs typeface="Arial" pitchFamily="34" charset="-120"/>
              </a:rPr>
              <a:t>La sequenza piu' rapida non coincide con la piu' economica: emerge il compromesso delta-V / delta-t.</a:t>
            </a:r>
            <a:endParaRPr lang="en-US" sz="1050" dirty="0"/>
          </a:p>
        </p:txBody>
      </p:sp>
      <p:sp>
        <p:nvSpPr>
          <p:cNvPr id="17" name="Shape 14"/>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18" name="Image 1" descr="/sessions/laughing-busy-clarke/mnt/outputs/figs/sc1_seq_ottima.png">    </p:cNvPr>
          <p:cNvPicPr>
            <a:picLocks noChangeAspect="1"/>
          </p:cNvPicPr>
          <p:nvPr/>
        </p:nvPicPr>
        <p:blipFill>
          <a:blip r:embed="rId2"/>
          <a:srcRect l="0" r="0" t="0" b="0"/>
          <a:stretch/>
        </p:blipFill>
        <p:spPr>
          <a:xfrm>
            <a:off x="6483096" y="1819656"/>
            <a:ext cx="5001768" cy="3968496"/>
          </a:xfrm>
          <a:prstGeom prst="rect">
            <a:avLst/>
          </a:prstGeom>
        </p:spPr>
      </p:pic>
      <p:sp>
        <p:nvSpPr>
          <p:cNvPr id="19" name="Text 15"/>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Sequenza ottima per delta-V (Fig. 2.3)</a:t>
            </a:r>
            <a:endParaRPr lang="en-US" sz="950" dirty="0"/>
          </a:p>
        </p:txBody>
      </p:sp>
      <p:sp>
        <p:nvSpPr>
          <p:cNvPr id="20" name="Text 16"/>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21" name="Text 17"/>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1 · OTTIMIZZAZIONE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Confronto delle sequenze</a:t>
            </a:r>
            <a:endParaRPr lang="en-US" sz="2600" dirty="0"/>
          </a:p>
        </p:txBody>
      </p:sp>
      <p:sp>
        <p:nvSpPr>
          <p:cNvPr id="6" name="Shape 3"/>
          <p:cNvSpPr/>
          <p:nvPr/>
        </p:nvSpPr>
        <p:spPr>
          <a:xfrm>
            <a:off x="9793224" y="841248"/>
            <a:ext cx="1828800" cy="365760"/>
          </a:xfrm>
          <a:prstGeom prst="roundRect">
            <a:avLst>
              <a:gd name="adj" fmla="val 50000"/>
            </a:avLst>
          </a:prstGeom>
          <a:solidFill>
            <a:srgbClr val="E7F6FF"/>
          </a:solidFill>
          <a:ln w="12700">
            <a:solidFill>
              <a:srgbClr val="4DC9FF"/>
            </a:solidFill>
            <a:prstDash val="solid"/>
          </a:ln>
        </p:spPr>
      </p:sp>
      <p:sp>
        <p:nvSpPr>
          <p:cNvPr id="7" name="Text 4"/>
          <p:cNvSpPr/>
          <p:nvPr/>
        </p:nvSpPr>
        <p:spPr>
          <a:xfrm>
            <a:off x="9793224" y="841248"/>
            <a:ext cx="1828800" cy="365760"/>
          </a:xfrm>
          <a:prstGeom prst="rect">
            <a:avLst/>
          </a:prstGeom>
          <a:noFill/>
          <a:ln/>
        </p:spPr>
        <p:txBody>
          <a:bodyPr wrap="square" lIns="0" tIns="0" rIns="0" bIns="0" rtlCol="0" anchor="ctr"/>
          <a:lstStyle/>
          <a:p>
            <a:pPr algn="ctr" indent="0" marL="0">
              <a:buNone/>
            </a:pPr>
            <a:r>
              <a:rPr lang="en-US" sz="1000" b="1" spc="150" kern="0" dirty="0">
                <a:solidFill>
                  <a:srgbClr val="1C82C0"/>
                </a:solidFill>
                <a:latin typeface="Arial" pitchFamily="34" charset="0"/>
                <a:ea typeface="Arial" pitchFamily="34" charset="-122"/>
                <a:cs typeface="Arial" pitchFamily="34" charset="-120"/>
              </a:rPr>
              <a:t>APPROFONDIMENTO</a:t>
            </a:r>
            <a:endParaRPr lang="en-US" sz="1000" dirty="0"/>
          </a:p>
        </p:txBody>
      </p:sp>
      <p:sp>
        <p:nvSpPr>
          <p:cNvPr id="8" name="Shape 5"/>
          <p:cNvSpPr/>
          <p:nvPr/>
        </p:nvSpPr>
        <p:spPr>
          <a:xfrm>
            <a:off x="566928" y="1463040"/>
            <a:ext cx="11055096" cy="0"/>
          </a:xfrm>
          <a:prstGeom prst="line">
            <a:avLst/>
          </a:prstGeom>
          <a:noFill/>
          <a:ln w="12700">
            <a:solidFill>
              <a:srgbClr val="DBE3EE"/>
            </a:solidFill>
            <a:prstDash val="solid"/>
          </a:ln>
        </p:spPr>
      </p:sp>
      <p:sp>
        <p:nvSpPr>
          <p:cNvPr id="9" name="Text 6"/>
          <p:cNvSpPr/>
          <p:nvPr/>
        </p:nvSpPr>
        <p:spPr>
          <a:xfrm>
            <a:off x="566928" y="1645920"/>
            <a:ext cx="5486400" cy="2377440"/>
          </a:xfrm>
          <a:prstGeom prst="rect">
            <a:avLst/>
          </a:prstGeom>
          <a:noFill/>
          <a:ln/>
        </p:spPr>
        <p:txBody>
          <a:bodyPr wrap="square" lIns="0" tIns="0" rIns="0" bIns="0" rtlCol="0" anchor="t"/>
          <a:lstStyle/>
          <a:p>
            <a:pPr algn="l" indent="0" marL="0">
              <a:lnSpc>
                <a:spcPct val="112000"/>
              </a:lnSpc>
              <a:buNone/>
            </a:pPr>
            <a:r>
              <a:rPr lang="en-US" sz="1200" dirty="0">
                <a:solidFill>
                  <a:srgbClr val="35475E"/>
                </a:solidFill>
                <a:latin typeface="Arial" pitchFamily="34" charset="0"/>
                <a:ea typeface="Arial" pitchFamily="34" charset="-122"/>
                <a:cs typeface="Arial" pitchFamily="34" charset="-120"/>
              </a:rPr>
              <a:t>L'algoritmo valuta tutte le permutazioni di cambio piano, cambio pericentro e trasferimento bitangente (nelle varianti pericentro-apocentro 'pa' e apocentro-pericentro 'ap'). </a:t>
            </a:r>
            <a:pPr algn="l" indent="0" marL="0">
              <a:lnSpc>
                <a:spcPct val="112000"/>
              </a:lnSpc>
              <a:buNone/>
            </a:pPr>
            <a:r>
              <a:rPr lang="en-US" sz="1200" b="1" dirty="0">
                <a:solidFill>
                  <a:srgbClr val="102C53"/>
                </a:solidFill>
                <a:latin typeface="Arial" pitchFamily="34" charset="0"/>
                <a:ea typeface="Arial" pitchFamily="34" charset="-122"/>
                <a:cs typeface="Arial" pitchFamily="34" charset="-120"/>
              </a:rPr>
              <a:t>Il principio chiave e' l'effetto Oberth: </a:t>
            </a:r>
            <a:pPr algn="l" indent="0" marL="0">
              <a:lnSpc>
                <a:spcPct val="112000"/>
              </a:lnSpc>
              <a:buNone/>
            </a:pPr>
            <a:r>
              <a:rPr lang="en-US" sz="1200" dirty="0">
                <a:solidFill>
                  <a:srgbClr val="35475E"/>
                </a:solidFill>
                <a:latin typeface="Arial" pitchFamily="34" charset="0"/>
                <a:ea typeface="Arial" pitchFamily="34" charset="-122"/>
                <a:cs typeface="Arial" pitchFamily="34" charset="-120"/>
              </a:rPr>
              <a:t>poiche' il primo impulso del bitangente vale ΔV₁ = v_T − v_i, aumentando la velocita' del satellite nel punto d'innesco si riduce il divario con la velocita' di trasferimento, abbattendo il costo. Eseguendo il cambio piano dopo il bitangente, esso avviene su un'orbita di dimensioni maggiori, dove vθ e' piu' bassa, e il suo costo (2·vθ·sin(α/2)) diminuisce.</a:t>
            </a:r>
            <a:endParaRPr lang="en-US" sz="1200" dirty="0"/>
          </a:p>
        </p:txBody>
      </p:sp>
      <p:sp>
        <p:nvSpPr>
          <p:cNvPr id="10" name="Text 7"/>
          <p:cNvSpPr/>
          <p:nvPr/>
        </p:nvSpPr>
        <p:spPr>
          <a:xfrm>
            <a:off x="566928" y="4160520"/>
            <a:ext cx="5486400" cy="2743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Classifica delle strategie (ΔV in km/s) — output del codice MATLAB</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4434840"/>
          <a:ext cx="5532120" cy="914400"/>
        </p:xfrm>
        <a:graphic>
          <a:graphicData uri="http://schemas.openxmlformats.org/drawingml/2006/table">
            <a:tbl>
              <a:tblPr/>
              <a:tblGrid>
                <a:gridCol w="2148840"/>
                <a:gridCol w="548640"/>
                <a:gridCol w="914400"/>
                <a:gridCol w="914400"/>
                <a:gridCol w="1005840"/>
              </a:tblGrid>
              <a:tr h="38404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Sequenza</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Bit.</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ΔV piano</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ΔV peric.</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ΔV tot</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r>
              <a:tr h="365760">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Bitang→Piano→Peric</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pa</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0,653</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4,822</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02C53"/>
                          </a:solidFill>
                          <a:latin typeface="Arial" pitchFamily="34" charset="0"/>
                          <a:ea typeface="Arial" pitchFamily="34" charset="-122"/>
                          <a:cs typeface="Arial" pitchFamily="34" charset="-120"/>
                        </a:rPr>
                        <a:t>5,704</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E7F6FF"/>
                    </a:solidFill>
                  </a:tcPr>
                </a:tc>
              </a:tr>
              <a:tr h="365760">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Piano→Bitang→Peric</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pa</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0,669</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4,822</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5,720</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r h="365760">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Bitang→Piano→Peric</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ap</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0,653</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4,822</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5,725</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r h="365760">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Piano→Peric→Bitang</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pa</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0,669</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5,539</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6,437</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bl>
          </a:graphicData>
        </a:graphic>
      </p:graphicFrame>
      <p:sp>
        <p:nvSpPr>
          <p:cNvPr id="12" name="Shape 8"/>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13" name="Image 1" descr="/sessions/laughing-busy-clarke/mnt/outputs/figs/sc1_seq_ottima.png">    </p:cNvPr>
          <p:cNvPicPr>
            <a:picLocks noChangeAspect="1"/>
          </p:cNvPicPr>
          <p:nvPr/>
        </p:nvPicPr>
        <p:blipFill>
          <a:blip r:embed="rId2"/>
          <a:srcRect l="0" r="0" t="0" b="0"/>
          <a:stretch/>
        </p:blipFill>
        <p:spPr>
          <a:xfrm>
            <a:off x="6483096" y="1819656"/>
            <a:ext cx="5001768" cy="3968496"/>
          </a:xfrm>
          <a:prstGeom prst="rect">
            <a:avLst/>
          </a:prstGeom>
        </p:spPr>
      </p:pic>
      <p:sp>
        <p:nvSpPr>
          <p:cNvPr id="14" name="Text 9"/>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Sequenza ottima: bitangente, poi cambio piano, poi cambio pericentro</a:t>
            </a:r>
            <a:endParaRPr lang="en-US" sz="950" dirty="0"/>
          </a:p>
        </p:txBody>
      </p:sp>
      <p:sp>
        <p:nvSpPr>
          <p:cNvPr id="15" name="Text 10"/>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16" name="Text 11"/>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1 · ORBITE AUSILIARIE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Circolarizzazione: abbattere il costo</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45920"/>
            <a:ext cx="5440680" cy="868680"/>
          </a:xfrm>
          <a:prstGeom prst="rect">
            <a:avLst/>
          </a:prstGeom>
          <a:noFill/>
          <a:ln/>
        </p:spPr>
        <p:txBody>
          <a:bodyPr wrap="square" lIns="0" tIns="0" rIns="0" bIns="0" rtlCol="0" anchor="t"/>
          <a:lstStyle/>
          <a:p>
            <a:pPr algn="l" indent="0" marL="0">
              <a:lnSpc>
                <a:spcPct val="112000"/>
              </a:lnSpc>
              <a:buNone/>
            </a:pPr>
            <a:r>
              <a:rPr lang="en-US" sz="1350" b="1" dirty="0">
                <a:solidFill>
                  <a:srgbClr val="102C53"/>
                </a:solidFill>
                <a:latin typeface="Arial" pitchFamily="34" charset="0"/>
                <a:ea typeface="Arial" pitchFamily="34" charset="-122"/>
                <a:cs typeface="Arial" pitchFamily="34" charset="-120"/>
              </a:rPr>
              <a:t>Idea chiave: </a:t>
            </a:r>
            <a:pPr algn="l" indent="0" marL="0">
              <a:lnSpc>
                <a:spcPct val="112000"/>
              </a:lnSpc>
              <a:buNone/>
            </a:pPr>
            <a:r>
              <a:rPr lang="en-US" sz="1350" dirty="0">
                <a:solidFill>
                  <a:srgbClr val="35475E"/>
                </a:solidFill>
                <a:latin typeface="Arial" pitchFamily="34" charset="0"/>
                <a:ea typeface="Arial" pitchFamily="34" charset="-122"/>
                <a:cs typeface="Arial" pitchFamily="34" charset="-120"/>
              </a:rPr>
              <a:t>su un'orbita ausiliaria circolare (e=0) la rotazione del pericentro diventa gratuita, e il costo del cambio piano decade come 1/√a.</a:t>
            </a:r>
            <a:endParaRPr lang="en-US" sz="1350" dirty="0"/>
          </a:p>
        </p:txBody>
      </p:sp>
      <p:sp>
        <p:nvSpPr>
          <p:cNvPr id="8" name="Text 5"/>
          <p:cNvSpPr/>
          <p:nvPr/>
        </p:nvSpPr>
        <p:spPr>
          <a:xfrm>
            <a:off x="566928" y="2542032"/>
            <a:ext cx="5394960" cy="274320"/>
          </a:xfrm>
          <a:prstGeom prst="rect">
            <a:avLst/>
          </a:prstGeom>
          <a:noFill/>
          <a:ln/>
        </p:spPr>
        <p:txBody>
          <a:bodyPr wrap="square" lIns="0" tIns="0" rIns="0" bIns="0" rtlCol="0" anchor="ctr"/>
          <a:lstStyle/>
          <a:p>
            <a:pPr indent="0" marL="0">
              <a:buNone/>
            </a:pPr>
            <a:r>
              <a:rPr lang="en-US" sz="1250" b="1" dirty="0">
                <a:solidFill>
                  <a:srgbClr val="0E2342"/>
                </a:solidFill>
                <a:latin typeface="Arial" pitchFamily="34" charset="0"/>
                <a:ea typeface="Arial" pitchFamily="34" charset="-122"/>
                <a:cs typeface="Arial" pitchFamily="34" charset="-120"/>
              </a:rPr>
              <a:t>Due soluzioni a confronto</a:t>
            </a:r>
            <a:endParaRPr lang="en-US" sz="1250" dirty="0"/>
          </a:p>
        </p:txBody>
      </p:sp>
      <p:sp>
        <p:nvSpPr>
          <p:cNvPr id="9" name="Shape 6"/>
          <p:cNvSpPr/>
          <p:nvPr/>
        </p:nvSpPr>
        <p:spPr>
          <a:xfrm>
            <a:off x="566928" y="2907792"/>
            <a:ext cx="2670048" cy="2286000"/>
          </a:xfrm>
          <a:prstGeom prst="roundRect">
            <a:avLst>
              <a:gd name="adj" fmla="val 3200"/>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0" name="Text 7"/>
          <p:cNvSpPr/>
          <p:nvPr/>
        </p:nvSpPr>
        <p:spPr>
          <a:xfrm>
            <a:off x="749808" y="3054096"/>
            <a:ext cx="2304288" cy="566928"/>
          </a:xfrm>
          <a:prstGeom prst="rect">
            <a:avLst/>
          </a:prstGeom>
          <a:noFill/>
          <a:ln/>
        </p:spPr>
        <p:txBody>
          <a:bodyPr wrap="square" lIns="0" tIns="0" rIns="0" bIns="0" rtlCol="0" anchor="t"/>
          <a:lstStyle/>
          <a:p>
            <a:pPr indent="0" marL="0">
              <a:lnSpc>
                <a:spcPct val="95000"/>
              </a:lnSpc>
              <a:buNone/>
            </a:pPr>
            <a:r>
              <a:rPr lang="en-US" sz="1250" b="1" dirty="0">
                <a:solidFill>
                  <a:srgbClr val="102C53"/>
                </a:solidFill>
                <a:latin typeface="Arial" pitchFamily="34" charset="0"/>
                <a:ea typeface="Arial" pitchFamily="34" charset="-122"/>
                <a:cs typeface="Arial" pitchFamily="34" charset="-120"/>
              </a:rPr>
              <a:t>A · Quota ottimizzata (ai margini della SOI)</a:t>
            </a:r>
            <a:endParaRPr lang="en-US" sz="1250" dirty="0"/>
          </a:p>
        </p:txBody>
      </p:sp>
      <p:sp>
        <p:nvSpPr>
          <p:cNvPr id="11" name="Text 8"/>
          <p:cNvSpPr/>
          <p:nvPr/>
        </p:nvSpPr>
        <p:spPr>
          <a:xfrm>
            <a:off x="749808" y="3694176"/>
            <a:ext cx="2304288" cy="457200"/>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2,87</a:t>
            </a:r>
            <a:pPr indent="0" marL="0">
              <a:buNone/>
            </a:pPr>
            <a:r>
              <a:rPr lang="en-US" sz="1200" b="1" dirty="0">
                <a:solidFill>
                  <a:srgbClr val="102C53"/>
                </a:solidFill>
              </a:rPr>
              <a:t> km/s</a:t>
            </a:r>
            <a:endParaRPr lang="en-US" sz="2600" dirty="0"/>
          </a:p>
        </p:txBody>
      </p:sp>
      <p:sp>
        <p:nvSpPr>
          <p:cNvPr id="12" name="Text 9"/>
          <p:cNvSpPr/>
          <p:nvPr/>
        </p:nvSpPr>
        <p:spPr>
          <a:xfrm>
            <a:off x="749808" y="4187952"/>
            <a:ext cx="2304288" cy="292608"/>
          </a:xfrm>
          <a:prstGeom prst="rect">
            <a:avLst/>
          </a:prstGeom>
          <a:noFill/>
          <a:ln/>
        </p:spPr>
        <p:txBody>
          <a:bodyPr wrap="square" lIns="0" tIns="0" rIns="0" bIns="0" rtlCol="0" anchor="ctr"/>
          <a:lstStyle/>
          <a:p>
            <a:pPr indent="0" marL="0">
              <a:buNone/>
            </a:pPr>
            <a:r>
              <a:rPr lang="en-US" sz="1150" b="1" dirty="0">
                <a:solidFill>
                  <a:srgbClr val="35475E"/>
                </a:solidFill>
                <a:latin typeface="Arial" pitchFamily="34" charset="0"/>
                <a:ea typeface="Arial" pitchFamily="34" charset="-122"/>
                <a:cs typeface="Arial" pitchFamily="34" charset="-120"/>
              </a:rPr>
              <a:t>tempo: 112 giorni</a:t>
            </a:r>
            <a:endParaRPr lang="en-US" sz="1150" dirty="0"/>
          </a:p>
        </p:txBody>
      </p:sp>
      <p:sp>
        <p:nvSpPr>
          <p:cNvPr id="13" name="Text 10"/>
          <p:cNvSpPr/>
          <p:nvPr/>
        </p:nvSpPr>
        <p:spPr>
          <a:xfrm>
            <a:off x="749808" y="4498848"/>
            <a:ext cx="2304288" cy="640080"/>
          </a:xfrm>
          <a:prstGeom prst="rect">
            <a:avLst/>
          </a:prstGeom>
          <a:noFill/>
          <a:ln/>
        </p:spPr>
        <p:txBody>
          <a:bodyPr wrap="square" lIns="0" tIns="0" rIns="0" bIns="0" rtlCol="0" anchor="ctr"/>
          <a:lstStyle/>
          <a:p>
            <a:pPr indent="0" marL="0">
              <a:lnSpc>
                <a:spcPct val="98000"/>
              </a:lnSpc>
              <a:buNone/>
            </a:pPr>
            <a:r>
              <a:rPr lang="en-US" sz="1050" i="1" dirty="0">
                <a:solidFill>
                  <a:srgbClr val="7C8BA1"/>
                </a:solidFill>
                <a:latin typeface="Arial" pitchFamily="34" charset="0"/>
                <a:ea typeface="Arial" pitchFamily="34" charset="-122"/>
                <a:cs typeface="Arial" pitchFamily="34" charset="-120"/>
              </a:rPr>
              <a:t>-50% di delta-V vs baseline, al prezzo di tempi molto lunghi.</a:t>
            </a:r>
            <a:endParaRPr lang="en-US" sz="1050" dirty="0"/>
          </a:p>
        </p:txBody>
      </p:sp>
      <p:sp>
        <p:nvSpPr>
          <p:cNvPr id="14" name="Shape 11"/>
          <p:cNvSpPr/>
          <p:nvPr/>
        </p:nvSpPr>
        <p:spPr>
          <a:xfrm>
            <a:off x="3337560" y="2907792"/>
            <a:ext cx="2670048" cy="2286000"/>
          </a:xfrm>
          <a:prstGeom prst="roundRect">
            <a:avLst>
              <a:gd name="adj" fmla="val 3200"/>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5" name="Text 12"/>
          <p:cNvSpPr/>
          <p:nvPr/>
        </p:nvSpPr>
        <p:spPr>
          <a:xfrm>
            <a:off x="3520440" y="3054096"/>
            <a:ext cx="2304288" cy="566928"/>
          </a:xfrm>
          <a:prstGeom prst="rect">
            <a:avLst/>
          </a:prstGeom>
          <a:noFill/>
          <a:ln/>
        </p:spPr>
        <p:txBody>
          <a:bodyPr wrap="square" lIns="0" tIns="0" rIns="0" bIns="0" rtlCol="0" anchor="t"/>
          <a:lstStyle/>
          <a:p>
            <a:pPr indent="0" marL="0">
              <a:lnSpc>
                <a:spcPct val="95000"/>
              </a:lnSpc>
              <a:buNone/>
            </a:pPr>
            <a:r>
              <a:rPr lang="en-US" sz="1250" b="1" dirty="0">
                <a:solidFill>
                  <a:srgbClr val="102C53"/>
                </a:solidFill>
                <a:latin typeface="Arial" pitchFamily="34" charset="0"/>
                <a:ea typeface="Arial" pitchFamily="34" charset="-122"/>
                <a:cs typeface="Arial" pitchFamily="34" charset="-120"/>
              </a:rPr>
              <a:t>B · Quota GTO (singolo impulso all'apocentro)</a:t>
            </a:r>
            <a:endParaRPr lang="en-US" sz="1250" dirty="0"/>
          </a:p>
        </p:txBody>
      </p:sp>
      <p:sp>
        <p:nvSpPr>
          <p:cNvPr id="16" name="Text 13"/>
          <p:cNvSpPr/>
          <p:nvPr/>
        </p:nvSpPr>
        <p:spPr>
          <a:xfrm>
            <a:off x="3520440" y="3694176"/>
            <a:ext cx="2304288" cy="457200"/>
          </a:xfrm>
          <a:prstGeom prst="rect">
            <a:avLst/>
          </a:prstGeom>
          <a:noFill/>
          <a:ln/>
        </p:spPr>
        <p:txBody>
          <a:bodyPr wrap="square" lIns="0" tIns="0" rIns="0" bIns="0" rtlCol="0" anchor="ctr"/>
          <a:lstStyle/>
          <a:p>
            <a:pPr indent="0" marL="0">
              <a:buNone/>
            </a:pPr>
            <a:r>
              <a:rPr lang="en-US" sz="2600" b="1" dirty="0">
                <a:solidFill>
                  <a:srgbClr val="1C82C0"/>
                </a:solidFill>
                <a:latin typeface="Arial" pitchFamily="34" charset="0"/>
                <a:ea typeface="Arial" pitchFamily="34" charset="-122"/>
                <a:cs typeface="Arial" pitchFamily="34" charset="-120"/>
              </a:rPr>
              <a:t>4,04</a:t>
            </a:r>
            <a:pPr indent="0" marL="0">
              <a:buNone/>
            </a:pPr>
            <a:r>
              <a:rPr lang="en-US" sz="1200" b="1" dirty="0">
                <a:solidFill>
                  <a:srgbClr val="1C82C0"/>
                </a:solidFill>
              </a:rPr>
              <a:t> km/s</a:t>
            </a:r>
            <a:endParaRPr lang="en-US" sz="2600" dirty="0"/>
          </a:p>
        </p:txBody>
      </p:sp>
      <p:sp>
        <p:nvSpPr>
          <p:cNvPr id="17" name="Text 14"/>
          <p:cNvSpPr/>
          <p:nvPr/>
        </p:nvSpPr>
        <p:spPr>
          <a:xfrm>
            <a:off x="3520440" y="4187952"/>
            <a:ext cx="2304288" cy="292608"/>
          </a:xfrm>
          <a:prstGeom prst="rect">
            <a:avLst/>
          </a:prstGeom>
          <a:noFill/>
          <a:ln/>
        </p:spPr>
        <p:txBody>
          <a:bodyPr wrap="square" lIns="0" tIns="0" rIns="0" bIns="0" rtlCol="0" anchor="ctr"/>
          <a:lstStyle/>
          <a:p>
            <a:pPr indent="0" marL="0">
              <a:buNone/>
            </a:pPr>
            <a:r>
              <a:rPr lang="en-US" sz="1150" b="1" dirty="0">
                <a:solidFill>
                  <a:srgbClr val="35475E"/>
                </a:solidFill>
                <a:latin typeface="Arial" pitchFamily="34" charset="0"/>
                <a:ea typeface="Arial" pitchFamily="34" charset="-122"/>
                <a:cs typeface="Arial" pitchFamily="34" charset="-120"/>
              </a:rPr>
              <a:t>tempo: 2,3 giorni</a:t>
            </a:r>
            <a:endParaRPr lang="en-US" sz="1150" dirty="0"/>
          </a:p>
        </p:txBody>
      </p:sp>
      <p:sp>
        <p:nvSpPr>
          <p:cNvPr id="18" name="Text 15"/>
          <p:cNvSpPr/>
          <p:nvPr/>
        </p:nvSpPr>
        <p:spPr>
          <a:xfrm>
            <a:off x="3520440" y="4498848"/>
            <a:ext cx="2304288" cy="640080"/>
          </a:xfrm>
          <a:prstGeom prst="rect">
            <a:avLst/>
          </a:prstGeom>
          <a:noFill/>
          <a:ln/>
        </p:spPr>
        <p:txBody>
          <a:bodyPr wrap="square" lIns="0" tIns="0" rIns="0" bIns="0" rtlCol="0" anchor="ctr"/>
          <a:lstStyle/>
          <a:p>
            <a:pPr indent="0" marL="0">
              <a:lnSpc>
                <a:spcPct val="98000"/>
              </a:lnSpc>
              <a:buNone/>
            </a:pPr>
            <a:r>
              <a:rPr lang="en-US" sz="1050" i="1" dirty="0">
                <a:solidFill>
                  <a:srgbClr val="7C8BA1"/>
                </a:solidFill>
                <a:latin typeface="Arial" pitchFamily="34" charset="0"/>
                <a:ea typeface="Arial" pitchFamily="34" charset="-122"/>
                <a:cs typeface="Arial" pitchFamily="34" charset="-120"/>
              </a:rPr>
              <a:t>Compromesso: -29% di delta-V mantenendo tempi brevi.</a:t>
            </a:r>
            <a:endParaRPr lang="en-US" sz="1050" dirty="0"/>
          </a:p>
        </p:txBody>
      </p:sp>
      <p:sp>
        <p:nvSpPr>
          <p:cNvPr id="19" name="Text 16"/>
          <p:cNvSpPr/>
          <p:nvPr/>
        </p:nvSpPr>
        <p:spPr>
          <a:xfrm>
            <a:off x="566928" y="5303520"/>
            <a:ext cx="5440680" cy="457200"/>
          </a:xfrm>
          <a:prstGeom prst="rect">
            <a:avLst/>
          </a:prstGeom>
          <a:noFill/>
          <a:ln/>
        </p:spPr>
        <p:txBody>
          <a:bodyPr wrap="square" lIns="0" tIns="0" rIns="0" bIns="0" rtlCol="0" anchor="ctr"/>
          <a:lstStyle/>
          <a:p>
            <a:pPr indent="0" marL="0">
              <a:buNone/>
            </a:pPr>
            <a:r>
              <a:rPr lang="en-US" sz="1050" i="1" dirty="0">
                <a:solidFill>
                  <a:srgbClr val="7C8BA1"/>
                </a:solidFill>
                <a:latin typeface="Arial" pitchFamily="34" charset="0"/>
                <a:ea typeface="Arial" pitchFamily="34" charset="-122"/>
                <a:cs typeface="Arial" pitchFamily="34" charset="-120"/>
              </a:rPr>
              <a:t>a_aux ottimo = a_aux,max ≈ 900 000 km, compatibile con la SOI terrestre (≈ 9,29·10⁵ km).</a:t>
            </a:r>
            <a:endParaRPr lang="en-US" sz="1050" dirty="0"/>
          </a:p>
        </p:txBody>
      </p:sp>
      <p:sp>
        <p:nvSpPr>
          <p:cNvPr id="20" name="Shape 17"/>
          <p:cNvSpPr/>
          <p:nvPr/>
        </p:nvSpPr>
        <p:spPr>
          <a:xfrm>
            <a:off x="6355080" y="1691640"/>
            <a:ext cx="5257800" cy="4480560"/>
          </a:xfrm>
          <a:prstGeom prst="roundRect">
            <a:avLst>
              <a:gd name="adj" fmla="val 1224"/>
            </a:avLst>
          </a:prstGeom>
          <a:solidFill>
            <a:srgbClr val="0B2243"/>
          </a:solidFill>
          <a:ln w="12700">
            <a:solidFill>
              <a:srgbClr val="102C53"/>
            </a:solidFill>
            <a:prstDash val="solid"/>
          </a:ln>
          <a:effectLst>
            <a:outerShdw sx="100000" sy="100000" kx="0" ky="0" algn="bl" rotWithShape="0" blurRad="114300" dist="38100" dir="5400000">
              <a:srgbClr val="6E7F95">
                <a:alpha val="20000"/>
              </a:srgbClr>
            </a:outerShdw>
          </a:effectLst>
        </p:spPr>
      </p:sp>
      <p:pic>
        <p:nvPicPr>
          <p:cNvPr id="21" name="Image 1" descr="/sessions/laughing-busy-clarke/mnt/outputs/gifs/sc1_circ_gto.gif">    </p:cNvPr>
          <p:cNvPicPr>
            <a:picLocks noChangeAspect="1"/>
          </p:cNvPicPr>
          <p:nvPr/>
        </p:nvPicPr>
        <p:blipFill>
          <a:blip r:embed="rId2"/>
          <a:srcRect l="0" r="0" t="0" b="0"/>
          <a:stretch/>
        </p:blipFill>
        <p:spPr>
          <a:xfrm>
            <a:off x="6464808" y="1801368"/>
            <a:ext cx="5038344" cy="4023360"/>
          </a:xfrm>
          <a:prstGeom prst="rect">
            <a:avLst/>
          </a:prstGeom>
        </p:spPr>
      </p:pic>
      <p:sp>
        <p:nvSpPr>
          <p:cNvPr id="22" name="Shape 18"/>
          <p:cNvSpPr/>
          <p:nvPr/>
        </p:nvSpPr>
        <p:spPr>
          <a:xfrm>
            <a:off x="6501384" y="1837944"/>
            <a:ext cx="1280160" cy="310896"/>
          </a:xfrm>
          <a:prstGeom prst="roundRect">
            <a:avLst>
              <a:gd name="adj" fmla="val 50000"/>
            </a:avLst>
          </a:prstGeom>
          <a:solidFill>
            <a:srgbClr val="4DC9FF"/>
          </a:solidFill>
          <a:ln/>
        </p:spPr>
      </p:sp>
      <p:pic>
        <p:nvPicPr>
          <p:cNvPr id="23" name="Image 2" descr="preencoded.png">    </p:cNvPr>
          <p:cNvPicPr>
            <a:picLocks noChangeAspect="1"/>
          </p:cNvPicPr>
          <p:nvPr/>
        </p:nvPicPr>
        <p:blipFill>
          <a:blip r:embed="rId3"/>
          <a:stretch>
            <a:fillRect/>
          </a:stretch>
        </p:blipFill>
        <p:spPr>
          <a:xfrm>
            <a:off x="6592824" y="1897380"/>
            <a:ext cx="201168" cy="201168"/>
          </a:xfrm>
          <a:prstGeom prst="rect">
            <a:avLst/>
          </a:prstGeom>
        </p:spPr>
      </p:pic>
      <p:sp>
        <p:nvSpPr>
          <p:cNvPr id="24" name="Text 19"/>
          <p:cNvSpPr/>
          <p:nvPr/>
        </p:nvSpPr>
        <p:spPr>
          <a:xfrm>
            <a:off x="6812280" y="1837944"/>
            <a:ext cx="960120" cy="310896"/>
          </a:xfrm>
          <a:prstGeom prst="rect">
            <a:avLst/>
          </a:prstGeom>
          <a:noFill/>
          <a:ln/>
        </p:spPr>
        <p:txBody>
          <a:bodyPr wrap="square" lIns="0" tIns="0" rIns="0" bIns="0" rtlCol="0" anchor="ctr"/>
          <a:lstStyle/>
          <a:p>
            <a:pPr algn="l" indent="0" marL="0">
              <a:buNone/>
            </a:pPr>
            <a:r>
              <a:rPr lang="en-US" sz="900" b="1" spc="100" kern="0" dirty="0">
                <a:solidFill>
                  <a:srgbClr val="06335C"/>
                </a:solidFill>
                <a:latin typeface="Arial" pitchFamily="34" charset="0"/>
                <a:ea typeface="Arial" pitchFamily="34" charset="-122"/>
                <a:cs typeface="Arial" pitchFamily="34" charset="-120"/>
              </a:rPr>
              <a:t>ANIMAZIONE</a:t>
            </a:r>
            <a:endParaRPr lang="en-US" sz="900" dirty="0"/>
          </a:p>
        </p:txBody>
      </p:sp>
      <p:sp>
        <p:nvSpPr>
          <p:cNvPr id="25" name="Text 20"/>
          <p:cNvSpPr/>
          <p:nvPr/>
        </p:nvSpPr>
        <p:spPr>
          <a:xfrm>
            <a:off x="6464808" y="5879592"/>
            <a:ext cx="5038344" cy="219456"/>
          </a:xfrm>
          <a:prstGeom prst="rect">
            <a:avLst/>
          </a:prstGeom>
          <a:noFill/>
          <a:ln/>
        </p:spPr>
        <p:txBody>
          <a:bodyPr wrap="square" lIns="0" tIns="0" rIns="0" bIns="0" rtlCol="0" anchor="ctr"/>
          <a:lstStyle/>
          <a:p>
            <a:pPr algn="ctr" indent="0" marL="0">
              <a:buNone/>
            </a:pPr>
            <a:r>
              <a:rPr lang="en-US" sz="950" i="1" dirty="0">
                <a:solidFill>
                  <a:srgbClr val="AFC6E0"/>
                </a:solidFill>
                <a:latin typeface="Arial" pitchFamily="34" charset="0"/>
                <a:ea typeface="Arial" pitchFamily="34" charset="-122"/>
                <a:cs typeface="Arial" pitchFamily="34" charset="-120"/>
              </a:rPr>
              <a:t>Circolarizzazione a quota GTO (soluzione B)</a:t>
            </a:r>
            <a:endParaRPr lang="en-US" sz="950" dirty="0"/>
          </a:p>
        </p:txBody>
      </p:sp>
      <p:sp>
        <p:nvSpPr>
          <p:cNvPr id="26" name="Text 21"/>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27" name="Text 22"/>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1 · ORBITE AUSILIARIE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Perche' conviene circolarizzare</a:t>
            </a:r>
            <a:endParaRPr lang="en-US" sz="2600" dirty="0"/>
          </a:p>
        </p:txBody>
      </p:sp>
      <p:sp>
        <p:nvSpPr>
          <p:cNvPr id="6" name="Shape 3"/>
          <p:cNvSpPr/>
          <p:nvPr/>
        </p:nvSpPr>
        <p:spPr>
          <a:xfrm>
            <a:off x="9793224" y="841248"/>
            <a:ext cx="1828800" cy="365760"/>
          </a:xfrm>
          <a:prstGeom prst="roundRect">
            <a:avLst>
              <a:gd name="adj" fmla="val 50000"/>
            </a:avLst>
          </a:prstGeom>
          <a:solidFill>
            <a:srgbClr val="E7F6FF"/>
          </a:solidFill>
          <a:ln w="12700">
            <a:solidFill>
              <a:srgbClr val="4DC9FF"/>
            </a:solidFill>
            <a:prstDash val="solid"/>
          </a:ln>
        </p:spPr>
      </p:sp>
      <p:sp>
        <p:nvSpPr>
          <p:cNvPr id="7" name="Text 4"/>
          <p:cNvSpPr/>
          <p:nvPr/>
        </p:nvSpPr>
        <p:spPr>
          <a:xfrm>
            <a:off x="9793224" y="841248"/>
            <a:ext cx="1828800" cy="365760"/>
          </a:xfrm>
          <a:prstGeom prst="rect">
            <a:avLst/>
          </a:prstGeom>
          <a:noFill/>
          <a:ln/>
        </p:spPr>
        <p:txBody>
          <a:bodyPr wrap="square" lIns="0" tIns="0" rIns="0" bIns="0" rtlCol="0" anchor="ctr"/>
          <a:lstStyle/>
          <a:p>
            <a:pPr algn="ctr" indent="0" marL="0">
              <a:buNone/>
            </a:pPr>
            <a:r>
              <a:rPr lang="en-US" sz="1000" b="1" spc="150" kern="0" dirty="0">
                <a:solidFill>
                  <a:srgbClr val="1C82C0"/>
                </a:solidFill>
                <a:latin typeface="Arial" pitchFamily="34" charset="0"/>
                <a:ea typeface="Arial" pitchFamily="34" charset="-122"/>
                <a:cs typeface="Arial" pitchFamily="34" charset="-120"/>
              </a:rPr>
              <a:t>APPROFONDIMENTO</a:t>
            </a:r>
            <a:endParaRPr lang="en-US" sz="1000" dirty="0"/>
          </a:p>
        </p:txBody>
      </p:sp>
      <p:sp>
        <p:nvSpPr>
          <p:cNvPr id="8" name="Shape 5"/>
          <p:cNvSpPr/>
          <p:nvPr/>
        </p:nvSpPr>
        <p:spPr>
          <a:xfrm>
            <a:off x="566928" y="1463040"/>
            <a:ext cx="11055096" cy="0"/>
          </a:xfrm>
          <a:prstGeom prst="line">
            <a:avLst/>
          </a:prstGeom>
          <a:noFill/>
          <a:ln w="12700">
            <a:solidFill>
              <a:srgbClr val="DBE3EE"/>
            </a:solidFill>
            <a:prstDash val="solid"/>
          </a:ln>
        </p:spPr>
      </p:sp>
      <p:sp>
        <p:nvSpPr>
          <p:cNvPr id="9" name="Text 6"/>
          <p:cNvSpPr/>
          <p:nvPr/>
        </p:nvSpPr>
        <p:spPr>
          <a:xfrm>
            <a:off x="566928" y="1664208"/>
            <a:ext cx="5486400" cy="4297680"/>
          </a:xfrm>
          <a:prstGeom prst="rect">
            <a:avLst/>
          </a:prstGeom>
          <a:noFill/>
          <a:ln/>
        </p:spPr>
        <p:txBody>
          <a:bodyPr wrap="square" lIns="0" tIns="0" rIns="0" bIns="0" rtlCol="0" anchor="t"/>
          <a:lstStyle/>
          <a:p>
            <a:pPr algn="l" indent="0" marL="0">
              <a:lnSpc>
                <a:spcPct val="112000"/>
              </a:lnSpc>
              <a:buNone/>
            </a:pPr>
            <a:r>
              <a:rPr lang="en-US" sz="1250" dirty="0">
                <a:solidFill>
                  <a:srgbClr val="35475E"/>
                </a:solidFill>
                <a:latin typeface="Arial" pitchFamily="34" charset="0"/>
                <a:ea typeface="Arial" pitchFamily="34" charset="-122"/>
                <a:cs typeface="Arial" pitchFamily="34" charset="-120"/>
              </a:rPr>
              <a:t>Il costo di rotazione del pericentro vale ΔV = 2·√(μ/(a(1−e²)))·e·sin(Δω/2): e' direttamente proporzionale all'eccentricita'. </a:t>
            </a:r>
            <a:pPr algn="l" indent="0" marL="0">
              <a:lnSpc>
                <a:spcPct val="112000"/>
              </a:lnSpc>
              <a:buNone/>
            </a:pPr>
            <a:r>
              <a:rPr lang="en-US" sz="1250" b="1" dirty="0">
                <a:solidFill>
                  <a:srgbClr val="102C53"/>
                </a:solidFill>
                <a:latin typeface="Arial" pitchFamily="34" charset="0"/>
                <a:ea typeface="Arial" pitchFamily="34" charset="-122"/>
                <a:cs typeface="Arial" pitchFamily="34" charset="-120"/>
              </a:rPr>
              <a:t>Forzando l'orbita ausiliaria a essere perfettamente circolare (e=0), questo costo si annulla. </a:t>
            </a:r>
            <a:pPr algn="l" indent="0" marL="0">
              <a:lnSpc>
                <a:spcPct val="112000"/>
              </a:lnSpc>
              <a:buNone/>
            </a:pPr>
            <a:r>
              <a:rPr lang="en-US" sz="1250" dirty="0">
                <a:solidFill>
                  <a:srgbClr val="35475E"/>
                </a:solidFill>
                <a:latin typeface="Arial" pitchFamily="34" charset="0"/>
                <a:ea typeface="Arial" pitchFamily="34" charset="-122"/>
                <a:cs typeface="Arial" pitchFamily="34" charset="-120"/>
              </a:rPr>
              <a:t>Il cambio piano, a sua volta, si semplifica in 2·√(μ/a_aux)·sin(α/2): decade in modo monotono come 1/√a_aux e tende a zero per orbite molto ampie.
</a:t>
            </a:r>
            <a:pPr algn="l" indent="0" marL="0">
              <a:lnSpc>
                <a:spcPct val="112000"/>
              </a:lnSpc>
              <a:buNone/>
            </a:pPr>
            <a:r>
              <a:rPr lang="en-US" sz="1250" dirty="0">
                <a:solidFill>
                  <a:srgbClr val="35475E"/>
                </a:solidFill>
                <a:latin typeface="Arial" pitchFamily="34" charset="0"/>
                <a:ea typeface="Arial" pitchFamily="34" charset="-122"/>
                <a:cs typeface="Arial" pitchFamily="34" charset="-120"/>
              </a:rPr>
              <a:t>Poiche' allargare l'orbita ausiliaria riduce il cambio piano ma aumenta i bitangenti di salita e discesa, e' stato implementato un algoritmo di ricerca monodimensionale del raggio ottimo. Il dominio e' limitato in basso dalla sensatezza geometrica dei bitangenti e in alto dal raggio della SOI terrestre (≈ 9,29·10⁵ km). L'ottimo cade al limite superiore: conviene spingersi ai margini della SOI, dove cambio piano e rotazione del pericentro costano pochissimo, ripagando ampiamente l'impulso speso nella salita.</a:t>
            </a:r>
            <a:endParaRPr lang="en-US" sz="1250" dirty="0"/>
          </a:p>
        </p:txBody>
      </p:sp>
      <p:sp>
        <p:nvSpPr>
          <p:cNvPr id="10" name="Shape 7"/>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11" name="Image 1" descr="/sessions/laughing-busy-clarke/mnt/outputs/figs/sc1_costo_aaux.png">    </p:cNvPr>
          <p:cNvPicPr>
            <a:picLocks noChangeAspect="1"/>
          </p:cNvPicPr>
          <p:nvPr/>
        </p:nvPicPr>
        <p:blipFill>
          <a:blip r:embed="rId2"/>
          <a:srcRect l="0" r="0" t="0" b="0"/>
          <a:stretch/>
        </p:blipFill>
        <p:spPr>
          <a:xfrm>
            <a:off x="6483096" y="1819656"/>
            <a:ext cx="5001768" cy="3968496"/>
          </a:xfrm>
          <a:prstGeom prst="rect">
            <a:avLst/>
          </a:prstGeom>
        </p:spPr>
      </p:pic>
      <p:sp>
        <p:nvSpPr>
          <p:cNvPr id="12" name="Text 8"/>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Andamento del delta-V totale al variare del raggio ausiliario (Fig. 2.4)</a:t>
            </a:r>
            <a:endParaRPr lang="en-US" sz="950" dirty="0"/>
          </a:p>
        </p:txBody>
      </p:sp>
      <p:sp>
        <p:nvSpPr>
          <p:cNvPr id="13" name="Text 9"/>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14" name="Text 10"/>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sessions/laughing-busy-clarke/mnt/outputs/polimi/logo_white.png">    </p:cNvPr>
          <p:cNvPicPr>
            <a:picLocks noChangeAspect="1"/>
          </p:cNvPicPr>
          <p:nvPr/>
        </p:nvPicPr>
        <p:blipFill>
          <a:blip r:embed="rId2"/>
          <a:stretch>
            <a:fillRect/>
          </a:stretch>
        </p:blipFill>
        <p:spPr>
          <a:xfrm>
            <a:off x="9902952" y="292608"/>
            <a:ext cx="1719072" cy="393192"/>
          </a:xfrm>
          <a:prstGeom prst="rect">
            <a:avLst/>
          </a:prstGeom>
        </p:spPr>
      </p:pic>
      <p:sp>
        <p:nvSpPr>
          <p:cNvPr id="3" name="Text 0"/>
          <p:cNvSpPr/>
          <p:nvPr/>
        </p:nvSpPr>
        <p:spPr>
          <a:xfrm>
            <a:off x="612648" y="1417320"/>
            <a:ext cx="4572000" cy="2377440"/>
          </a:xfrm>
          <a:prstGeom prst="rect">
            <a:avLst/>
          </a:prstGeom>
          <a:noFill/>
          <a:ln/>
        </p:spPr>
        <p:txBody>
          <a:bodyPr wrap="square" lIns="0" tIns="0" rIns="0" bIns="0" rtlCol="0" anchor="ctr"/>
          <a:lstStyle/>
          <a:p>
            <a:pPr indent="0" marL="0">
              <a:buNone/>
            </a:pPr>
            <a:r>
              <a:rPr lang="en-US" sz="16500" b="1" dirty="0">
                <a:solidFill>
                  <a:srgbClr val="1C3A66"/>
                </a:solidFill>
                <a:latin typeface="Arial" pitchFamily="34" charset="0"/>
                <a:ea typeface="Arial" pitchFamily="34" charset="-122"/>
                <a:cs typeface="Arial" pitchFamily="34" charset="-120"/>
              </a:rPr>
              <a:t>02</a:t>
            </a:r>
            <a:endParaRPr lang="en-US" sz="16500" dirty="0"/>
          </a:p>
        </p:txBody>
      </p:sp>
      <p:sp>
        <p:nvSpPr>
          <p:cNvPr id="4" name="Shape 1"/>
          <p:cNvSpPr/>
          <p:nvPr/>
        </p:nvSpPr>
        <p:spPr>
          <a:xfrm>
            <a:off x="676656" y="3310128"/>
            <a:ext cx="128016" cy="128016"/>
          </a:xfrm>
          <a:prstGeom prst="rect">
            <a:avLst/>
          </a:prstGeom>
          <a:solidFill>
            <a:srgbClr val="4DC9FF"/>
          </a:solidFill>
          <a:ln/>
        </p:spPr>
      </p:sp>
      <p:sp>
        <p:nvSpPr>
          <p:cNvPr id="5" name="Text 2"/>
          <p:cNvSpPr/>
          <p:nvPr/>
        </p:nvSpPr>
        <p:spPr>
          <a:xfrm>
            <a:off x="896112" y="3218688"/>
            <a:ext cx="8229600" cy="329184"/>
          </a:xfrm>
          <a:prstGeom prst="rect">
            <a:avLst/>
          </a:prstGeom>
          <a:noFill/>
          <a:ln/>
        </p:spPr>
        <p:txBody>
          <a:bodyPr wrap="square" lIns="0" tIns="0" rIns="0" bIns="0" rtlCol="0" anchor="ctr"/>
          <a:lstStyle/>
          <a:p>
            <a:pPr indent="0" marL="0">
              <a:buNone/>
            </a:pPr>
            <a:r>
              <a:rPr lang="en-US" sz="1300" b="1" spc="250" kern="0" dirty="0">
                <a:solidFill>
                  <a:srgbClr val="4DC9FF"/>
                </a:solidFill>
                <a:latin typeface="Arial" pitchFamily="34" charset="0"/>
                <a:ea typeface="Arial" pitchFamily="34" charset="-122"/>
                <a:cs typeface="Arial" pitchFamily="34" charset="-120"/>
              </a:rPr>
              <a:t>SCENARIO 2 · ATTRATTORE: SOLE (HCI)</a:t>
            </a:r>
            <a:endParaRPr lang="en-US" sz="1300" dirty="0"/>
          </a:p>
        </p:txBody>
      </p:sp>
      <p:sp>
        <p:nvSpPr>
          <p:cNvPr id="6" name="Text 3"/>
          <p:cNvSpPr/>
          <p:nvPr/>
        </p:nvSpPr>
        <p:spPr>
          <a:xfrm>
            <a:off x="621792" y="3566160"/>
            <a:ext cx="10607040" cy="10972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Trasferimento interplanetario diretto</a:t>
            </a:r>
            <a:endParaRPr lang="en-US" sz="3800" dirty="0"/>
          </a:p>
        </p:txBody>
      </p:sp>
      <p:sp>
        <p:nvSpPr>
          <p:cNvPr id="7" name="Text 4"/>
          <p:cNvSpPr/>
          <p:nvPr/>
        </p:nvSpPr>
        <p:spPr>
          <a:xfrm>
            <a:off x="640080" y="4709160"/>
            <a:ext cx="9875520" cy="914400"/>
          </a:xfrm>
          <a:prstGeom prst="rect">
            <a:avLst/>
          </a:prstGeom>
          <a:noFill/>
          <a:ln/>
        </p:spPr>
        <p:txBody>
          <a:bodyPr wrap="square" lIns="0" tIns="0" rIns="0" bIns="0" rtlCol="0" anchor="ctr"/>
          <a:lstStyle/>
          <a:p>
            <a:pPr indent="0" marL="0">
              <a:lnSpc>
                <a:spcPct val="112000"/>
              </a:lnSpc>
              <a:buNone/>
            </a:pPr>
            <a:r>
              <a:rPr lang="en-US" sz="1450" dirty="0">
                <a:solidFill>
                  <a:srgbClr val="C7D6EA"/>
                </a:solidFill>
                <a:latin typeface="Arial" pitchFamily="34" charset="0"/>
                <a:ea typeface="Arial" pitchFamily="34" charset="-122"/>
                <a:cs typeface="Arial" pitchFamily="34" charset="-120"/>
              </a:rPr>
              <a:t>Un trasferimento a due impulsi dall'orbita eliocentrica della Terra a quella dell'asteroide. Tre metodi indipendenti per trovare - e validare - l'orbita ottima.</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2 · LE ORBITE</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Terra, asteroide e variabili di progetto</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Shape 4"/>
          <p:cNvSpPr/>
          <p:nvPr/>
        </p:nvSpPr>
        <p:spPr>
          <a:xfrm>
            <a:off x="566928" y="1691640"/>
            <a:ext cx="5532120" cy="2011680"/>
          </a:xfrm>
          <a:prstGeom prst="roundRect">
            <a:avLst>
              <a:gd name="adj" fmla="val 3636"/>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pic>
        <p:nvPicPr>
          <p:cNvPr id="8" name="Image 1" descr="preencoded.png">    </p:cNvPr>
          <p:cNvPicPr>
            <a:picLocks noChangeAspect="1"/>
          </p:cNvPicPr>
          <p:nvPr/>
        </p:nvPicPr>
        <p:blipFill>
          <a:blip r:embed="rId2"/>
          <a:stretch>
            <a:fillRect/>
          </a:stretch>
        </p:blipFill>
        <p:spPr>
          <a:xfrm>
            <a:off x="749808" y="1874520"/>
            <a:ext cx="292608" cy="292608"/>
          </a:xfrm>
          <a:prstGeom prst="rect">
            <a:avLst/>
          </a:prstGeom>
        </p:spPr>
      </p:pic>
      <p:sp>
        <p:nvSpPr>
          <p:cNvPr id="9" name="Text 5"/>
          <p:cNvSpPr/>
          <p:nvPr/>
        </p:nvSpPr>
        <p:spPr>
          <a:xfrm>
            <a:off x="1133856" y="1837944"/>
            <a:ext cx="4800600" cy="365760"/>
          </a:xfrm>
          <a:prstGeom prst="rect">
            <a:avLst/>
          </a:prstGeom>
          <a:noFill/>
          <a:ln/>
        </p:spPr>
        <p:txBody>
          <a:bodyPr wrap="square" lIns="0" tIns="0" rIns="0" bIns="0" rtlCol="0" anchor="ctr"/>
          <a:lstStyle/>
          <a:p>
            <a:pPr indent="0" marL="0">
              <a:buNone/>
            </a:pPr>
            <a:r>
              <a:rPr lang="en-US" sz="1350" b="1" dirty="0">
                <a:solidFill>
                  <a:srgbClr val="102C53"/>
                </a:solidFill>
                <a:latin typeface="Arial" pitchFamily="34" charset="0"/>
                <a:ea typeface="Arial" pitchFamily="34" charset="-122"/>
                <a:cs typeface="Arial" pitchFamily="34" charset="-120"/>
              </a:rPr>
              <a:t>Asteroide 363505 (2003 UC20)</a:t>
            </a:r>
            <a:endParaRPr lang="en-US" sz="1350" dirty="0"/>
          </a:p>
        </p:txBody>
      </p:sp>
      <p:sp>
        <p:nvSpPr>
          <p:cNvPr id="10" name="Text 6"/>
          <p:cNvSpPr/>
          <p:nvPr/>
        </p:nvSpPr>
        <p:spPr>
          <a:xfrm>
            <a:off x="795528" y="2331720"/>
            <a:ext cx="1319479" cy="41148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Semiasse a</a:t>
            </a:r>
            <a:endParaRPr lang="en-US" sz="950" dirty="0"/>
          </a:p>
        </p:txBody>
      </p:sp>
      <p:sp>
        <p:nvSpPr>
          <p:cNvPr id="11" name="Text 7"/>
          <p:cNvSpPr/>
          <p:nvPr/>
        </p:nvSpPr>
        <p:spPr>
          <a:xfrm>
            <a:off x="2064258" y="2331720"/>
            <a:ext cx="1217981" cy="41148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1,169·10⁸ km</a:t>
            </a:r>
            <a:endParaRPr lang="en-US" sz="1050" dirty="0"/>
          </a:p>
        </p:txBody>
      </p:sp>
      <p:sp>
        <p:nvSpPr>
          <p:cNvPr id="12" name="Text 8"/>
          <p:cNvSpPr/>
          <p:nvPr/>
        </p:nvSpPr>
        <p:spPr>
          <a:xfrm>
            <a:off x="3332988" y="2331720"/>
            <a:ext cx="1319479" cy="41148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Eccentricita' e</a:t>
            </a:r>
            <a:endParaRPr lang="en-US" sz="950" dirty="0"/>
          </a:p>
        </p:txBody>
      </p:sp>
      <p:sp>
        <p:nvSpPr>
          <p:cNvPr id="13" name="Text 9"/>
          <p:cNvSpPr/>
          <p:nvPr/>
        </p:nvSpPr>
        <p:spPr>
          <a:xfrm>
            <a:off x="4601718" y="2331720"/>
            <a:ext cx="1217981" cy="41148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0,3369</a:t>
            </a:r>
            <a:endParaRPr lang="en-US" sz="1050" dirty="0"/>
          </a:p>
        </p:txBody>
      </p:sp>
      <p:sp>
        <p:nvSpPr>
          <p:cNvPr id="14" name="Text 10"/>
          <p:cNvSpPr/>
          <p:nvPr/>
        </p:nvSpPr>
        <p:spPr>
          <a:xfrm>
            <a:off x="795528" y="2743200"/>
            <a:ext cx="1319479" cy="41148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Inclinazione i</a:t>
            </a:r>
            <a:endParaRPr lang="en-US" sz="950" dirty="0"/>
          </a:p>
        </p:txBody>
      </p:sp>
      <p:sp>
        <p:nvSpPr>
          <p:cNvPr id="15" name="Text 11"/>
          <p:cNvSpPr/>
          <p:nvPr/>
        </p:nvSpPr>
        <p:spPr>
          <a:xfrm>
            <a:off x="2064258" y="2743200"/>
            <a:ext cx="1217981" cy="41148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0,066 rad</a:t>
            </a:r>
            <a:endParaRPr lang="en-US" sz="1050" dirty="0"/>
          </a:p>
        </p:txBody>
      </p:sp>
      <p:sp>
        <p:nvSpPr>
          <p:cNvPr id="16" name="Text 12"/>
          <p:cNvSpPr/>
          <p:nvPr/>
        </p:nvSpPr>
        <p:spPr>
          <a:xfrm>
            <a:off x="3332988" y="2743200"/>
            <a:ext cx="1319479" cy="41148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Diametro</a:t>
            </a:r>
            <a:endParaRPr lang="en-US" sz="950" dirty="0"/>
          </a:p>
        </p:txBody>
      </p:sp>
      <p:sp>
        <p:nvSpPr>
          <p:cNvPr id="17" name="Text 13"/>
          <p:cNvSpPr/>
          <p:nvPr/>
        </p:nvSpPr>
        <p:spPr>
          <a:xfrm>
            <a:off x="4601718" y="2743200"/>
            <a:ext cx="1217981" cy="41148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1,88 km</a:t>
            </a:r>
            <a:endParaRPr lang="en-US" sz="1050" dirty="0"/>
          </a:p>
        </p:txBody>
      </p:sp>
      <p:sp>
        <p:nvSpPr>
          <p:cNvPr id="18" name="Text 14"/>
          <p:cNvSpPr/>
          <p:nvPr/>
        </p:nvSpPr>
        <p:spPr>
          <a:xfrm>
            <a:off x="795528" y="3154680"/>
            <a:ext cx="1319479" cy="41148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Massa</a:t>
            </a:r>
            <a:endParaRPr lang="en-US" sz="950" dirty="0"/>
          </a:p>
        </p:txBody>
      </p:sp>
      <p:sp>
        <p:nvSpPr>
          <p:cNvPr id="19" name="Text 15"/>
          <p:cNvSpPr/>
          <p:nvPr/>
        </p:nvSpPr>
        <p:spPr>
          <a:xfrm>
            <a:off x="2064258" y="3154680"/>
            <a:ext cx="1217981" cy="41148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6,914·10¹² kg</a:t>
            </a:r>
            <a:endParaRPr lang="en-US" sz="1050" dirty="0"/>
          </a:p>
        </p:txBody>
      </p:sp>
      <p:sp>
        <p:nvSpPr>
          <p:cNvPr id="20" name="Text 16"/>
          <p:cNvSpPr/>
          <p:nvPr/>
        </p:nvSpPr>
        <p:spPr>
          <a:xfrm>
            <a:off x="3332988" y="3154680"/>
            <a:ext cx="1319479" cy="411480"/>
          </a:xfrm>
          <a:prstGeom prst="rect">
            <a:avLst/>
          </a:prstGeom>
          <a:noFill/>
          <a:ln/>
        </p:spPr>
        <p:txBody>
          <a:bodyPr wrap="square" lIns="0" tIns="0" rIns="0" bIns="0" rtlCol="0" anchor="ctr"/>
          <a:lstStyle/>
          <a:p>
            <a:pPr indent="0" marL="0">
              <a:buNone/>
            </a:pPr>
            <a:r>
              <a:rPr lang="en-US" sz="950" dirty="0">
                <a:solidFill>
                  <a:srgbClr val="7C8BA1"/>
                </a:solidFill>
                <a:latin typeface="Arial" pitchFamily="34" charset="0"/>
                <a:ea typeface="Arial" pitchFamily="34" charset="-122"/>
                <a:cs typeface="Arial" pitchFamily="34" charset="-120"/>
              </a:rPr>
              <a:t>Periodo</a:t>
            </a:r>
            <a:endParaRPr lang="en-US" sz="950" dirty="0"/>
          </a:p>
        </p:txBody>
      </p:sp>
      <p:sp>
        <p:nvSpPr>
          <p:cNvPr id="21" name="Text 17"/>
          <p:cNvSpPr/>
          <p:nvPr/>
        </p:nvSpPr>
        <p:spPr>
          <a:xfrm>
            <a:off x="4601718" y="3154680"/>
            <a:ext cx="1217981" cy="41148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 252 giorni</a:t>
            </a:r>
            <a:endParaRPr lang="en-US" sz="1050" dirty="0"/>
          </a:p>
        </p:txBody>
      </p:sp>
      <p:sp>
        <p:nvSpPr>
          <p:cNvPr id="22" name="Text 18"/>
          <p:cNvSpPr/>
          <p:nvPr/>
        </p:nvSpPr>
        <p:spPr>
          <a:xfrm>
            <a:off x="566928" y="3886200"/>
            <a:ext cx="5486400" cy="292608"/>
          </a:xfrm>
          <a:prstGeom prst="rect">
            <a:avLst/>
          </a:prstGeom>
          <a:noFill/>
          <a:ln/>
        </p:spPr>
        <p:txBody>
          <a:bodyPr wrap="square" lIns="0" tIns="0" rIns="0" bIns="0" rtlCol="0" anchor="ctr"/>
          <a:lstStyle/>
          <a:p>
            <a:pPr indent="0" marL="0">
              <a:buNone/>
            </a:pPr>
            <a:r>
              <a:rPr lang="en-US" sz="1250" b="1" dirty="0">
                <a:solidFill>
                  <a:srgbClr val="0E2342"/>
                </a:solidFill>
                <a:latin typeface="Arial" pitchFamily="34" charset="0"/>
                <a:ea typeface="Arial" pitchFamily="34" charset="-122"/>
                <a:cs typeface="Arial" pitchFamily="34" charset="-120"/>
              </a:rPr>
              <a:t>Tre incognite definiscono l'orbita di trasferimento:</a:t>
            </a:r>
            <a:endParaRPr lang="en-US" sz="1250" dirty="0"/>
          </a:p>
        </p:txBody>
      </p:sp>
      <p:sp>
        <p:nvSpPr>
          <p:cNvPr id="23" name="Shape 19"/>
          <p:cNvSpPr/>
          <p:nvPr/>
        </p:nvSpPr>
        <p:spPr>
          <a:xfrm>
            <a:off x="566928" y="4297680"/>
            <a:ext cx="493776" cy="493776"/>
          </a:xfrm>
          <a:prstGeom prst="ellipse">
            <a:avLst/>
          </a:prstGeom>
          <a:solidFill>
            <a:srgbClr val="102C53"/>
          </a:solidFill>
          <a:ln/>
        </p:spPr>
      </p:sp>
      <p:pic>
        <p:nvPicPr>
          <p:cNvPr id="24" name="Image 2" descr="preencoded.png">    </p:cNvPr>
          <p:cNvPicPr>
            <a:picLocks noChangeAspect="1"/>
          </p:cNvPicPr>
          <p:nvPr/>
        </p:nvPicPr>
        <p:blipFill>
          <a:blip r:embed="rId3"/>
          <a:stretch>
            <a:fillRect/>
          </a:stretch>
        </p:blipFill>
        <p:spPr>
          <a:xfrm>
            <a:off x="685800" y="4416552"/>
            <a:ext cx="256032" cy="256032"/>
          </a:xfrm>
          <a:prstGeom prst="rect">
            <a:avLst/>
          </a:prstGeom>
        </p:spPr>
      </p:pic>
      <p:sp>
        <p:nvSpPr>
          <p:cNvPr id="25" name="Text 20"/>
          <p:cNvSpPr/>
          <p:nvPr/>
        </p:nvSpPr>
        <p:spPr>
          <a:xfrm>
            <a:off x="1243584" y="4251960"/>
            <a:ext cx="475488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θ₁ — anomalia di partenza</a:t>
            </a:r>
            <a:endParaRPr lang="en-US" sz="1400" dirty="0"/>
          </a:p>
        </p:txBody>
      </p:sp>
      <p:sp>
        <p:nvSpPr>
          <p:cNvPr id="26" name="Text 21"/>
          <p:cNvSpPr/>
          <p:nvPr/>
        </p:nvSpPr>
        <p:spPr>
          <a:xfrm>
            <a:off x="1243584" y="4535424"/>
            <a:ext cx="475488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Punto sull'orbita terrestre da cui parte il satellite.</a:t>
            </a:r>
            <a:endParaRPr lang="en-US" sz="1150" dirty="0"/>
          </a:p>
        </p:txBody>
      </p:sp>
      <p:sp>
        <p:nvSpPr>
          <p:cNvPr id="27" name="Shape 22"/>
          <p:cNvSpPr/>
          <p:nvPr/>
        </p:nvSpPr>
        <p:spPr>
          <a:xfrm>
            <a:off x="566928" y="4992624"/>
            <a:ext cx="493776" cy="493776"/>
          </a:xfrm>
          <a:prstGeom prst="ellipse">
            <a:avLst/>
          </a:prstGeom>
          <a:solidFill>
            <a:srgbClr val="102C53"/>
          </a:solidFill>
          <a:ln/>
        </p:spPr>
      </p:sp>
      <p:pic>
        <p:nvPicPr>
          <p:cNvPr id="28" name="Image 3" descr="preencoded.png">    </p:cNvPr>
          <p:cNvPicPr>
            <a:picLocks noChangeAspect="1"/>
          </p:cNvPicPr>
          <p:nvPr/>
        </p:nvPicPr>
        <p:blipFill>
          <a:blip r:embed="rId4"/>
          <a:stretch>
            <a:fillRect/>
          </a:stretch>
        </p:blipFill>
        <p:spPr>
          <a:xfrm>
            <a:off x="685800" y="5111496"/>
            <a:ext cx="256032" cy="256032"/>
          </a:xfrm>
          <a:prstGeom prst="rect">
            <a:avLst/>
          </a:prstGeom>
        </p:spPr>
      </p:pic>
      <p:sp>
        <p:nvSpPr>
          <p:cNvPr id="29" name="Text 23"/>
          <p:cNvSpPr/>
          <p:nvPr/>
        </p:nvSpPr>
        <p:spPr>
          <a:xfrm>
            <a:off x="1243584" y="4946904"/>
            <a:ext cx="475488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θ₂ — anomalia di arrivo</a:t>
            </a:r>
            <a:endParaRPr lang="en-US" sz="1400" dirty="0"/>
          </a:p>
        </p:txBody>
      </p:sp>
      <p:sp>
        <p:nvSpPr>
          <p:cNvPr id="30" name="Text 24"/>
          <p:cNvSpPr/>
          <p:nvPr/>
        </p:nvSpPr>
        <p:spPr>
          <a:xfrm>
            <a:off x="1243584" y="5230368"/>
            <a:ext cx="475488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Punto in cui il satellite intercetta l'asteroide.</a:t>
            </a:r>
            <a:endParaRPr lang="en-US" sz="1150" dirty="0"/>
          </a:p>
        </p:txBody>
      </p:sp>
      <p:sp>
        <p:nvSpPr>
          <p:cNvPr id="31" name="Shape 25"/>
          <p:cNvSpPr/>
          <p:nvPr/>
        </p:nvSpPr>
        <p:spPr>
          <a:xfrm>
            <a:off x="566928" y="5687568"/>
            <a:ext cx="493776" cy="493776"/>
          </a:xfrm>
          <a:prstGeom prst="ellipse">
            <a:avLst/>
          </a:prstGeom>
          <a:solidFill>
            <a:srgbClr val="102C53"/>
          </a:solidFill>
          <a:ln/>
        </p:spPr>
      </p:sp>
      <p:pic>
        <p:nvPicPr>
          <p:cNvPr id="32" name="Image 4" descr="preencoded.png">    </p:cNvPr>
          <p:cNvPicPr>
            <a:picLocks noChangeAspect="1"/>
          </p:cNvPicPr>
          <p:nvPr/>
        </p:nvPicPr>
        <p:blipFill>
          <a:blip r:embed="rId5"/>
          <a:stretch>
            <a:fillRect/>
          </a:stretch>
        </p:blipFill>
        <p:spPr>
          <a:xfrm>
            <a:off x="685800" y="5806440"/>
            <a:ext cx="256032" cy="256032"/>
          </a:xfrm>
          <a:prstGeom prst="rect">
            <a:avLst/>
          </a:prstGeom>
        </p:spPr>
      </p:pic>
      <p:sp>
        <p:nvSpPr>
          <p:cNvPr id="33" name="Text 26"/>
          <p:cNvSpPr/>
          <p:nvPr/>
        </p:nvSpPr>
        <p:spPr>
          <a:xfrm>
            <a:off x="1243584" y="5641848"/>
            <a:ext cx="475488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ω_T — argomento del pericentro</a:t>
            </a:r>
            <a:endParaRPr lang="en-US" sz="1400" dirty="0"/>
          </a:p>
        </p:txBody>
      </p:sp>
      <p:sp>
        <p:nvSpPr>
          <p:cNvPr id="34" name="Text 27"/>
          <p:cNvSpPr/>
          <p:nvPr/>
        </p:nvSpPr>
        <p:spPr>
          <a:xfrm>
            <a:off x="1243584" y="5925312"/>
            <a:ext cx="475488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Orientamento dell'orbita di trasferimento nel piano.</a:t>
            </a:r>
            <a:endParaRPr lang="en-US" sz="1150" dirty="0"/>
          </a:p>
        </p:txBody>
      </p:sp>
      <p:sp>
        <p:nvSpPr>
          <p:cNvPr id="35" name="Shape 28"/>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36" name="Image 5" descr="/sessions/laughing-busy-clarke/mnt/outputs/figs/sc2_orbite_helio.png">    </p:cNvPr>
          <p:cNvPicPr>
            <a:picLocks noChangeAspect="1"/>
          </p:cNvPicPr>
          <p:nvPr/>
        </p:nvPicPr>
        <p:blipFill>
          <a:blip r:embed="rId6"/>
          <a:srcRect l="0" r="0" t="0" b="0"/>
          <a:stretch/>
        </p:blipFill>
        <p:spPr>
          <a:xfrm>
            <a:off x="6483096" y="1819656"/>
            <a:ext cx="5001768" cy="3968496"/>
          </a:xfrm>
          <a:prstGeom prst="rect">
            <a:avLst/>
          </a:prstGeom>
        </p:spPr>
      </p:pic>
      <p:sp>
        <p:nvSpPr>
          <p:cNvPr id="37" name="Text 29"/>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Orbite eliocentriche di Terra e asteroide (Fig. 3.1)</a:t>
            </a:r>
            <a:endParaRPr lang="en-US" sz="950" dirty="0"/>
          </a:p>
        </p:txBody>
      </p:sp>
      <p:sp>
        <p:nvSpPr>
          <p:cNvPr id="38" name="Text 30"/>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39" name="Text 31"/>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2 · METODO 1</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GridSearch: ricerca a griglia adattiva</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91640"/>
            <a:ext cx="5394960" cy="310896"/>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Esplorazione sistematica dello spazio [0, 2π]³</a:t>
            </a:r>
            <a:endParaRPr lang="en-US" sz="1300" dirty="0"/>
          </a:p>
        </p:txBody>
      </p:sp>
      <p:sp>
        <p:nvSpPr>
          <p:cNvPr id="8" name="Shape 5"/>
          <p:cNvSpPr/>
          <p:nvPr/>
        </p:nvSpPr>
        <p:spPr>
          <a:xfrm>
            <a:off x="566928" y="2148840"/>
            <a:ext cx="493776" cy="493776"/>
          </a:xfrm>
          <a:prstGeom prst="ellipse">
            <a:avLst/>
          </a:prstGeom>
          <a:solidFill>
            <a:srgbClr val="102C53"/>
          </a:solidFill>
          <a:ln/>
        </p:spPr>
      </p:sp>
      <p:pic>
        <p:nvPicPr>
          <p:cNvPr id="9" name="Image 1" descr="preencoded.png">    </p:cNvPr>
          <p:cNvPicPr>
            <a:picLocks noChangeAspect="1"/>
          </p:cNvPicPr>
          <p:nvPr/>
        </p:nvPicPr>
        <p:blipFill>
          <a:blip r:embed="rId2"/>
          <a:stretch>
            <a:fillRect/>
          </a:stretch>
        </p:blipFill>
        <p:spPr>
          <a:xfrm>
            <a:off x="685800" y="2267712"/>
            <a:ext cx="256032" cy="256032"/>
          </a:xfrm>
          <a:prstGeom prst="rect">
            <a:avLst/>
          </a:prstGeom>
        </p:spPr>
      </p:pic>
      <p:sp>
        <p:nvSpPr>
          <p:cNvPr id="10" name="Text 6"/>
          <p:cNvSpPr/>
          <p:nvPr/>
        </p:nvSpPr>
        <p:spPr>
          <a:xfrm>
            <a:off x="1243584" y="2103120"/>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Griglia che si raffina</a:t>
            </a:r>
            <a:endParaRPr lang="en-US" sz="1400" dirty="0"/>
          </a:p>
        </p:txBody>
      </p:sp>
      <p:sp>
        <p:nvSpPr>
          <p:cNvPr id="11" name="Text 7"/>
          <p:cNvSpPr/>
          <p:nvPr/>
        </p:nvSpPr>
        <p:spPr>
          <a:xfrm>
            <a:off x="1243584" y="2386584"/>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Ad ogni iterazione la griglia si ricentra sul minimo locale e dimezza l'ampiezza degli intervalli.</a:t>
            </a:r>
            <a:endParaRPr lang="en-US" sz="1150" dirty="0"/>
          </a:p>
        </p:txBody>
      </p:sp>
      <p:sp>
        <p:nvSpPr>
          <p:cNvPr id="12" name="Shape 8"/>
          <p:cNvSpPr/>
          <p:nvPr/>
        </p:nvSpPr>
        <p:spPr>
          <a:xfrm>
            <a:off x="566928" y="2990088"/>
            <a:ext cx="493776" cy="493776"/>
          </a:xfrm>
          <a:prstGeom prst="ellipse">
            <a:avLst/>
          </a:prstGeom>
          <a:solidFill>
            <a:srgbClr val="102C53"/>
          </a:solidFill>
          <a:ln/>
        </p:spPr>
      </p:sp>
      <p:pic>
        <p:nvPicPr>
          <p:cNvPr id="13" name="Image 2" descr="preencoded.png">    </p:cNvPr>
          <p:cNvPicPr>
            <a:picLocks noChangeAspect="1"/>
          </p:cNvPicPr>
          <p:nvPr/>
        </p:nvPicPr>
        <p:blipFill>
          <a:blip r:embed="rId3"/>
          <a:stretch>
            <a:fillRect/>
          </a:stretch>
        </p:blipFill>
        <p:spPr>
          <a:xfrm>
            <a:off x="685800" y="3108960"/>
            <a:ext cx="256032" cy="256032"/>
          </a:xfrm>
          <a:prstGeom prst="rect">
            <a:avLst/>
          </a:prstGeom>
        </p:spPr>
      </p:pic>
      <p:sp>
        <p:nvSpPr>
          <p:cNvPr id="14" name="Text 9"/>
          <p:cNvSpPr/>
          <p:nvPr/>
        </p:nvSpPr>
        <p:spPr>
          <a:xfrm>
            <a:off x="1243584" y="2944368"/>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Vincoli fisici</a:t>
            </a:r>
            <a:endParaRPr lang="en-US" sz="1400" dirty="0"/>
          </a:p>
        </p:txBody>
      </p:sp>
      <p:sp>
        <p:nvSpPr>
          <p:cNvPr id="15" name="Text 10"/>
          <p:cNvSpPr/>
          <p:nvPr/>
        </p:nvSpPr>
        <p:spPr>
          <a:xfrm>
            <a:off x="1243584" y="3227832"/>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Scartate le orbite iperboliche (e≥1) e quelle che violano il margine di sicurezza dal Sole (R_sun + 50·10⁶ km).</a:t>
            </a:r>
            <a:endParaRPr lang="en-US" sz="1150" dirty="0"/>
          </a:p>
        </p:txBody>
      </p:sp>
      <p:sp>
        <p:nvSpPr>
          <p:cNvPr id="16" name="Shape 11"/>
          <p:cNvSpPr/>
          <p:nvPr/>
        </p:nvSpPr>
        <p:spPr>
          <a:xfrm>
            <a:off x="566928" y="3831336"/>
            <a:ext cx="493776" cy="493776"/>
          </a:xfrm>
          <a:prstGeom prst="ellipse">
            <a:avLst/>
          </a:prstGeom>
          <a:solidFill>
            <a:srgbClr val="102C53"/>
          </a:solidFill>
          <a:ln/>
        </p:spPr>
      </p:sp>
      <p:pic>
        <p:nvPicPr>
          <p:cNvPr id="17" name="Image 3" descr="preencoded.png">    </p:cNvPr>
          <p:cNvPicPr>
            <a:picLocks noChangeAspect="1"/>
          </p:cNvPicPr>
          <p:nvPr/>
        </p:nvPicPr>
        <p:blipFill>
          <a:blip r:embed="rId4"/>
          <a:stretch>
            <a:fillRect/>
          </a:stretch>
        </p:blipFill>
        <p:spPr>
          <a:xfrm>
            <a:off x="685800" y="3950208"/>
            <a:ext cx="256032" cy="256032"/>
          </a:xfrm>
          <a:prstGeom prst="rect">
            <a:avLst/>
          </a:prstGeom>
        </p:spPr>
      </p:pic>
      <p:sp>
        <p:nvSpPr>
          <p:cNvPr id="18" name="Text 12"/>
          <p:cNvSpPr/>
          <p:nvPr/>
        </p:nvSpPr>
        <p:spPr>
          <a:xfrm>
            <a:off x="1243584" y="3785616"/>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Convergenza</a:t>
            </a:r>
            <a:endParaRPr lang="en-US" sz="1400" dirty="0"/>
          </a:p>
        </p:txBody>
      </p:sp>
      <p:sp>
        <p:nvSpPr>
          <p:cNvPr id="19" name="Text 13"/>
          <p:cNvSpPr/>
          <p:nvPr/>
        </p:nvSpPr>
        <p:spPr>
          <a:xfrm>
            <a:off x="1243584" y="4069080"/>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Stop quando la variazione di delta-V tra due iterazioni scende sotto 10⁻⁴ km/s.</a:t>
            </a:r>
            <a:endParaRPr lang="en-US" sz="1150" dirty="0"/>
          </a:p>
        </p:txBody>
      </p:sp>
      <p:sp>
        <p:nvSpPr>
          <p:cNvPr id="20" name="Shape 14"/>
          <p:cNvSpPr/>
          <p:nvPr/>
        </p:nvSpPr>
        <p:spPr>
          <a:xfrm>
            <a:off x="566928" y="4892040"/>
            <a:ext cx="539496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1" name="Text 15"/>
          <p:cNvSpPr/>
          <p:nvPr/>
        </p:nvSpPr>
        <p:spPr>
          <a:xfrm>
            <a:off x="731520" y="5001768"/>
            <a:ext cx="5065776" cy="566928"/>
          </a:xfrm>
          <a:prstGeom prst="rect">
            <a:avLst/>
          </a:prstGeom>
          <a:noFill/>
          <a:ln/>
        </p:spPr>
        <p:txBody>
          <a:bodyPr wrap="square" lIns="0" tIns="0" rIns="0" bIns="0" rtlCol="0" anchor="ctr"/>
          <a:lstStyle/>
          <a:p>
            <a:pPr algn="l" indent="0" marL="0">
              <a:buNone/>
            </a:pPr>
            <a:r>
              <a:rPr lang="en-US" sz="3000" b="1" dirty="0">
                <a:solidFill>
                  <a:srgbClr val="102C53"/>
                </a:solidFill>
                <a:latin typeface="Arial" pitchFamily="34" charset="0"/>
                <a:ea typeface="Arial" pitchFamily="34" charset="-122"/>
                <a:cs typeface="Arial" pitchFamily="34" charset="-120"/>
              </a:rPr>
              <a:t>7,1380</a:t>
            </a:r>
            <a:pPr algn="l" indent="0" marL="0">
              <a:buNone/>
            </a:pPr>
            <a:r>
              <a:rPr lang="en-US" sz="1300" b="1" dirty="0">
                <a:solidFill>
                  <a:srgbClr val="102C53"/>
                </a:solidFill>
              </a:rPr>
              <a:t> km/s</a:t>
            </a:r>
            <a:endParaRPr lang="en-US" sz="3000" dirty="0"/>
          </a:p>
        </p:txBody>
      </p:sp>
      <p:sp>
        <p:nvSpPr>
          <p:cNvPr id="22" name="Text 16"/>
          <p:cNvSpPr/>
          <p:nvPr/>
        </p:nvSpPr>
        <p:spPr>
          <a:xfrm>
            <a:off x="731520" y="5568696"/>
            <a:ext cx="506577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DELTA-V MINIMO  ·  Θᵢ=232,2°  ΘF=175,8°  Ω_T=126,0°</a:t>
            </a:r>
            <a:endParaRPr lang="en-US" sz="900" dirty="0"/>
          </a:p>
        </p:txBody>
      </p:sp>
      <p:sp>
        <p:nvSpPr>
          <p:cNvPr id="23" name="Text 17"/>
          <p:cNvSpPr/>
          <p:nvPr/>
        </p:nvSpPr>
        <p:spPr>
          <a:xfrm>
            <a:off x="566928" y="6126480"/>
            <a:ext cx="5394960" cy="274320"/>
          </a:xfrm>
          <a:prstGeom prst="rect">
            <a:avLst/>
          </a:prstGeom>
          <a:noFill/>
          <a:ln/>
        </p:spPr>
        <p:txBody>
          <a:bodyPr wrap="square" lIns="0" tIns="0" rIns="0" bIns="0" rtlCol="0" anchor="ctr"/>
          <a:lstStyle/>
          <a:p>
            <a:pPr indent="0" marL="0">
              <a:buNone/>
            </a:pPr>
            <a:r>
              <a:rPr lang="en-US" sz="1050" i="1" dirty="0">
                <a:solidFill>
                  <a:srgbClr val="7C8BA1"/>
                </a:solidFill>
                <a:latin typeface="Arial" pitchFamily="34" charset="0"/>
                <a:ea typeface="Arial" pitchFamily="34" charset="-122"/>
                <a:cs typeface="Arial" pitchFamily="34" charset="-120"/>
              </a:rPr>
              <a:t>Metodo robusto ma computazionalmente costoso: esplora l'intero dominio senza assunzioni iniziali.</a:t>
            </a:r>
            <a:endParaRPr lang="en-US" sz="1050" dirty="0"/>
          </a:p>
        </p:txBody>
      </p:sp>
      <p:sp>
        <p:nvSpPr>
          <p:cNvPr id="24" name="Shape 18"/>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25" name="Image 4" descr="/sessions/laughing-busy-clarke/mnt/outputs/figs/sc2_fascio.png">    </p:cNvPr>
          <p:cNvPicPr>
            <a:picLocks noChangeAspect="1"/>
          </p:cNvPicPr>
          <p:nvPr/>
        </p:nvPicPr>
        <p:blipFill>
          <a:blip r:embed="rId5"/>
          <a:srcRect l="0" r="0" t="0" b="0"/>
          <a:stretch/>
        </p:blipFill>
        <p:spPr>
          <a:xfrm>
            <a:off x="6483096" y="1819656"/>
            <a:ext cx="5001768" cy="3968496"/>
          </a:xfrm>
          <a:prstGeom prst="rect">
            <a:avLst/>
          </a:prstGeom>
        </p:spPr>
      </p:pic>
      <p:sp>
        <p:nvSpPr>
          <p:cNvPr id="26" name="Text 19"/>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Fascio di orbite sub-ottimali al variare di ω_T (Fig. 3.3)</a:t>
            </a:r>
            <a:endParaRPr lang="en-US" sz="950" dirty="0"/>
          </a:p>
        </p:txBody>
      </p:sp>
      <p:sp>
        <p:nvSpPr>
          <p:cNvPr id="27" name="Text 20"/>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28" name="Text 21"/>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2 · METODO 2</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Algoritmi evolutivi: GA e PSO</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45920"/>
            <a:ext cx="5486400" cy="310896"/>
          </a:xfrm>
          <a:prstGeom prst="rect">
            <a:avLst/>
          </a:prstGeom>
          <a:noFill/>
          <a:ln/>
        </p:spPr>
        <p:txBody>
          <a:bodyPr wrap="square" lIns="0" tIns="0" rIns="0" bIns="0" rtlCol="0" anchor="ctr"/>
          <a:lstStyle/>
          <a:p>
            <a:pPr indent="0" marL="0">
              <a:buNone/>
            </a:pPr>
            <a:r>
              <a:rPr lang="en-US" sz="1250" b="1" dirty="0">
                <a:solidFill>
                  <a:srgbClr val="102C53"/>
                </a:solidFill>
                <a:latin typeface="Arial" pitchFamily="34" charset="0"/>
                <a:ea typeface="Arial" pitchFamily="34" charset="-122"/>
                <a:cs typeface="Arial" pitchFamily="34" charset="-120"/>
              </a:rPr>
              <a:t>Algoritmo Genetico</a:t>
            </a:r>
            <a:pPr indent="0" marL="0">
              <a:buNone/>
            </a:pPr>
            <a:r>
              <a:rPr lang="en-US" sz="1250" dirty="0">
                <a:solidFill>
                  <a:srgbClr val="35475E"/>
                </a:solidFill>
                <a:latin typeface="Arial" pitchFamily="34" charset="0"/>
                <a:ea typeface="Arial" pitchFamily="34" charset="-122"/>
                <a:cs typeface="Arial" pitchFamily="34" charset="-120"/>
              </a:rPr>
              <a:t> — evoluzione di una popolazione di soluzioni x = [θᵢ, θf, ω_T]:</a:t>
            </a:r>
            <a:endParaRPr lang="en-US" sz="1250" dirty="0"/>
          </a:p>
        </p:txBody>
      </p:sp>
      <p:sp>
        <p:nvSpPr>
          <p:cNvPr id="8" name="Shape 5"/>
          <p:cNvSpPr/>
          <p:nvPr/>
        </p:nvSpPr>
        <p:spPr>
          <a:xfrm>
            <a:off x="566928" y="2011680"/>
            <a:ext cx="5486400" cy="420624"/>
          </a:xfrm>
          <a:prstGeom prst="roundRect">
            <a:avLst>
              <a:gd name="adj" fmla="val 21739"/>
            </a:avLst>
          </a:prstGeom>
          <a:solidFill>
            <a:srgbClr val="EEF2F7"/>
          </a:solidFill>
          <a:ln w="12700">
            <a:solidFill>
              <a:srgbClr val="DBE3EE"/>
            </a:solidFill>
            <a:prstDash val="solid"/>
          </a:ln>
        </p:spPr>
      </p:sp>
      <p:sp>
        <p:nvSpPr>
          <p:cNvPr id="9" name="Text 6"/>
          <p:cNvSpPr/>
          <p:nvPr/>
        </p:nvSpPr>
        <p:spPr>
          <a:xfrm>
            <a:off x="658368" y="2011680"/>
            <a:ext cx="5303520" cy="420624"/>
          </a:xfrm>
          <a:prstGeom prst="rect">
            <a:avLst/>
          </a:prstGeom>
          <a:noFill/>
          <a:ln/>
        </p:spPr>
        <p:txBody>
          <a:bodyPr wrap="square" lIns="0" tIns="0" rIns="0" bIns="0" rtlCol="0" anchor="ctr"/>
          <a:lstStyle/>
          <a:p>
            <a:pPr algn="ctr" indent="0" marL="0">
              <a:buNone/>
            </a:pPr>
            <a:r>
              <a:rPr lang="en-US" sz="1050" b="1" dirty="0">
                <a:solidFill>
                  <a:srgbClr val="0E2342"/>
                </a:solidFill>
                <a:latin typeface="Arial" pitchFamily="34" charset="0"/>
                <a:ea typeface="Arial" pitchFamily="34" charset="-122"/>
                <a:cs typeface="Arial" pitchFamily="34" charset="-120"/>
              </a:rPr>
              <a:t>Inizializzazione</a:t>
            </a:r>
            <a:pPr algn="ctr" indent="0" marL="0">
              <a:buNone/>
            </a:pPr>
            <a:r>
              <a:rPr lang="en-US" sz="1050" b="1" dirty="0">
                <a:solidFill>
                  <a:srgbClr val="7C8BA1"/>
                </a:solidFill>
                <a:latin typeface="Arial" pitchFamily="34" charset="0"/>
                <a:ea typeface="Arial" pitchFamily="34" charset="-122"/>
                <a:cs typeface="Arial" pitchFamily="34" charset="-120"/>
              </a:rPr>
              <a:t>   ›   </a:t>
            </a:r>
            <a:pPr algn="ctr" indent="0" marL="0">
              <a:buNone/>
            </a:pPr>
            <a:r>
              <a:rPr lang="en-US" sz="1050" b="1" dirty="0">
                <a:solidFill>
                  <a:srgbClr val="1C82C0"/>
                </a:solidFill>
                <a:latin typeface="Arial" pitchFamily="34" charset="0"/>
                <a:ea typeface="Arial" pitchFamily="34" charset="-122"/>
                <a:cs typeface="Arial" pitchFamily="34" charset="-120"/>
              </a:rPr>
              <a:t>Fitness = ΔV</a:t>
            </a:r>
            <a:pPr algn="ctr" indent="0" marL="0">
              <a:buNone/>
            </a:pPr>
            <a:r>
              <a:rPr lang="en-US" sz="1050" b="1" dirty="0">
                <a:solidFill>
                  <a:srgbClr val="7C8BA1"/>
                </a:solidFill>
                <a:latin typeface="Arial" pitchFamily="34" charset="0"/>
                <a:ea typeface="Arial" pitchFamily="34" charset="-122"/>
                <a:cs typeface="Arial" pitchFamily="34" charset="-120"/>
              </a:rPr>
              <a:t>   ›   </a:t>
            </a:r>
            <a:pPr algn="ctr" indent="0" marL="0">
              <a:buNone/>
            </a:pPr>
            <a:r>
              <a:rPr lang="en-US" sz="1050" b="1" dirty="0">
                <a:solidFill>
                  <a:srgbClr val="0E2342"/>
                </a:solidFill>
                <a:latin typeface="Arial" pitchFamily="34" charset="0"/>
                <a:ea typeface="Arial" pitchFamily="34" charset="-122"/>
                <a:cs typeface="Arial" pitchFamily="34" charset="-120"/>
              </a:rPr>
              <a:t>Selezione</a:t>
            </a:r>
            <a:pPr algn="ctr" indent="0" marL="0">
              <a:buNone/>
            </a:pPr>
            <a:r>
              <a:rPr lang="en-US" sz="1050" b="1" dirty="0">
                <a:solidFill>
                  <a:srgbClr val="7C8BA1"/>
                </a:solidFill>
                <a:latin typeface="Arial" pitchFamily="34" charset="0"/>
                <a:ea typeface="Arial" pitchFamily="34" charset="-122"/>
                <a:cs typeface="Arial" pitchFamily="34" charset="-120"/>
              </a:rPr>
              <a:t>   ›   </a:t>
            </a:r>
            <a:pPr algn="ctr" indent="0" marL="0">
              <a:buNone/>
            </a:pPr>
            <a:r>
              <a:rPr lang="en-US" sz="1050" b="1" dirty="0">
                <a:solidFill>
                  <a:srgbClr val="0E2342"/>
                </a:solidFill>
                <a:latin typeface="Arial" pitchFamily="34" charset="0"/>
                <a:ea typeface="Arial" pitchFamily="34" charset="-122"/>
                <a:cs typeface="Arial" pitchFamily="34" charset="-120"/>
              </a:rPr>
              <a:t>Crossover</a:t>
            </a:r>
            <a:pPr algn="ctr" indent="0" marL="0">
              <a:buNone/>
            </a:pPr>
            <a:r>
              <a:rPr lang="en-US" sz="1050" b="1" dirty="0">
                <a:solidFill>
                  <a:srgbClr val="7C8BA1"/>
                </a:solidFill>
                <a:latin typeface="Arial" pitchFamily="34" charset="0"/>
                <a:ea typeface="Arial" pitchFamily="34" charset="-122"/>
                <a:cs typeface="Arial" pitchFamily="34" charset="-120"/>
              </a:rPr>
              <a:t>   ›   </a:t>
            </a:r>
            <a:pPr algn="ctr" indent="0" marL="0">
              <a:buNone/>
            </a:pPr>
            <a:r>
              <a:rPr lang="en-US" sz="1050" b="1" dirty="0">
                <a:solidFill>
                  <a:srgbClr val="0E2342"/>
                </a:solidFill>
                <a:latin typeface="Arial" pitchFamily="34" charset="0"/>
                <a:ea typeface="Arial" pitchFamily="34" charset="-122"/>
                <a:cs typeface="Arial" pitchFamily="34" charset="-120"/>
              </a:rPr>
              <a:t>Mutazione</a:t>
            </a:r>
            <a:endParaRPr lang="en-US" sz="1050" dirty="0"/>
          </a:p>
        </p:txBody>
      </p:sp>
      <p:sp>
        <p:nvSpPr>
          <p:cNvPr id="10" name="Text 7"/>
          <p:cNvSpPr/>
          <p:nvPr/>
        </p:nvSpPr>
        <p:spPr>
          <a:xfrm>
            <a:off x="566928" y="2697480"/>
            <a:ext cx="5486400" cy="1417320"/>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200" dirty="0">
                <a:solidFill>
                  <a:srgbClr val="35475E"/>
                </a:solidFill>
                <a:latin typeface="Arial" pitchFamily="34" charset="0"/>
                <a:ea typeface="Arial" pitchFamily="34" charset="-122"/>
                <a:cs typeface="Arial" pitchFamily="34" charset="-120"/>
              </a:rPr>
              <a:t>Stocastico e derivative-free: ideale per domini non convessi con molti minimi locali.</a:t>
            </a:r>
            <a:endParaRPr lang="en-US" sz="1200" dirty="0"/>
          </a:p>
          <a:p>
            <a:pPr marL="177800" indent="-177800">
              <a:lnSpc>
                <a:spcPct val="102000"/>
              </a:lnSpc>
              <a:spcAft>
                <a:spcPts val="700"/>
              </a:spcAft>
              <a:buSzPct val="100000"/>
              <a:buChar char="•"/>
            </a:pPr>
            <a:r>
              <a:rPr lang="en-US" sz="1200" dirty="0">
                <a:solidFill>
                  <a:srgbClr val="35475E"/>
                </a:solidFill>
                <a:latin typeface="Arial" pitchFamily="34" charset="0"/>
                <a:ea typeface="Arial" pitchFamily="34" charset="-122"/>
                <a:cs typeface="Arial" pitchFamily="34" charset="-120"/>
              </a:rPr>
              <a:t>Tuning automatico degli iperparametri (Pop. Size, Max Gen. ≈ 80-130) via criterio sulla deviazione standard.</a:t>
            </a:r>
            <a:endParaRPr lang="en-US" sz="1200" dirty="0"/>
          </a:p>
          <a:p>
            <a:pPr marL="177800" indent="-177800">
              <a:lnSpc>
                <a:spcPct val="102000"/>
              </a:lnSpc>
              <a:spcAft>
                <a:spcPts val="700"/>
              </a:spcAft>
              <a:buSzPct val="100000"/>
              <a:buChar char="•"/>
            </a:pPr>
            <a:r>
              <a:rPr lang="en-US" sz="1200" dirty="0">
                <a:solidFill>
                  <a:srgbClr val="35475E"/>
                </a:solidFill>
                <a:latin typeface="Arial" pitchFamily="34" charset="0"/>
                <a:ea typeface="Arial" pitchFamily="34" charset="-122"/>
                <a:cs typeface="Arial" pitchFamily="34" charset="-120"/>
              </a:rPr>
              <a:t>Raffinamento finale con fmincon (SQP): la curva e' quasi una retta orizzontale, segno dell'accuratezza del GA.</a:t>
            </a:r>
            <a:endParaRPr lang="en-US" sz="1200" dirty="0"/>
          </a:p>
        </p:txBody>
      </p:sp>
      <p:sp>
        <p:nvSpPr>
          <p:cNvPr id="11" name="Shape 8"/>
          <p:cNvSpPr/>
          <p:nvPr/>
        </p:nvSpPr>
        <p:spPr>
          <a:xfrm>
            <a:off x="566928" y="4526280"/>
            <a:ext cx="5486400" cy="1371600"/>
          </a:xfrm>
          <a:prstGeom prst="roundRect">
            <a:avLst>
              <a:gd name="adj" fmla="val 5333"/>
            </a:avLst>
          </a:prstGeom>
          <a:solidFill>
            <a:srgbClr val="EAF7FF"/>
          </a:solidFill>
          <a:ln w="12700">
            <a:solidFill>
              <a:srgbClr val="BFE6FB"/>
            </a:solidFill>
            <a:prstDash val="solid"/>
          </a:ln>
          <a:effectLst>
            <a:outerShdw sx="100000" sy="100000" kx="0" ky="0" algn="bl" rotWithShape="0" blurRad="88900" dist="25400" dir="5400000">
              <a:srgbClr val="35475E">
                <a:alpha val="14000"/>
              </a:srgbClr>
            </a:outerShdw>
          </a:effectLst>
        </p:spPr>
      </p:sp>
      <p:pic>
        <p:nvPicPr>
          <p:cNvPr id="12" name="Image 1" descr="preencoded.png">    </p:cNvPr>
          <p:cNvPicPr>
            <a:picLocks noChangeAspect="1"/>
          </p:cNvPicPr>
          <p:nvPr/>
        </p:nvPicPr>
        <p:blipFill>
          <a:blip r:embed="rId2"/>
          <a:stretch>
            <a:fillRect/>
          </a:stretch>
        </p:blipFill>
        <p:spPr>
          <a:xfrm>
            <a:off x="768096" y="4718304"/>
            <a:ext cx="292608" cy="292608"/>
          </a:xfrm>
          <a:prstGeom prst="rect">
            <a:avLst/>
          </a:prstGeom>
        </p:spPr>
      </p:pic>
      <p:sp>
        <p:nvSpPr>
          <p:cNvPr id="13" name="Text 9"/>
          <p:cNvSpPr/>
          <p:nvPr/>
        </p:nvSpPr>
        <p:spPr>
          <a:xfrm>
            <a:off x="1170432" y="4663440"/>
            <a:ext cx="4754880" cy="329184"/>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PSO — Particle Swarm Optimization</a:t>
            </a:r>
            <a:endParaRPr lang="en-US" sz="1300" dirty="0"/>
          </a:p>
        </p:txBody>
      </p:sp>
      <p:sp>
        <p:nvSpPr>
          <p:cNvPr id="14" name="Text 10"/>
          <p:cNvSpPr/>
          <p:nvPr/>
        </p:nvSpPr>
        <p:spPr>
          <a:xfrm>
            <a:off x="1170432" y="5010912"/>
            <a:ext cx="4709160" cy="822960"/>
          </a:xfrm>
          <a:prstGeom prst="rect">
            <a:avLst/>
          </a:prstGeom>
          <a:noFill/>
          <a:ln/>
        </p:spPr>
        <p:txBody>
          <a:bodyPr wrap="square" lIns="0" tIns="0" rIns="0" bIns="0" rtlCol="0" anchor="ctr"/>
          <a:lstStyle/>
          <a:p>
            <a:pPr indent="0" marL="0">
              <a:lnSpc>
                <a:spcPct val="100000"/>
              </a:lnSpc>
              <a:buNone/>
            </a:pPr>
            <a:r>
              <a:rPr lang="en-US" sz="1100" dirty="0">
                <a:solidFill>
                  <a:srgbClr val="35475E"/>
                </a:solidFill>
                <a:latin typeface="Arial" pitchFamily="34" charset="0"/>
                <a:ea typeface="Arial" pitchFamily="34" charset="-122"/>
                <a:cs typeface="Arial" pitchFamily="34" charset="-120"/>
              </a:rPr>
              <a:t>Sciami di particelle (Kennedy &amp; Eberhart, 1995). 200 run + fmincon: stessa soluzione del GA, con deviazione standard ancora minore (0,0345 km/s).</a:t>
            </a:r>
            <a:endParaRPr lang="en-US" sz="1100" dirty="0"/>
          </a:p>
        </p:txBody>
      </p:sp>
      <p:sp>
        <p:nvSpPr>
          <p:cNvPr id="15" name="Shape 11"/>
          <p:cNvSpPr/>
          <p:nvPr/>
        </p:nvSpPr>
        <p:spPr>
          <a:xfrm>
            <a:off x="6355080" y="1691640"/>
            <a:ext cx="5257800" cy="3063240"/>
          </a:xfrm>
          <a:prstGeom prst="roundRect">
            <a:avLst>
              <a:gd name="adj" fmla="val 1791"/>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16" name="Image 2" descr="/sessions/laughing-busy-clarke/mnt/outputs/figs/sc2_ga_conv.png">    </p:cNvPr>
          <p:cNvPicPr>
            <a:picLocks noChangeAspect="1"/>
          </p:cNvPicPr>
          <p:nvPr/>
        </p:nvPicPr>
        <p:blipFill>
          <a:blip r:embed="rId3"/>
          <a:srcRect l="0" r="0" t="0" b="0"/>
          <a:stretch/>
        </p:blipFill>
        <p:spPr>
          <a:xfrm>
            <a:off x="6483096" y="1819656"/>
            <a:ext cx="5001768" cy="2551176"/>
          </a:xfrm>
          <a:prstGeom prst="rect">
            <a:avLst/>
          </a:prstGeom>
        </p:spPr>
      </p:pic>
      <p:sp>
        <p:nvSpPr>
          <p:cNvPr id="17" name="Text 12"/>
          <p:cNvSpPr/>
          <p:nvPr/>
        </p:nvSpPr>
        <p:spPr>
          <a:xfrm>
            <a:off x="6483096" y="444398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Convergenza dell'Algoritmo Genetico (Fig. 3.5)</a:t>
            </a:r>
            <a:endParaRPr lang="en-US" sz="950" dirty="0"/>
          </a:p>
        </p:txBody>
      </p:sp>
      <p:sp>
        <p:nvSpPr>
          <p:cNvPr id="18" name="Shape 13"/>
          <p:cNvSpPr/>
          <p:nvPr/>
        </p:nvSpPr>
        <p:spPr>
          <a:xfrm>
            <a:off x="6355080" y="4937760"/>
            <a:ext cx="5257800" cy="1005840"/>
          </a:xfrm>
          <a:prstGeom prst="roundRect">
            <a:avLst>
              <a:gd name="adj" fmla="val 7273"/>
            </a:avLst>
          </a:prstGeom>
          <a:solidFill>
            <a:srgbClr val="102C53"/>
          </a:solidFill>
          <a:ln/>
          <a:effectLst>
            <a:outerShdw sx="100000" sy="100000" kx="0" ky="0" algn="bl" rotWithShape="0" blurRad="114300" dist="38100" dir="5400000">
              <a:srgbClr val="6E7F95">
                <a:alpha val="20000"/>
              </a:srgbClr>
            </a:outerShdw>
          </a:effectLst>
        </p:spPr>
      </p:sp>
      <p:sp>
        <p:nvSpPr>
          <p:cNvPr id="19" name="Text 14"/>
          <p:cNvSpPr/>
          <p:nvPr/>
        </p:nvSpPr>
        <p:spPr>
          <a:xfrm>
            <a:off x="6583680" y="5074920"/>
            <a:ext cx="2468880" cy="73152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7,1380 km/s</a:t>
            </a:r>
            <a:endParaRPr lang="en-US" sz="2400" dirty="0"/>
          </a:p>
        </p:txBody>
      </p:sp>
      <p:sp>
        <p:nvSpPr>
          <p:cNvPr id="20" name="Text 15"/>
          <p:cNvSpPr/>
          <p:nvPr/>
        </p:nvSpPr>
        <p:spPr>
          <a:xfrm>
            <a:off x="8915400" y="5074920"/>
            <a:ext cx="2560320" cy="777240"/>
          </a:xfrm>
          <a:prstGeom prst="rect">
            <a:avLst/>
          </a:prstGeom>
          <a:noFill/>
          <a:ln/>
        </p:spPr>
        <p:txBody>
          <a:bodyPr wrap="square" lIns="0" tIns="0" rIns="0" bIns="0" rtlCol="0" anchor="ctr"/>
          <a:lstStyle/>
          <a:p>
            <a:pPr indent="0" marL="0">
              <a:lnSpc>
                <a:spcPct val="100000"/>
              </a:lnSpc>
              <a:buNone/>
            </a:pPr>
            <a:r>
              <a:rPr lang="en-US" sz="1100" dirty="0">
                <a:solidFill>
                  <a:srgbClr val="C9DBF0"/>
                </a:solidFill>
                <a:latin typeface="Arial" pitchFamily="34" charset="0"/>
                <a:ea typeface="Arial" pitchFamily="34" charset="-122"/>
                <a:cs typeface="Arial" pitchFamily="34" charset="-120"/>
              </a:rPr>
              <a:t>GridSearch, GA e PSO convergono allo STESSO risultato: ottimo globale validato.</a:t>
            </a:r>
            <a:endParaRPr lang="en-US" sz="1100" dirty="0"/>
          </a:p>
        </p:txBody>
      </p:sp>
      <p:sp>
        <p:nvSpPr>
          <p:cNvPr id="21" name="Text 16"/>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22" name="Text 17"/>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2 · METODO 2</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Validazione statistica dell'ottimo</a:t>
            </a:r>
            <a:endParaRPr lang="en-US" sz="2600" dirty="0"/>
          </a:p>
        </p:txBody>
      </p:sp>
      <p:sp>
        <p:nvSpPr>
          <p:cNvPr id="6" name="Shape 3"/>
          <p:cNvSpPr/>
          <p:nvPr/>
        </p:nvSpPr>
        <p:spPr>
          <a:xfrm>
            <a:off x="9793224" y="841248"/>
            <a:ext cx="1828800" cy="365760"/>
          </a:xfrm>
          <a:prstGeom prst="roundRect">
            <a:avLst>
              <a:gd name="adj" fmla="val 50000"/>
            </a:avLst>
          </a:prstGeom>
          <a:solidFill>
            <a:srgbClr val="E7F6FF"/>
          </a:solidFill>
          <a:ln w="12700">
            <a:solidFill>
              <a:srgbClr val="4DC9FF"/>
            </a:solidFill>
            <a:prstDash val="solid"/>
          </a:ln>
        </p:spPr>
      </p:sp>
      <p:sp>
        <p:nvSpPr>
          <p:cNvPr id="7" name="Text 4"/>
          <p:cNvSpPr/>
          <p:nvPr/>
        </p:nvSpPr>
        <p:spPr>
          <a:xfrm>
            <a:off x="9793224" y="841248"/>
            <a:ext cx="1828800" cy="365760"/>
          </a:xfrm>
          <a:prstGeom prst="rect">
            <a:avLst/>
          </a:prstGeom>
          <a:noFill/>
          <a:ln/>
        </p:spPr>
        <p:txBody>
          <a:bodyPr wrap="square" lIns="0" tIns="0" rIns="0" bIns="0" rtlCol="0" anchor="ctr"/>
          <a:lstStyle/>
          <a:p>
            <a:pPr algn="ctr" indent="0" marL="0">
              <a:buNone/>
            </a:pPr>
            <a:r>
              <a:rPr lang="en-US" sz="1000" b="1" spc="150" kern="0" dirty="0">
                <a:solidFill>
                  <a:srgbClr val="1C82C0"/>
                </a:solidFill>
                <a:latin typeface="Arial" pitchFamily="34" charset="0"/>
                <a:ea typeface="Arial" pitchFamily="34" charset="-122"/>
                <a:cs typeface="Arial" pitchFamily="34" charset="-120"/>
              </a:rPr>
              <a:t>APPROFONDIMENTO</a:t>
            </a:r>
            <a:endParaRPr lang="en-US" sz="1000" dirty="0"/>
          </a:p>
        </p:txBody>
      </p:sp>
      <p:sp>
        <p:nvSpPr>
          <p:cNvPr id="8" name="Shape 5"/>
          <p:cNvSpPr/>
          <p:nvPr/>
        </p:nvSpPr>
        <p:spPr>
          <a:xfrm>
            <a:off x="566928" y="1463040"/>
            <a:ext cx="11055096" cy="0"/>
          </a:xfrm>
          <a:prstGeom prst="line">
            <a:avLst/>
          </a:prstGeom>
          <a:noFill/>
          <a:ln w="12700">
            <a:solidFill>
              <a:srgbClr val="DBE3EE"/>
            </a:solidFill>
            <a:prstDash val="solid"/>
          </a:ln>
        </p:spPr>
      </p:sp>
      <p:sp>
        <p:nvSpPr>
          <p:cNvPr id="9" name="Text 6"/>
          <p:cNvSpPr/>
          <p:nvPr/>
        </p:nvSpPr>
        <p:spPr>
          <a:xfrm>
            <a:off x="566928" y="1664208"/>
            <a:ext cx="5486400" cy="2286000"/>
          </a:xfrm>
          <a:prstGeom prst="rect">
            <a:avLst/>
          </a:prstGeom>
          <a:noFill/>
          <a:ln/>
        </p:spPr>
        <p:txBody>
          <a:bodyPr wrap="square" lIns="0" tIns="0" rIns="0" bIns="0" rtlCol="0" anchor="t"/>
          <a:lstStyle/>
          <a:p>
            <a:pPr algn="l" indent="0" marL="0">
              <a:lnSpc>
                <a:spcPct val="112000"/>
              </a:lnSpc>
              <a:buNone/>
            </a:pPr>
            <a:r>
              <a:rPr lang="en-US" sz="1200" dirty="0">
                <a:solidFill>
                  <a:srgbClr val="35475E"/>
                </a:solidFill>
                <a:latin typeface="Arial" pitchFamily="34" charset="0"/>
                <a:ea typeface="Arial" pitchFamily="34" charset="-122"/>
                <a:cs typeface="Arial" pitchFamily="34" charset="-120"/>
              </a:rPr>
              <a:t>Essendo meta-euristici, GA e PSO dipendono fortemente dagli iperparametri. </a:t>
            </a:r>
            <a:pPr algn="l" indent="0" marL="0">
              <a:lnSpc>
                <a:spcPct val="112000"/>
              </a:lnSpc>
              <a:buNone/>
            </a:pPr>
            <a:r>
              <a:rPr lang="en-US" sz="1200" dirty="0">
                <a:solidFill>
                  <a:srgbClr val="35475E"/>
                </a:solidFill>
                <a:latin typeface="Arial" pitchFamily="34" charset="0"/>
                <a:ea typeface="Arial" pitchFamily="34" charset="-122"/>
                <a:cs typeface="Arial" pitchFamily="34" charset="-120"/>
              </a:rPr>
              <a:t>Per rendere il risultato indipendente dalla pre-impostazione, </a:t>
            </a:r>
            <a:pPr algn="l" indent="0" marL="0">
              <a:lnSpc>
                <a:spcPct val="112000"/>
              </a:lnSpc>
              <a:buNone/>
            </a:pPr>
            <a:r>
              <a:rPr lang="en-US" sz="1200" b="1" dirty="0">
                <a:solidFill>
                  <a:srgbClr val="102C53"/>
                </a:solidFill>
                <a:latin typeface="Arial" pitchFamily="34" charset="0"/>
                <a:ea typeface="Arial" pitchFamily="34" charset="-122"/>
                <a:cs typeface="Arial" pitchFamily="34" charset="-120"/>
              </a:rPr>
              <a:t>un ciclo adattivo cerca gli iperparametri</a:t>
            </a:r>
            <a:pPr algn="l" indent="0" marL="0">
              <a:lnSpc>
                <a:spcPct val="112000"/>
              </a:lnSpc>
              <a:buNone/>
            </a:pPr>
            <a:r>
              <a:rPr lang="en-US" sz="1200" dirty="0">
                <a:solidFill>
                  <a:srgbClr val="35475E"/>
                </a:solidFill>
                <a:latin typeface="Arial" pitchFamily="34" charset="0"/>
                <a:ea typeface="Arial" pitchFamily="34" charset="-122"/>
                <a:cs typeface="Arial" pitchFamily="34" charset="-120"/>
              </a:rPr>
              <a:t> che garantiscono una deviazione standard sotto tolleranza (valori tipici 80-130 per il GA, 70-100 per la PSO). La PSO viene poi eseguita 200 volte, salvando la run migliore. Su ogni vettore di risultati si calcolano media, mediana e deviazione standard per stimare se il minimo trovato sia davvero globale.</a:t>
            </a:r>
            <a:endParaRPr lang="en-US" sz="1200" dirty="0"/>
          </a:p>
        </p:txBody>
      </p:sp>
      <p:sp>
        <p:nvSpPr>
          <p:cNvPr id="10" name="Text 7"/>
          <p:cNvSpPr/>
          <p:nvPr/>
        </p:nvSpPr>
        <p:spPr>
          <a:xfrm>
            <a:off x="566928" y="4114800"/>
            <a:ext cx="5486400" cy="274320"/>
          </a:xfrm>
          <a:prstGeom prst="rect">
            <a:avLst/>
          </a:prstGeom>
          <a:noFill/>
          <a:ln/>
        </p:spPr>
        <p:txBody>
          <a:bodyPr wrap="square" lIns="0" tIns="0" rIns="0" bIns="0" rtlCol="0" anchor="ctr"/>
          <a:lstStyle/>
          <a:p>
            <a:pPr indent="0" marL="0">
              <a:buNone/>
            </a:pPr>
            <a:r>
              <a:rPr lang="en-US" sz="1050" b="1" dirty="0">
                <a:solidFill>
                  <a:srgbClr val="0E2342"/>
                </a:solidFill>
                <a:latin typeface="Arial" pitchFamily="34" charset="0"/>
                <a:ea typeface="Arial" pitchFamily="34" charset="-122"/>
                <a:cs typeface="Arial" pitchFamily="34" charset="-120"/>
              </a:rPr>
              <a:t>Analisi statistica dei risultati (ΔV in km/s)</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4407408"/>
          <a:ext cx="5532120" cy="914400"/>
        </p:xfrm>
        <a:graphic>
          <a:graphicData uri="http://schemas.openxmlformats.org/drawingml/2006/table">
            <a:tbl>
              <a:tblPr/>
              <a:tblGrid>
                <a:gridCol w="2743200"/>
                <a:gridCol w="914400"/>
                <a:gridCol w="914400"/>
                <a:gridCol w="960120"/>
              </a:tblGrid>
              <a:tr h="45720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Metodo (Pop=Gen=110 / Swarm=Iter=100)</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ΔV min</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Media</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Dev. std</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r>
              <a:tr h="384048">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GA + fmincon</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7,1380</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7,1476</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0,0675</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PSO + fmincon</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7,1380</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7,1404</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0,0345</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r h="384048">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GridSearch</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7,1380</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5475E"/>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bl>
          </a:graphicData>
        </a:graphic>
      </p:graphicFrame>
      <p:sp>
        <p:nvSpPr>
          <p:cNvPr id="12" name="Text 8"/>
          <p:cNvSpPr/>
          <p:nvPr/>
        </p:nvSpPr>
        <p:spPr>
          <a:xfrm>
            <a:off x="566928" y="6172200"/>
            <a:ext cx="5486400" cy="274320"/>
          </a:xfrm>
          <a:prstGeom prst="rect">
            <a:avLst/>
          </a:prstGeom>
          <a:noFill/>
          <a:ln/>
        </p:spPr>
        <p:txBody>
          <a:bodyPr wrap="square" lIns="0" tIns="0" rIns="0" bIns="0" rtlCol="0" anchor="ctr"/>
          <a:lstStyle/>
          <a:p>
            <a:pPr indent="0" marL="0">
              <a:buNone/>
            </a:pPr>
            <a:r>
              <a:rPr lang="en-US" sz="1050" i="1" dirty="0">
                <a:solidFill>
                  <a:srgbClr val="7C8BA1"/>
                </a:solidFill>
                <a:latin typeface="Arial" pitchFamily="34" charset="0"/>
                <a:ea typeface="Arial" pitchFamily="34" charset="-122"/>
                <a:cs typeface="Arial" pitchFamily="34" charset="-120"/>
              </a:rPr>
              <a:t>La PSO mostra la dispersione minore: massima fiducia sull'ottimo globale.</a:t>
            </a:r>
            <a:endParaRPr lang="en-US" sz="1050" dirty="0"/>
          </a:p>
        </p:txBody>
      </p:sp>
      <p:sp>
        <p:nvSpPr>
          <p:cNvPr id="13" name="Shape 9"/>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14" name="Image 1" descr="/sessions/laughing-busy-clarke/mnt/outputs/figs/sc2_devstd.png">    </p:cNvPr>
          <p:cNvPicPr>
            <a:picLocks noChangeAspect="1"/>
          </p:cNvPicPr>
          <p:nvPr/>
        </p:nvPicPr>
        <p:blipFill>
          <a:blip r:embed="rId2"/>
          <a:srcRect l="0" r="0" t="0" b="0"/>
          <a:stretch/>
        </p:blipFill>
        <p:spPr>
          <a:xfrm>
            <a:off x="6483096" y="1819656"/>
            <a:ext cx="5001768" cy="3968496"/>
          </a:xfrm>
          <a:prstGeom prst="rect">
            <a:avLst/>
          </a:prstGeom>
        </p:spPr>
      </p:pic>
      <p:sp>
        <p:nvSpPr>
          <p:cNvPr id="15" name="Text 10"/>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Deviazione standard al variare degli iperparametri (Fig. 3.4)</a:t>
            </a:r>
            <a:endParaRPr lang="en-US" sz="950" dirty="0"/>
          </a:p>
        </p:txBody>
      </p:sp>
      <p:sp>
        <p:nvSpPr>
          <p:cNvPr id="16" name="Text 11"/>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17" name="Text 12"/>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sessions/laughing-busy-clarke/mnt/outputs/polimi/logo_white.png">    </p:cNvPr>
          <p:cNvPicPr>
            <a:picLocks noChangeAspect="1"/>
          </p:cNvPicPr>
          <p:nvPr/>
        </p:nvPicPr>
        <p:blipFill>
          <a:blip r:embed="rId2"/>
          <a:stretch>
            <a:fillRect/>
          </a:stretch>
        </p:blipFill>
        <p:spPr>
          <a:xfrm>
            <a:off x="9902952" y="292608"/>
            <a:ext cx="1719072" cy="393192"/>
          </a:xfrm>
          <a:prstGeom prst="rect">
            <a:avLst/>
          </a:prstGeom>
        </p:spPr>
      </p:pic>
      <p:sp>
        <p:nvSpPr>
          <p:cNvPr id="3" name="Text 0"/>
          <p:cNvSpPr/>
          <p:nvPr/>
        </p:nvSpPr>
        <p:spPr>
          <a:xfrm>
            <a:off x="612648" y="1417320"/>
            <a:ext cx="4572000" cy="2377440"/>
          </a:xfrm>
          <a:prstGeom prst="rect">
            <a:avLst/>
          </a:prstGeom>
          <a:noFill/>
          <a:ln/>
        </p:spPr>
        <p:txBody>
          <a:bodyPr wrap="square" lIns="0" tIns="0" rIns="0" bIns="0" rtlCol="0" anchor="ctr"/>
          <a:lstStyle/>
          <a:p>
            <a:pPr indent="0" marL="0">
              <a:buNone/>
            </a:pPr>
            <a:r>
              <a:rPr lang="en-US" sz="16500" b="1" dirty="0">
                <a:solidFill>
                  <a:srgbClr val="1C3A66"/>
                </a:solidFill>
                <a:latin typeface="Arial" pitchFamily="34" charset="0"/>
                <a:ea typeface="Arial" pitchFamily="34" charset="-122"/>
                <a:cs typeface="Arial" pitchFamily="34" charset="-120"/>
              </a:rPr>
              <a:t>03</a:t>
            </a:r>
            <a:endParaRPr lang="en-US" sz="16500" dirty="0"/>
          </a:p>
        </p:txBody>
      </p:sp>
      <p:sp>
        <p:nvSpPr>
          <p:cNvPr id="4" name="Shape 1"/>
          <p:cNvSpPr/>
          <p:nvPr/>
        </p:nvSpPr>
        <p:spPr>
          <a:xfrm>
            <a:off x="676656" y="3310128"/>
            <a:ext cx="128016" cy="128016"/>
          </a:xfrm>
          <a:prstGeom prst="rect">
            <a:avLst/>
          </a:prstGeom>
          <a:solidFill>
            <a:srgbClr val="4DC9FF"/>
          </a:solidFill>
          <a:ln/>
        </p:spPr>
      </p:sp>
      <p:sp>
        <p:nvSpPr>
          <p:cNvPr id="5" name="Text 2"/>
          <p:cNvSpPr/>
          <p:nvPr/>
        </p:nvSpPr>
        <p:spPr>
          <a:xfrm>
            <a:off x="896112" y="3218688"/>
            <a:ext cx="8229600" cy="329184"/>
          </a:xfrm>
          <a:prstGeom prst="rect">
            <a:avLst/>
          </a:prstGeom>
          <a:noFill/>
          <a:ln/>
        </p:spPr>
        <p:txBody>
          <a:bodyPr wrap="square" lIns="0" tIns="0" rIns="0" bIns="0" rtlCol="0" anchor="ctr"/>
          <a:lstStyle/>
          <a:p>
            <a:pPr indent="0" marL="0">
              <a:buNone/>
            </a:pPr>
            <a:r>
              <a:rPr lang="en-US" sz="1300" b="1" spc="250" kern="0" dirty="0">
                <a:solidFill>
                  <a:srgbClr val="4DC9FF"/>
                </a:solidFill>
                <a:latin typeface="Arial" pitchFamily="34" charset="0"/>
                <a:ea typeface="Arial" pitchFamily="34" charset="-122"/>
                <a:cs typeface="Arial" pitchFamily="34" charset="-120"/>
              </a:rPr>
              <a:t>SCENARIO 3 · IPERBOLI DI RACCORDO</a:t>
            </a:r>
            <a:endParaRPr lang="en-US" sz="1300" dirty="0"/>
          </a:p>
        </p:txBody>
      </p:sp>
      <p:sp>
        <p:nvSpPr>
          <p:cNvPr id="6" name="Text 3"/>
          <p:cNvSpPr/>
          <p:nvPr/>
        </p:nvSpPr>
        <p:spPr>
          <a:xfrm>
            <a:off x="621792" y="3566160"/>
            <a:ext cx="10607040" cy="10972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Fasi di fuga e di arrivo</a:t>
            </a:r>
            <a:endParaRPr lang="en-US" sz="3800" dirty="0"/>
          </a:p>
        </p:txBody>
      </p:sp>
      <p:sp>
        <p:nvSpPr>
          <p:cNvPr id="7" name="Text 4"/>
          <p:cNvSpPr/>
          <p:nvPr/>
        </p:nvSpPr>
        <p:spPr>
          <a:xfrm>
            <a:off x="640080" y="4709160"/>
            <a:ext cx="9875520" cy="914400"/>
          </a:xfrm>
          <a:prstGeom prst="rect">
            <a:avLst/>
          </a:prstGeom>
          <a:noFill/>
          <a:ln/>
        </p:spPr>
        <p:txBody>
          <a:bodyPr wrap="square" lIns="0" tIns="0" rIns="0" bIns="0" rtlCol="0" anchor="ctr"/>
          <a:lstStyle/>
          <a:p>
            <a:pPr indent="0" marL="0">
              <a:lnSpc>
                <a:spcPct val="112000"/>
              </a:lnSpc>
              <a:buNone/>
            </a:pPr>
            <a:r>
              <a:rPr lang="en-US" sz="1450" dirty="0">
                <a:solidFill>
                  <a:srgbClr val="C7D6EA"/>
                </a:solidFill>
                <a:latin typeface="Arial" pitchFamily="34" charset="0"/>
                <a:ea typeface="Arial" pitchFamily="34" charset="-122"/>
                <a:cs typeface="Arial" pitchFamily="34" charset="-120"/>
              </a:rPr>
              <a:t>Le coniche aperte che saldano i due scenari precedenti: l'iperbole di fuga dalla Terra e l'iperbole di cattura attorno all'asteroide, ai confini delle sfere d'influenza.</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3 · FUGA</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Iperbole di fuga dalla Terra</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91640"/>
            <a:ext cx="5394960" cy="310896"/>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Dal 2D ideale al 3D realistico</a:t>
            </a:r>
            <a:endParaRPr lang="en-US" sz="1300" dirty="0"/>
          </a:p>
        </p:txBody>
      </p:sp>
      <p:sp>
        <p:nvSpPr>
          <p:cNvPr id="8" name="Shape 5"/>
          <p:cNvSpPr/>
          <p:nvPr/>
        </p:nvSpPr>
        <p:spPr>
          <a:xfrm>
            <a:off x="566928" y="2121408"/>
            <a:ext cx="493776" cy="493776"/>
          </a:xfrm>
          <a:prstGeom prst="ellipse">
            <a:avLst/>
          </a:prstGeom>
          <a:solidFill>
            <a:srgbClr val="102C53"/>
          </a:solidFill>
          <a:ln/>
        </p:spPr>
      </p:sp>
      <p:pic>
        <p:nvPicPr>
          <p:cNvPr id="9" name="Image 1" descr="preencoded.png">    </p:cNvPr>
          <p:cNvPicPr>
            <a:picLocks noChangeAspect="1"/>
          </p:cNvPicPr>
          <p:nvPr/>
        </p:nvPicPr>
        <p:blipFill>
          <a:blip r:embed="rId2"/>
          <a:stretch>
            <a:fillRect/>
          </a:stretch>
        </p:blipFill>
        <p:spPr>
          <a:xfrm>
            <a:off x="685800" y="2240280"/>
            <a:ext cx="256032" cy="256032"/>
          </a:xfrm>
          <a:prstGeom prst="rect">
            <a:avLst/>
          </a:prstGeom>
        </p:spPr>
      </p:pic>
      <p:sp>
        <p:nvSpPr>
          <p:cNvPr id="10" name="Text 6"/>
          <p:cNvSpPr/>
          <p:nvPr/>
        </p:nvSpPr>
        <p:spPr>
          <a:xfrm>
            <a:off x="1243584" y="2075688"/>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Velocita' di eccesso iperbolico v∞</a:t>
            </a:r>
            <a:endParaRPr lang="en-US" sz="1400" dirty="0"/>
          </a:p>
        </p:txBody>
      </p:sp>
      <p:sp>
        <p:nvSpPr>
          <p:cNvPr id="11" name="Text 7"/>
          <p:cNvSpPr/>
          <p:nvPr/>
        </p:nvSpPr>
        <p:spPr>
          <a:xfrm>
            <a:off x="1243584" y="2359152"/>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Differenza tra la velocita' sul trasferimento e quella della Terra: definisce la geometria dell'iperbole.</a:t>
            </a:r>
            <a:endParaRPr lang="en-US" sz="1150" dirty="0"/>
          </a:p>
        </p:txBody>
      </p:sp>
      <p:sp>
        <p:nvSpPr>
          <p:cNvPr id="12" name="Shape 8"/>
          <p:cNvSpPr/>
          <p:nvPr/>
        </p:nvSpPr>
        <p:spPr>
          <a:xfrm>
            <a:off x="566928" y="2990088"/>
            <a:ext cx="493776" cy="493776"/>
          </a:xfrm>
          <a:prstGeom prst="ellipse">
            <a:avLst/>
          </a:prstGeom>
          <a:solidFill>
            <a:srgbClr val="102C53"/>
          </a:solidFill>
          <a:ln/>
        </p:spPr>
      </p:sp>
      <p:pic>
        <p:nvPicPr>
          <p:cNvPr id="13" name="Image 2" descr="preencoded.png">    </p:cNvPr>
          <p:cNvPicPr>
            <a:picLocks noChangeAspect="1"/>
          </p:cNvPicPr>
          <p:nvPr/>
        </p:nvPicPr>
        <p:blipFill>
          <a:blip r:embed="rId3"/>
          <a:stretch>
            <a:fillRect/>
          </a:stretch>
        </p:blipFill>
        <p:spPr>
          <a:xfrm>
            <a:off x="685800" y="3108960"/>
            <a:ext cx="256032" cy="256032"/>
          </a:xfrm>
          <a:prstGeom prst="rect">
            <a:avLst/>
          </a:prstGeom>
        </p:spPr>
      </p:pic>
      <p:sp>
        <p:nvSpPr>
          <p:cNvPr id="14" name="Text 9"/>
          <p:cNvSpPr/>
          <p:nvPr/>
        </p:nvSpPr>
        <p:spPr>
          <a:xfrm>
            <a:off x="1243584" y="2944368"/>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Caso 2D — complanare (ideale)</a:t>
            </a:r>
            <a:endParaRPr lang="en-US" sz="1400" dirty="0"/>
          </a:p>
        </p:txBody>
      </p:sp>
      <p:sp>
        <p:nvSpPr>
          <p:cNvPr id="15" name="Text 10"/>
          <p:cNvSpPr/>
          <p:nvPr/>
        </p:nvSpPr>
        <p:spPr>
          <a:xfrm>
            <a:off x="1243584" y="3227832"/>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Pericentri coincidenti, impulso tangente al pericentro: delta-V ≈ 0,94 km/s.</a:t>
            </a:r>
            <a:endParaRPr lang="en-US" sz="1150" dirty="0"/>
          </a:p>
        </p:txBody>
      </p:sp>
      <p:sp>
        <p:nvSpPr>
          <p:cNvPr id="16" name="Shape 11"/>
          <p:cNvSpPr/>
          <p:nvPr/>
        </p:nvSpPr>
        <p:spPr>
          <a:xfrm>
            <a:off x="566928" y="3858768"/>
            <a:ext cx="493776" cy="493776"/>
          </a:xfrm>
          <a:prstGeom prst="ellipse">
            <a:avLst/>
          </a:prstGeom>
          <a:solidFill>
            <a:srgbClr val="102C53"/>
          </a:solidFill>
          <a:ln/>
        </p:spPr>
      </p:sp>
      <p:pic>
        <p:nvPicPr>
          <p:cNvPr id="17" name="Image 3" descr="preencoded.png">    </p:cNvPr>
          <p:cNvPicPr>
            <a:picLocks noChangeAspect="1"/>
          </p:cNvPicPr>
          <p:nvPr/>
        </p:nvPicPr>
        <p:blipFill>
          <a:blip r:embed="rId4"/>
          <a:stretch>
            <a:fillRect/>
          </a:stretch>
        </p:blipFill>
        <p:spPr>
          <a:xfrm>
            <a:off x="685800" y="3977640"/>
            <a:ext cx="256032" cy="256032"/>
          </a:xfrm>
          <a:prstGeom prst="rect">
            <a:avLst/>
          </a:prstGeom>
        </p:spPr>
      </p:pic>
      <p:sp>
        <p:nvSpPr>
          <p:cNvPr id="18" name="Text 12"/>
          <p:cNvSpPr/>
          <p:nvPr/>
        </p:nvSpPr>
        <p:spPr>
          <a:xfrm>
            <a:off x="1243584" y="3813048"/>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Caso 3D — realistico</a:t>
            </a:r>
            <a:endParaRPr lang="en-US" sz="1400" dirty="0"/>
          </a:p>
        </p:txBody>
      </p:sp>
      <p:sp>
        <p:nvSpPr>
          <p:cNvPr id="19" name="Text 13"/>
          <p:cNvSpPr/>
          <p:nvPr/>
        </p:nvSpPr>
        <p:spPr>
          <a:xfrm>
            <a:off x="1243584" y="4096512"/>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v∞ giace sull'eclittica, l'orbita di parcheggio sull'equatore (ε=23,45°): l'innesco e' un compromesso energia / cambio piano.</a:t>
            </a:r>
            <a:endParaRPr lang="en-US" sz="1150" dirty="0"/>
          </a:p>
        </p:txBody>
      </p:sp>
      <p:sp>
        <p:nvSpPr>
          <p:cNvPr id="20" name="Shape 14"/>
          <p:cNvSpPr/>
          <p:nvPr/>
        </p:nvSpPr>
        <p:spPr>
          <a:xfrm>
            <a:off x="566928" y="493776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1" name="Text 15"/>
          <p:cNvSpPr/>
          <p:nvPr/>
        </p:nvSpPr>
        <p:spPr>
          <a:xfrm>
            <a:off x="731520" y="5047488"/>
            <a:ext cx="2276856" cy="566928"/>
          </a:xfrm>
          <a:prstGeom prst="rect">
            <a:avLst/>
          </a:prstGeom>
          <a:noFill/>
          <a:ln/>
        </p:spPr>
        <p:txBody>
          <a:bodyPr wrap="square" lIns="0" tIns="0" rIns="0" bIns="0" rtlCol="0" anchor="ctr"/>
          <a:lstStyle/>
          <a:p>
            <a:pPr algn="l" indent="0" marL="0">
              <a:buNone/>
            </a:pPr>
            <a:r>
              <a:rPr lang="en-US" sz="3000" b="1" dirty="0">
                <a:solidFill>
                  <a:srgbClr val="E06A6A"/>
                </a:solidFill>
                <a:latin typeface="Arial" pitchFamily="34" charset="0"/>
                <a:ea typeface="Arial" pitchFamily="34" charset="-122"/>
                <a:cs typeface="Arial" pitchFamily="34" charset="-120"/>
              </a:rPr>
              <a:t>3,79</a:t>
            </a:r>
            <a:pPr algn="l" indent="0" marL="0">
              <a:buNone/>
            </a:pPr>
            <a:r>
              <a:rPr lang="en-US" sz="1300" b="1" dirty="0">
                <a:solidFill>
                  <a:srgbClr val="E06A6A"/>
                </a:solidFill>
              </a:rPr>
              <a:t> km/s</a:t>
            </a:r>
            <a:endParaRPr lang="en-US" sz="3000" dirty="0"/>
          </a:p>
        </p:txBody>
      </p:sp>
      <p:sp>
        <p:nvSpPr>
          <p:cNvPr id="22" name="Text 16"/>
          <p:cNvSpPr/>
          <p:nvPr/>
        </p:nvSpPr>
        <p:spPr>
          <a:xfrm>
            <a:off x="731520" y="561441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DELTA-V FUGA (3D)</a:t>
            </a:r>
            <a:endParaRPr lang="en-US" sz="900" dirty="0"/>
          </a:p>
        </p:txBody>
      </p:sp>
      <p:sp>
        <p:nvSpPr>
          <p:cNvPr id="23" name="Shape 17"/>
          <p:cNvSpPr/>
          <p:nvPr/>
        </p:nvSpPr>
        <p:spPr>
          <a:xfrm>
            <a:off x="3355848" y="493776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4" name="Text 18"/>
          <p:cNvSpPr/>
          <p:nvPr/>
        </p:nvSpPr>
        <p:spPr>
          <a:xfrm>
            <a:off x="3520440" y="5047488"/>
            <a:ext cx="2276856" cy="566928"/>
          </a:xfrm>
          <a:prstGeom prst="rect">
            <a:avLst/>
          </a:prstGeom>
          <a:noFill/>
          <a:ln/>
        </p:spPr>
        <p:txBody>
          <a:bodyPr wrap="square" lIns="0" tIns="0" rIns="0" bIns="0" rtlCol="0" anchor="ctr"/>
          <a:lstStyle/>
          <a:p>
            <a:pPr algn="l" indent="0" marL="0">
              <a:buNone/>
            </a:pPr>
            <a:r>
              <a:rPr lang="en-US" sz="3000" b="1" dirty="0">
                <a:solidFill>
                  <a:srgbClr val="102C53"/>
                </a:solidFill>
                <a:latin typeface="Arial" pitchFamily="34" charset="0"/>
                <a:ea typeface="Arial" pitchFamily="34" charset="-122"/>
                <a:cs typeface="Arial" pitchFamily="34" charset="-120"/>
              </a:rPr>
              <a:t>4,37</a:t>
            </a:r>
            <a:pPr algn="l" indent="0" marL="0">
              <a:buNone/>
            </a:pPr>
            <a:r>
              <a:rPr lang="en-US" sz="1300" b="1" dirty="0">
                <a:solidFill>
                  <a:srgbClr val="102C53"/>
                </a:solidFill>
              </a:rPr>
              <a:t> giorni</a:t>
            </a:r>
            <a:endParaRPr lang="en-US" sz="3000" dirty="0"/>
          </a:p>
        </p:txBody>
      </p:sp>
      <p:sp>
        <p:nvSpPr>
          <p:cNvPr id="25" name="Text 19"/>
          <p:cNvSpPr/>
          <p:nvPr/>
        </p:nvSpPr>
        <p:spPr>
          <a:xfrm>
            <a:off x="3520440" y="561441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TEMPO DI MANOVRA</a:t>
            </a:r>
            <a:endParaRPr lang="en-US" sz="900" dirty="0"/>
          </a:p>
        </p:txBody>
      </p:sp>
      <p:sp>
        <p:nvSpPr>
          <p:cNvPr id="26" name="Text 20"/>
          <p:cNvSpPr/>
          <p:nvPr/>
        </p:nvSpPr>
        <p:spPr>
          <a:xfrm>
            <a:off x="566928" y="6126480"/>
            <a:ext cx="5394960" cy="274320"/>
          </a:xfrm>
          <a:prstGeom prst="rect">
            <a:avLst/>
          </a:prstGeom>
          <a:noFill/>
          <a:ln/>
        </p:spPr>
        <p:txBody>
          <a:bodyPr wrap="square" lIns="0" tIns="0" rIns="0" bIns="0" rtlCol="0" anchor="ctr"/>
          <a:lstStyle/>
          <a:p>
            <a:pPr indent="0" marL="0">
              <a:buNone/>
            </a:pPr>
            <a:r>
              <a:rPr lang="en-US" sz="1050" i="1" dirty="0">
                <a:solidFill>
                  <a:srgbClr val="7C8BA1"/>
                </a:solidFill>
                <a:latin typeface="Arial" pitchFamily="34" charset="0"/>
                <a:ea typeface="Arial" pitchFamily="34" charset="-122"/>
                <a:cs typeface="Arial" pitchFamily="34" charset="-120"/>
              </a:rPr>
              <a:t>L'iniezione ottimale (★) non e' al pericentro: e' il punto di minimo dispendio di propellente.</a:t>
            </a:r>
            <a:endParaRPr lang="en-US" sz="1050" dirty="0"/>
          </a:p>
        </p:txBody>
      </p:sp>
      <p:sp>
        <p:nvSpPr>
          <p:cNvPr id="27" name="Shape 21"/>
          <p:cNvSpPr/>
          <p:nvPr/>
        </p:nvSpPr>
        <p:spPr>
          <a:xfrm>
            <a:off x="6355080" y="1691640"/>
            <a:ext cx="5257800" cy="4480560"/>
          </a:xfrm>
          <a:prstGeom prst="roundRect">
            <a:avLst>
              <a:gd name="adj" fmla="val 1224"/>
            </a:avLst>
          </a:prstGeom>
          <a:solidFill>
            <a:srgbClr val="0B2243"/>
          </a:solidFill>
          <a:ln w="12700">
            <a:solidFill>
              <a:srgbClr val="102C53"/>
            </a:solidFill>
            <a:prstDash val="solid"/>
          </a:ln>
          <a:effectLst>
            <a:outerShdw sx="100000" sy="100000" kx="0" ky="0" algn="bl" rotWithShape="0" blurRad="114300" dist="38100" dir="5400000">
              <a:srgbClr val="6E7F95">
                <a:alpha val="20000"/>
              </a:srgbClr>
            </a:outerShdw>
          </a:effectLst>
        </p:spPr>
      </p:sp>
      <p:pic>
        <p:nvPicPr>
          <p:cNvPr id="28" name="Image 4" descr="/sessions/laughing-busy-clarke/mnt/outputs/gifs/sc3_fuga3d.gif">    </p:cNvPr>
          <p:cNvPicPr>
            <a:picLocks noChangeAspect="1"/>
          </p:cNvPicPr>
          <p:nvPr/>
        </p:nvPicPr>
        <p:blipFill>
          <a:blip r:embed="rId5"/>
          <a:srcRect l="0" r="0" t="0" b="0"/>
          <a:stretch/>
        </p:blipFill>
        <p:spPr>
          <a:xfrm>
            <a:off x="6464808" y="1801368"/>
            <a:ext cx="5038344" cy="4023360"/>
          </a:xfrm>
          <a:prstGeom prst="rect">
            <a:avLst/>
          </a:prstGeom>
        </p:spPr>
      </p:pic>
      <p:sp>
        <p:nvSpPr>
          <p:cNvPr id="29" name="Shape 22"/>
          <p:cNvSpPr/>
          <p:nvPr/>
        </p:nvSpPr>
        <p:spPr>
          <a:xfrm>
            <a:off x="6501384" y="1837944"/>
            <a:ext cx="1280160" cy="310896"/>
          </a:xfrm>
          <a:prstGeom prst="roundRect">
            <a:avLst>
              <a:gd name="adj" fmla="val 50000"/>
            </a:avLst>
          </a:prstGeom>
          <a:solidFill>
            <a:srgbClr val="4DC9FF"/>
          </a:solidFill>
          <a:ln/>
        </p:spPr>
      </p:sp>
      <p:pic>
        <p:nvPicPr>
          <p:cNvPr id="30" name="Image 5" descr="preencoded.png">    </p:cNvPr>
          <p:cNvPicPr>
            <a:picLocks noChangeAspect="1"/>
          </p:cNvPicPr>
          <p:nvPr/>
        </p:nvPicPr>
        <p:blipFill>
          <a:blip r:embed="rId6"/>
          <a:stretch>
            <a:fillRect/>
          </a:stretch>
        </p:blipFill>
        <p:spPr>
          <a:xfrm>
            <a:off x="6592824" y="1897380"/>
            <a:ext cx="201168" cy="201168"/>
          </a:xfrm>
          <a:prstGeom prst="rect">
            <a:avLst/>
          </a:prstGeom>
        </p:spPr>
      </p:pic>
      <p:sp>
        <p:nvSpPr>
          <p:cNvPr id="31" name="Text 23"/>
          <p:cNvSpPr/>
          <p:nvPr/>
        </p:nvSpPr>
        <p:spPr>
          <a:xfrm>
            <a:off x="6812280" y="1837944"/>
            <a:ext cx="960120" cy="310896"/>
          </a:xfrm>
          <a:prstGeom prst="rect">
            <a:avLst/>
          </a:prstGeom>
          <a:noFill/>
          <a:ln/>
        </p:spPr>
        <p:txBody>
          <a:bodyPr wrap="square" lIns="0" tIns="0" rIns="0" bIns="0" rtlCol="0" anchor="ctr"/>
          <a:lstStyle/>
          <a:p>
            <a:pPr algn="l" indent="0" marL="0">
              <a:buNone/>
            </a:pPr>
            <a:r>
              <a:rPr lang="en-US" sz="900" b="1" spc="100" kern="0" dirty="0">
                <a:solidFill>
                  <a:srgbClr val="06335C"/>
                </a:solidFill>
                <a:latin typeface="Arial" pitchFamily="34" charset="0"/>
                <a:ea typeface="Arial" pitchFamily="34" charset="-122"/>
                <a:cs typeface="Arial" pitchFamily="34" charset="-120"/>
              </a:rPr>
              <a:t>ANIMAZIONE</a:t>
            </a:r>
            <a:endParaRPr lang="en-US" sz="900" dirty="0"/>
          </a:p>
        </p:txBody>
      </p:sp>
      <p:sp>
        <p:nvSpPr>
          <p:cNvPr id="32" name="Text 24"/>
          <p:cNvSpPr/>
          <p:nvPr/>
        </p:nvSpPr>
        <p:spPr>
          <a:xfrm>
            <a:off x="6464808" y="5879592"/>
            <a:ext cx="5038344" cy="219456"/>
          </a:xfrm>
          <a:prstGeom prst="rect">
            <a:avLst/>
          </a:prstGeom>
          <a:noFill/>
          <a:ln/>
        </p:spPr>
        <p:txBody>
          <a:bodyPr wrap="square" lIns="0" tIns="0" rIns="0" bIns="0" rtlCol="0" anchor="ctr"/>
          <a:lstStyle/>
          <a:p>
            <a:pPr algn="ctr" indent="0" marL="0">
              <a:buNone/>
            </a:pPr>
            <a:r>
              <a:rPr lang="en-US" sz="950" i="1" dirty="0">
                <a:solidFill>
                  <a:srgbClr val="AFC6E0"/>
                </a:solidFill>
                <a:latin typeface="Arial" pitchFamily="34" charset="0"/>
                <a:ea typeface="Arial" pitchFamily="34" charset="-122"/>
                <a:cs typeface="Arial" pitchFamily="34" charset="-120"/>
              </a:rPr>
              <a:t>Iperbole di fuga tridimensionale (ECI)</a:t>
            </a:r>
            <a:endParaRPr lang="en-US" sz="950" dirty="0"/>
          </a:p>
        </p:txBody>
      </p:sp>
      <p:sp>
        <p:nvSpPr>
          <p:cNvPr id="33" name="Text 25"/>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34" name="Text 26"/>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3 · FUGA</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Geometria 3D dell'iperbole di fuga</a:t>
            </a:r>
            <a:endParaRPr lang="en-US" sz="2600" dirty="0"/>
          </a:p>
        </p:txBody>
      </p:sp>
      <p:sp>
        <p:nvSpPr>
          <p:cNvPr id="6" name="Shape 3"/>
          <p:cNvSpPr/>
          <p:nvPr/>
        </p:nvSpPr>
        <p:spPr>
          <a:xfrm>
            <a:off x="9793224" y="841248"/>
            <a:ext cx="1828800" cy="365760"/>
          </a:xfrm>
          <a:prstGeom prst="roundRect">
            <a:avLst>
              <a:gd name="adj" fmla="val 50000"/>
            </a:avLst>
          </a:prstGeom>
          <a:solidFill>
            <a:srgbClr val="E7F6FF"/>
          </a:solidFill>
          <a:ln w="12700">
            <a:solidFill>
              <a:srgbClr val="4DC9FF"/>
            </a:solidFill>
            <a:prstDash val="solid"/>
          </a:ln>
        </p:spPr>
      </p:sp>
      <p:sp>
        <p:nvSpPr>
          <p:cNvPr id="7" name="Text 4"/>
          <p:cNvSpPr/>
          <p:nvPr/>
        </p:nvSpPr>
        <p:spPr>
          <a:xfrm>
            <a:off x="9793224" y="841248"/>
            <a:ext cx="1828800" cy="365760"/>
          </a:xfrm>
          <a:prstGeom prst="rect">
            <a:avLst/>
          </a:prstGeom>
          <a:noFill/>
          <a:ln/>
        </p:spPr>
        <p:txBody>
          <a:bodyPr wrap="square" lIns="0" tIns="0" rIns="0" bIns="0" rtlCol="0" anchor="ctr"/>
          <a:lstStyle/>
          <a:p>
            <a:pPr algn="ctr" indent="0" marL="0">
              <a:buNone/>
            </a:pPr>
            <a:r>
              <a:rPr lang="en-US" sz="1000" b="1" spc="150" kern="0" dirty="0">
                <a:solidFill>
                  <a:srgbClr val="1C82C0"/>
                </a:solidFill>
                <a:latin typeface="Arial" pitchFamily="34" charset="0"/>
                <a:ea typeface="Arial" pitchFamily="34" charset="-122"/>
                <a:cs typeface="Arial" pitchFamily="34" charset="-120"/>
              </a:rPr>
              <a:t>APPROFONDIMENTO</a:t>
            </a:r>
            <a:endParaRPr lang="en-US" sz="1000" dirty="0"/>
          </a:p>
        </p:txBody>
      </p:sp>
      <p:sp>
        <p:nvSpPr>
          <p:cNvPr id="8" name="Shape 5"/>
          <p:cNvSpPr/>
          <p:nvPr/>
        </p:nvSpPr>
        <p:spPr>
          <a:xfrm>
            <a:off x="566928" y="1463040"/>
            <a:ext cx="11055096" cy="0"/>
          </a:xfrm>
          <a:prstGeom prst="line">
            <a:avLst/>
          </a:prstGeom>
          <a:noFill/>
          <a:ln w="12700">
            <a:solidFill>
              <a:srgbClr val="DBE3EE"/>
            </a:solidFill>
            <a:prstDash val="solid"/>
          </a:ln>
        </p:spPr>
      </p:sp>
      <p:sp>
        <p:nvSpPr>
          <p:cNvPr id="9" name="Text 6"/>
          <p:cNvSpPr/>
          <p:nvPr/>
        </p:nvSpPr>
        <p:spPr>
          <a:xfrm>
            <a:off x="566928" y="1664208"/>
            <a:ext cx="5486400" cy="4297680"/>
          </a:xfrm>
          <a:prstGeom prst="rect">
            <a:avLst/>
          </a:prstGeom>
          <a:noFill/>
          <a:ln/>
        </p:spPr>
        <p:txBody>
          <a:bodyPr wrap="square" lIns="0" tIns="0" rIns="0" bIns="0" rtlCol="0" anchor="t"/>
          <a:lstStyle/>
          <a:p>
            <a:pPr algn="l" indent="0" marL="0">
              <a:lnSpc>
                <a:spcPct val="112000"/>
              </a:lnSpc>
              <a:buNone/>
            </a:pPr>
            <a:r>
              <a:rPr lang="en-US" sz="1250" dirty="0">
                <a:solidFill>
                  <a:srgbClr val="35475E"/>
                </a:solidFill>
                <a:latin typeface="Arial" pitchFamily="34" charset="0"/>
                <a:ea typeface="Arial" pitchFamily="34" charset="-122"/>
                <a:cs typeface="Arial" pitchFamily="34" charset="-120"/>
              </a:rPr>
              <a:t>La difficolta' nasce dalla disomogeneita' dei piani: il vettore v∞ giace sull'eclittica, mentre l'orbita di parcheggio e' vincolata al piano equatoriale terrestre. </a:t>
            </a:r>
            <a:pPr algn="l" indent="0" marL="0">
              <a:lnSpc>
                <a:spcPct val="112000"/>
              </a:lnSpc>
              <a:buNone/>
            </a:pPr>
            <a:r>
              <a:rPr lang="en-US" sz="1250" b="1" dirty="0">
                <a:solidFill>
                  <a:srgbClr val="102C53"/>
                </a:solidFill>
                <a:latin typeface="Arial" pitchFamily="34" charset="0"/>
                <a:ea typeface="Arial" pitchFamily="34" charset="-122"/>
                <a:cs typeface="Arial" pitchFamily="34" charset="-120"/>
              </a:rPr>
              <a:t>v∞ viene quindi proiettato nel sistema ECI tramite la rotazione associata all'inclinazione dell'asse terrestre (ε = 23,45°), ottenendo il versore dell'asintoto di fuga.
</a:t>
            </a:r>
            <a:pPr algn="l" indent="0" marL="0">
              <a:lnSpc>
                <a:spcPct val="112000"/>
              </a:lnSpc>
              <a:buNone/>
            </a:pPr>
            <a:r>
              <a:rPr lang="en-US" sz="1250" dirty="0">
                <a:solidFill>
                  <a:srgbClr val="35475E"/>
                </a:solidFill>
                <a:latin typeface="Arial" pitchFamily="34" charset="0"/>
                <a:ea typeface="Arial" pitchFamily="34" charset="-122"/>
                <a:cs typeface="Arial" pitchFamily="34" charset="-120"/>
              </a:rPr>
              <a:t>Nel caso complanare la manovra ottimale e' sempre al pericentro (massimo effetto Oberth); nel 3D questa assunzione decade, perche' la manovra deve contemporaneamente aumentare l'energia cinetica e operare un costoso cambio di piano. Per ogni anomalia vera candidata sull'orbita di parcheggio si risolve un sistema non lineare che vincola la geometria dell'iperbole, scartando le traiettorie che non garantiscono la fuga o che intersecano l'atmosfera (margine ≥ 200 km). Il minimo della distribuzione di costi individua l'iniezione ottimale: ΔV₁ = 3,79 km/s, superiore al 2D per il lavoro speso a orientare la velocita' nello spazio.</a:t>
            </a:r>
            <a:endParaRPr lang="en-US" sz="1250" dirty="0"/>
          </a:p>
        </p:txBody>
      </p:sp>
      <p:sp>
        <p:nvSpPr>
          <p:cNvPr id="10" name="Shape 7"/>
          <p:cNvSpPr/>
          <p:nvPr/>
        </p:nvSpPr>
        <p:spPr>
          <a:xfrm>
            <a:off x="6355080" y="1691640"/>
            <a:ext cx="5257800" cy="4480560"/>
          </a:xfrm>
          <a:prstGeom prst="roundRect">
            <a:avLst>
              <a:gd name="adj" fmla="val 1224"/>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11" name="Image 1" descr="/sessions/laughing-busy-clarke/mnt/outputs/figs/sc3_fuga2d.png">    </p:cNvPr>
          <p:cNvPicPr>
            <a:picLocks noChangeAspect="1"/>
          </p:cNvPicPr>
          <p:nvPr/>
        </p:nvPicPr>
        <p:blipFill>
          <a:blip r:embed="rId2"/>
          <a:srcRect l="0" r="0" t="0" b="0"/>
          <a:stretch/>
        </p:blipFill>
        <p:spPr>
          <a:xfrm>
            <a:off x="6483096" y="1819656"/>
            <a:ext cx="5001768" cy="3968496"/>
          </a:xfrm>
          <a:prstGeom prst="rect">
            <a:avLst/>
          </a:prstGeom>
        </p:spPr>
      </p:pic>
      <p:sp>
        <p:nvSpPr>
          <p:cNvPr id="12" name="Text 8"/>
          <p:cNvSpPr/>
          <p:nvPr/>
        </p:nvSpPr>
        <p:spPr>
          <a:xfrm>
            <a:off x="6483096" y="5861304"/>
            <a:ext cx="5001768" cy="237744"/>
          </a:xfrm>
          <a:prstGeom prst="rect">
            <a:avLst/>
          </a:prstGeom>
          <a:noFill/>
          <a:ln/>
        </p:spPr>
        <p:txBody>
          <a:bodyPr wrap="square" lIns="0" tIns="0" rIns="0" bIns="0" rtlCol="0" anchor="ctr"/>
          <a:lstStyle/>
          <a:p>
            <a:pPr algn="ctr" indent="0" marL="0">
              <a:buNone/>
            </a:pPr>
            <a:r>
              <a:rPr lang="en-US" sz="950" i="1" dirty="0">
                <a:solidFill>
                  <a:srgbClr val="7C8BA1"/>
                </a:solidFill>
                <a:latin typeface="Arial" pitchFamily="34" charset="0"/>
                <a:ea typeface="Arial" pitchFamily="34" charset="-122"/>
                <a:cs typeface="Arial" pitchFamily="34" charset="-120"/>
              </a:rPr>
              <a:t>Caso bidimensionale complanare di riferimento (Fig. 4.1)</a:t>
            </a:r>
            <a:endParaRPr lang="en-US" sz="950" dirty="0"/>
          </a:p>
        </p:txBody>
      </p:sp>
      <p:sp>
        <p:nvSpPr>
          <p:cNvPr id="13" name="Text 9"/>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14" name="Text 10"/>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SCENARIO 3 · ARRIVO</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Cattura attorno all'asteroide</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91640"/>
            <a:ext cx="5394960" cy="310896"/>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Una SOI minuscola: [8,05 – 16,23] km</a:t>
            </a:r>
            <a:endParaRPr lang="en-US" sz="1300" dirty="0"/>
          </a:p>
        </p:txBody>
      </p:sp>
      <p:sp>
        <p:nvSpPr>
          <p:cNvPr id="8" name="Shape 5"/>
          <p:cNvSpPr/>
          <p:nvPr/>
        </p:nvSpPr>
        <p:spPr>
          <a:xfrm>
            <a:off x="566928" y="2121408"/>
            <a:ext cx="493776" cy="493776"/>
          </a:xfrm>
          <a:prstGeom prst="ellipse">
            <a:avLst/>
          </a:prstGeom>
          <a:solidFill>
            <a:srgbClr val="102C53"/>
          </a:solidFill>
          <a:ln/>
        </p:spPr>
      </p:sp>
      <p:pic>
        <p:nvPicPr>
          <p:cNvPr id="9" name="Image 1" descr="preencoded.png">    </p:cNvPr>
          <p:cNvPicPr>
            <a:picLocks noChangeAspect="1"/>
          </p:cNvPicPr>
          <p:nvPr/>
        </p:nvPicPr>
        <p:blipFill>
          <a:blip r:embed="rId2"/>
          <a:stretch>
            <a:fillRect/>
          </a:stretch>
        </p:blipFill>
        <p:spPr>
          <a:xfrm>
            <a:off x="685800" y="2240280"/>
            <a:ext cx="256032" cy="256032"/>
          </a:xfrm>
          <a:prstGeom prst="rect">
            <a:avLst/>
          </a:prstGeom>
        </p:spPr>
      </p:pic>
      <p:sp>
        <p:nvSpPr>
          <p:cNvPr id="10" name="Text 6"/>
          <p:cNvSpPr/>
          <p:nvPr/>
        </p:nvSpPr>
        <p:spPr>
          <a:xfrm>
            <a:off x="1243584" y="2075688"/>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Iperbole quasi rettilinea</a:t>
            </a:r>
            <a:endParaRPr lang="en-US" sz="1400" dirty="0"/>
          </a:p>
        </p:txBody>
      </p:sp>
      <p:sp>
        <p:nvSpPr>
          <p:cNvPr id="11" name="Text 7"/>
          <p:cNvSpPr/>
          <p:nvPr/>
        </p:nvSpPr>
        <p:spPr>
          <a:xfrm>
            <a:off x="1243584" y="2359152"/>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Con μ_ast ≈ 4,6·10⁻⁷ km³/s², l'eccentricita' e→∞ e l'angolo tra gli asintoti δ→0: l'asintoto tende a una retta.</a:t>
            </a:r>
            <a:endParaRPr lang="en-US" sz="1150" dirty="0"/>
          </a:p>
        </p:txBody>
      </p:sp>
      <p:sp>
        <p:nvSpPr>
          <p:cNvPr id="12" name="Shape 8"/>
          <p:cNvSpPr/>
          <p:nvPr/>
        </p:nvSpPr>
        <p:spPr>
          <a:xfrm>
            <a:off x="566928" y="2990088"/>
            <a:ext cx="493776" cy="493776"/>
          </a:xfrm>
          <a:prstGeom prst="ellipse">
            <a:avLst/>
          </a:prstGeom>
          <a:solidFill>
            <a:srgbClr val="102C53"/>
          </a:solidFill>
          <a:ln/>
        </p:spPr>
      </p:sp>
      <p:pic>
        <p:nvPicPr>
          <p:cNvPr id="13" name="Image 2" descr="preencoded.png">    </p:cNvPr>
          <p:cNvPicPr>
            <a:picLocks noChangeAspect="1"/>
          </p:cNvPicPr>
          <p:nvPr/>
        </p:nvPicPr>
        <p:blipFill>
          <a:blip r:embed="rId3"/>
          <a:stretch>
            <a:fillRect/>
          </a:stretch>
        </p:blipFill>
        <p:spPr>
          <a:xfrm>
            <a:off x="685800" y="3108960"/>
            <a:ext cx="256032" cy="256032"/>
          </a:xfrm>
          <a:prstGeom prst="rect">
            <a:avLst/>
          </a:prstGeom>
        </p:spPr>
      </p:pic>
      <p:sp>
        <p:nvSpPr>
          <p:cNvPr id="14" name="Text 9"/>
          <p:cNvSpPr/>
          <p:nvPr/>
        </p:nvSpPr>
        <p:spPr>
          <a:xfrm>
            <a:off x="1243584" y="2944368"/>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Circolare vs ellittica</a:t>
            </a:r>
            <a:endParaRPr lang="en-US" sz="1400" dirty="0"/>
          </a:p>
        </p:txBody>
      </p:sp>
      <p:sp>
        <p:nvSpPr>
          <p:cNvPr id="15" name="Text 10"/>
          <p:cNvSpPr/>
          <p:nvPr/>
        </p:nvSpPr>
        <p:spPr>
          <a:xfrm>
            <a:off x="1243584" y="3227832"/>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Ciclo su raggio ed eccentricita': l'ellittica vince di pochissimo (la circolare e' peggiore solo dello 0,004%).</a:t>
            </a:r>
            <a:endParaRPr lang="en-US" sz="1150" dirty="0"/>
          </a:p>
        </p:txBody>
      </p:sp>
      <p:sp>
        <p:nvSpPr>
          <p:cNvPr id="16" name="Shape 11"/>
          <p:cNvSpPr/>
          <p:nvPr/>
        </p:nvSpPr>
        <p:spPr>
          <a:xfrm>
            <a:off x="566928" y="3858768"/>
            <a:ext cx="493776" cy="493776"/>
          </a:xfrm>
          <a:prstGeom prst="ellipse">
            <a:avLst/>
          </a:prstGeom>
          <a:solidFill>
            <a:srgbClr val="102C53"/>
          </a:solidFill>
          <a:ln/>
        </p:spPr>
      </p:sp>
      <p:pic>
        <p:nvPicPr>
          <p:cNvPr id="17" name="Image 3" descr="preencoded.png">    </p:cNvPr>
          <p:cNvPicPr>
            <a:picLocks noChangeAspect="1"/>
          </p:cNvPicPr>
          <p:nvPr/>
        </p:nvPicPr>
        <p:blipFill>
          <a:blip r:embed="rId4"/>
          <a:stretch>
            <a:fillRect/>
          </a:stretch>
        </p:blipFill>
        <p:spPr>
          <a:xfrm>
            <a:off x="685800" y="3977640"/>
            <a:ext cx="256032" cy="256032"/>
          </a:xfrm>
          <a:prstGeom prst="rect">
            <a:avLst/>
          </a:prstGeom>
        </p:spPr>
      </p:pic>
      <p:sp>
        <p:nvSpPr>
          <p:cNvPr id="18" name="Text 12"/>
          <p:cNvSpPr/>
          <p:nvPr/>
        </p:nvSpPr>
        <p:spPr>
          <a:xfrm>
            <a:off x="1243584" y="3813048"/>
            <a:ext cx="466344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Costo elevato di frenata</a:t>
            </a:r>
            <a:endParaRPr lang="en-US" sz="1400" dirty="0"/>
          </a:p>
        </p:txBody>
      </p:sp>
      <p:sp>
        <p:nvSpPr>
          <p:cNvPr id="19" name="Text 13"/>
          <p:cNvSpPr/>
          <p:nvPr/>
        </p:nvSpPr>
        <p:spPr>
          <a:xfrm>
            <a:off x="1243584" y="4096512"/>
            <a:ext cx="466344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L'attrazione debolissima impone un grande delta-V per inserirsi in orbita; il r_p ottimo coincide col minimo.</a:t>
            </a:r>
            <a:endParaRPr lang="en-US" sz="1150" dirty="0"/>
          </a:p>
        </p:txBody>
      </p:sp>
      <p:sp>
        <p:nvSpPr>
          <p:cNvPr id="20" name="Shape 14"/>
          <p:cNvSpPr/>
          <p:nvPr/>
        </p:nvSpPr>
        <p:spPr>
          <a:xfrm>
            <a:off x="566928" y="493776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1" name="Text 15"/>
          <p:cNvSpPr/>
          <p:nvPr/>
        </p:nvSpPr>
        <p:spPr>
          <a:xfrm>
            <a:off x="731520" y="5047488"/>
            <a:ext cx="2276856" cy="566928"/>
          </a:xfrm>
          <a:prstGeom prst="rect">
            <a:avLst/>
          </a:prstGeom>
          <a:noFill/>
          <a:ln/>
        </p:spPr>
        <p:txBody>
          <a:bodyPr wrap="square" lIns="0" tIns="0" rIns="0" bIns="0" rtlCol="0" anchor="ctr"/>
          <a:lstStyle/>
          <a:p>
            <a:pPr algn="l" indent="0" marL="0">
              <a:buNone/>
            </a:pPr>
            <a:r>
              <a:rPr lang="en-US" sz="3000" b="1" dirty="0">
                <a:solidFill>
                  <a:srgbClr val="E06A6A"/>
                </a:solidFill>
                <a:latin typeface="Arial" pitchFamily="34" charset="0"/>
                <a:ea typeface="Arial" pitchFamily="34" charset="-122"/>
                <a:cs typeface="Arial" pitchFamily="34" charset="-120"/>
              </a:rPr>
              <a:t>5,23</a:t>
            </a:r>
            <a:pPr algn="l" indent="0" marL="0">
              <a:buNone/>
            </a:pPr>
            <a:r>
              <a:rPr lang="en-US" sz="1300" b="1" dirty="0">
                <a:solidFill>
                  <a:srgbClr val="E06A6A"/>
                </a:solidFill>
              </a:rPr>
              <a:t> km/s</a:t>
            </a:r>
            <a:endParaRPr lang="en-US" sz="3000" dirty="0"/>
          </a:p>
        </p:txBody>
      </p:sp>
      <p:sp>
        <p:nvSpPr>
          <p:cNvPr id="22" name="Text 16"/>
          <p:cNvSpPr/>
          <p:nvPr/>
        </p:nvSpPr>
        <p:spPr>
          <a:xfrm>
            <a:off x="731520" y="561441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DELTA-V CATTURA</a:t>
            </a:r>
            <a:endParaRPr lang="en-US" sz="900" dirty="0"/>
          </a:p>
        </p:txBody>
      </p:sp>
      <p:sp>
        <p:nvSpPr>
          <p:cNvPr id="23" name="Shape 17"/>
          <p:cNvSpPr/>
          <p:nvPr/>
        </p:nvSpPr>
        <p:spPr>
          <a:xfrm>
            <a:off x="3355848" y="4937760"/>
            <a:ext cx="2606040" cy="1078992"/>
          </a:xfrm>
          <a:prstGeom prst="roundRect">
            <a:avLst>
              <a:gd name="adj" fmla="val 6780"/>
            </a:avLst>
          </a:prstGeom>
          <a:solidFill>
            <a:srgbClr val="FFFFFF"/>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24" name="Text 18"/>
          <p:cNvSpPr/>
          <p:nvPr/>
        </p:nvSpPr>
        <p:spPr>
          <a:xfrm>
            <a:off x="3520440" y="5047488"/>
            <a:ext cx="2276856" cy="566928"/>
          </a:xfrm>
          <a:prstGeom prst="rect">
            <a:avLst/>
          </a:prstGeom>
          <a:noFill/>
          <a:ln/>
        </p:spPr>
        <p:txBody>
          <a:bodyPr wrap="square" lIns="0" tIns="0" rIns="0" bIns="0" rtlCol="0" anchor="ctr"/>
          <a:lstStyle/>
          <a:p>
            <a:pPr algn="l" indent="0" marL="0">
              <a:buNone/>
            </a:pPr>
            <a:r>
              <a:rPr lang="en-US" sz="3000" b="1" dirty="0">
                <a:solidFill>
                  <a:srgbClr val="102C53"/>
                </a:solidFill>
                <a:latin typeface="Arial" pitchFamily="34" charset="0"/>
                <a:ea typeface="Arial" pitchFamily="34" charset="-122"/>
                <a:cs typeface="Arial" pitchFamily="34" charset="-120"/>
              </a:rPr>
              <a:t>3,09</a:t>
            </a:r>
            <a:pPr algn="l" indent="0" marL="0">
              <a:buNone/>
            </a:pPr>
            <a:r>
              <a:rPr lang="en-US" sz="1300" b="1" dirty="0">
                <a:solidFill>
                  <a:srgbClr val="102C53"/>
                </a:solidFill>
              </a:rPr>
              <a:t> secondi</a:t>
            </a:r>
            <a:endParaRPr lang="en-US" sz="3000" dirty="0"/>
          </a:p>
        </p:txBody>
      </p:sp>
      <p:sp>
        <p:nvSpPr>
          <p:cNvPr id="25" name="Text 19"/>
          <p:cNvSpPr/>
          <p:nvPr/>
        </p:nvSpPr>
        <p:spPr>
          <a:xfrm>
            <a:off x="3520440" y="5614416"/>
            <a:ext cx="2276856" cy="310896"/>
          </a:xfrm>
          <a:prstGeom prst="rect">
            <a:avLst/>
          </a:prstGeom>
          <a:noFill/>
          <a:ln/>
        </p:spPr>
        <p:txBody>
          <a:bodyPr wrap="square" lIns="0" tIns="0" rIns="0" bIns="0" rtlCol="0" anchor="ctr"/>
          <a:lstStyle/>
          <a:p>
            <a:pPr algn="l" indent="0" marL="0">
              <a:buNone/>
            </a:pPr>
            <a:r>
              <a:rPr lang="en-US" sz="900" b="1" spc="50" kern="0" dirty="0">
                <a:solidFill>
                  <a:srgbClr val="7C8BA1"/>
                </a:solidFill>
                <a:latin typeface="Arial" pitchFamily="34" charset="0"/>
                <a:ea typeface="Arial" pitchFamily="34" charset="-122"/>
                <a:cs typeface="Arial" pitchFamily="34" charset="-120"/>
              </a:rPr>
              <a:t>TEMPO SOI → PERICENTRO</a:t>
            </a:r>
            <a:endParaRPr lang="en-US" sz="900" dirty="0"/>
          </a:p>
        </p:txBody>
      </p:sp>
      <p:sp>
        <p:nvSpPr>
          <p:cNvPr id="26" name="Text 20"/>
          <p:cNvSpPr/>
          <p:nvPr/>
        </p:nvSpPr>
        <p:spPr>
          <a:xfrm>
            <a:off x="566928" y="6126480"/>
            <a:ext cx="5394960" cy="274320"/>
          </a:xfrm>
          <a:prstGeom prst="rect">
            <a:avLst/>
          </a:prstGeom>
          <a:noFill/>
          <a:ln/>
        </p:spPr>
        <p:txBody>
          <a:bodyPr wrap="square" lIns="0" tIns="0" rIns="0" bIns="0" rtlCol="0" anchor="ctr"/>
          <a:lstStyle/>
          <a:p>
            <a:pPr indent="0" marL="0">
              <a:buNone/>
            </a:pPr>
            <a:r>
              <a:rPr lang="en-US" sz="1050" i="1" dirty="0">
                <a:solidFill>
                  <a:srgbClr val="7C8BA1"/>
                </a:solidFill>
                <a:latin typeface="Arial" pitchFamily="34" charset="0"/>
                <a:ea typeface="Arial" pitchFamily="34" charset="-122"/>
                <a:cs typeface="Arial" pitchFamily="34" charset="-120"/>
              </a:rPr>
              <a:t>Tempo di volo quasi istantaneo: SOI piccolissima e v∞ elevata in ingresso.</a:t>
            </a:r>
            <a:endParaRPr lang="en-US" sz="1050" dirty="0"/>
          </a:p>
        </p:txBody>
      </p:sp>
      <p:sp>
        <p:nvSpPr>
          <p:cNvPr id="27" name="Shape 21"/>
          <p:cNvSpPr/>
          <p:nvPr/>
        </p:nvSpPr>
        <p:spPr>
          <a:xfrm>
            <a:off x="6355080" y="1691640"/>
            <a:ext cx="5257800" cy="4480560"/>
          </a:xfrm>
          <a:prstGeom prst="roundRect">
            <a:avLst>
              <a:gd name="adj" fmla="val 1224"/>
            </a:avLst>
          </a:prstGeom>
          <a:solidFill>
            <a:srgbClr val="0B2243"/>
          </a:solidFill>
          <a:ln w="12700">
            <a:solidFill>
              <a:srgbClr val="102C53"/>
            </a:solidFill>
            <a:prstDash val="solid"/>
          </a:ln>
          <a:effectLst>
            <a:outerShdw sx="100000" sy="100000" kx="0" ky="0" algn="bl" rotWithShape="0" blurRad="114300" dist="38100" dir="5400000">
              <a:srgbClr val="6E7F95">
                <a:alpha val="20000"/>
              </a:srgbClr>
            </a:outerShdw>
          </a:effectLst>
        </p:spPr>
      </p:sp>
      <p:pic>
        <p:nvPicPr>
          <p:cNvPr id="28" name="Image 4" descr="/sessions/laughing-busy-clarke/mnt/outputs/gifs/sc3_cattura_ell.gif">    </p:cNvPr>
          <p:cNvPicPr>
            <a:picLocks noChangeAspect="1"/>
          </p:cNvPicPr>
          <p:nvPr/>
        </p:nvPicPr>
        <p:blipFill>
          <a:blip r:embed="rId5"/>
          <a:srcRect l="0" r="0" t="0" b="0"/>
          <a:stretch/>
        </p:blipFill>
        <p:spPr>
          <a:xfrm>
            <a:off x="6464808" y="1801368"/>
            <a:ext cx="5038344" cy="4023360"/>
          </a:xfrm>
          <a:prstGeom prst="rect">
            <a:avLst/>
          </a:prstGeom>
        </p:spPr>
      </p:pic>
      <p:sp>
        <p:nvSpPr>
          <p:cNvPr id="29" name="Shape 22"/>
          <p:cNvSpPr/>
          <p:nvPr/>
        </p:nvSpPr>
        <p:spPr>
          <a:xfrm>
            <a:off x="6501384" y="1837944"/>
            <a:ext cx="1280160" cy="310896"/>
          </a:xfrm>
          <a:prstGeom prst="roundRect">
            <a:avLst>
              <a:gd name="adj" fmla="val 50000"/>
            </a:avLst>
          </a:prstGeom>
          <a:solidFill>
            <a:srgbClr val="4DC9FF"/>
          </a:solidFill>
          <a:ln/>
        </p:spPr>
      </p:sp>
      <p:pic>
        <p:nvPicPr>
          <p:cNvPr id="30" name="Image 5" descr="preencoded.png">    </p:cNvPr>
          <p:cNvPicPr>
            <a:picLocks noChangeAspect="1"/>
          </p:cNvPicPr>
          <p:nvPr/>
        </p:nvPicPr>
        <p:blipFill>
          <a:blip r:embed="rId6"/>
          <a:stretch>
            <a:fillRect/>
          </a:stretch>
        </p:blipFill>
        <p:spPr>
          <a:xfrm>
            <a:off x="6592824" y="1897380"/>
            <a:ext cx="201168" cy="201168"/>
          </a:xfrm>
          <a:prstGeom prst="rect">
            <a:avLst/>
          </a:prstGeom>
        </p:spPr>
      </p:pic>
      <p:sp>
        <p:nvSpPr>
          <p:cNvPr id="31" name="Text 23"/>
          <p:cNvSpPr/>
          <p:nvPr/>
        </p:nvSpPr>
        <p:spPr>
          <a:xfrm>
            <a:off x="6812280" y="1837944"/>
            <a:ext cx="960120" cy="310896"/>
          </a:xfrm>
          <a:prstGeom prst="rect">
            <a:avLst/>
          </a:prstGeom>
          <a:noFill/>
          <a:ln/>
        </p:spPr>
        <p:txBody>
          <a:bodyPr wrap="square" lIns="0" tIns="0" rIns="0" bIns="0" rtlCol="0" anchor="ctr"/>
          <a:lstStyle/>
          <a:p>
            <a:pPr algn="l" indent="0" marL="0">
              <a:buNone/>
            </a:pPr>
            <a:r>
              <a:rPr lang="en-US" sz="900" b="1" spc="100" kern="0" dirty="0">
                <a:solidFill>
                  <a:srgbClr val="06335C"/>
                </a:solidFill>
                <a:latin typeface="Arial" pitchFamily="34" charset="0"/>
                <a:ea typeface="Arial" pitchFamily="34" charset="-122"/>
                <a:cs typeface="Arial" pitchFamily="34" charset="-120"/>
              </a:rPr>
              <a:t>ANIMAZIONE</a:t>
            </a:r>
            <a:endParaRPr lang="en-US" sz="900" dirty="0"/>
          </a:p>
        </p:txBody>
      </p:sp>
      <p:sp>
        <p:nvSpPr>
          <p:cNvPr id="32" name="Text 24"/>
          <p:cNvSpPr/>
          <p:nvPr/>
        </p:nvSpPr>
        <p:spPr>
          <a:xfrm>
            <a:off x="6464808" y="5879592"/>
            <a:ext cx="5038344" cy="219456"/>
          </a:xfrm>
          <a:prstGeom prst="rect">
            <a:avLst/>
          </a:prstGeom>
          <a:noFill/>
          <a:ln/>
        </p:spPr>
        <p:txBody>
          <a:bodyPr wrap="square" lIns="0" tIns="0" rIns="0" bIns="0" rtlCol="0" anchor="ctr"/>
          <a:lstStyle/>
          <a:p>
            <a:pPr algn="ctr" indent="0" marL="0">
              <a:buNone/>
            </a:pPr>
            <a:r>
              <a:rPr lang="en-US" sz="950" i="1" dirty="0">
                <a:solidFill>
                  <a:srgbClr val="AFC6E0"/>
                </a:solidFill>
                <a:latin typeface="Arial" pitchFamily="34" charset="0"/>
                <a:ea typeface="Arial" pitchFamily="34" charset="-122"/>
                <a:cs typeface="Arial" pitchFamily="34" charset="-120"/>
              </a:rPr>
              <a:t>Inserimento in orbita di cattura ellittica</a:t>
            </a:r>
            <a:endParaRPr lang="en-US" sz="950" dirty="0"/>
          </a:p>
        </p:txBody>
      </p:sp>
      <p:sp>
        <p:nvSpPr>
          <p:cNvPr id="33" name="Text 25"/>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34" name="Text 26"/>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CONCLUSIONI · 1/3</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Bilancio di missione: delta-V e tempi</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5852160" cy="914400"/>
        </p:xfrm>
        <a:graphic>
          <a:graphicData uri="http://schemas.openxmlformats.org/drawingml/2006/table">
            <a:tbl>
              <a:tblPr/>
              <a:tblGrid>
                <a:gridCol w="3108960"/>
                <a:gridCol w="1371600"/>
                <a:gridCol w="1371600"/>
              </a:tblGrid>
              <a:tr h="457200">
                <a:tc>
                  <a:txBody>
                    <a:bodyPr/>
                    <a:lstStyle/>
                    <a:p>
                      <a:pPr algn="l" indent="0" marL="0">
                        <a:buNone/>
                      </a:pPr>
                      <a:r>
                        <a:rPr lang="en-US" sz="1250" b="1" dirty="0">
                          <a:solidFill>
                            <a:srgbClr val="FFFFFF"/>
                          </a:solidFill>
                          <a:latin typeface="Arial" pitchFamily="34" charset="0"/>
                          <a:ea typeface="Arial" pitchFamily="34" charset="-122"/>
                          <a:cs typeface="Arial" pitchFamily="34" charset="-120"/>
                        </a:rPr>
                        <a:t>Fase di missione</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ΔV [km/s]</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Δt [giorni]</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102C53"/>
                    </a:solidFill>
                  </a:tcPr>
                </a:tc>
              </a:tr>
              <a:tr h="566928">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Manovre SC1  (circolarizzazione)</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2,8711</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112,04</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r h="566928">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Fuga dalla Terra  (iperbole 3D)</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3,7889</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4,38</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r h="566928">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Cattura sull'asteroide</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5,2297</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5475E"/>
                          </a:solidFill>
                          <a:latin typeface="Arial" pitchFamily="34" charset="0"/>
                          <a:ea typeface="Arial" pitchFamily="34" charset="-122"/>
                          <a:cs typeface="Arial" pitchFamily="34" charset="-120"/>
                        </a:rPr>
                        <a:t>95,48</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FFFFFF"/>
                    </a:solidFill>
                  </a:tcPr>
                </a:tc>
              </a:tr>
              <a:tr h="603504">
                <a:tc>
                  <a:txBody>
                    <a:bodyPr/>
                    <a:lstStyle/>
                    <a:p>
                      <a:pPr algn="ctr" indent="0" marL="0">
                        <a:buNone/>
                      </a:pPr>
                      <a:r>
                        <a:rPr lang="en-US" sz="1250" b="1" dirty="0">
                          <a:solidFill>
                            <a:srgbClr val="102C53"/>
                          </a:solidFill>
                          <a:latin typeface="Arial" pitchFamily="34" charset="0"/>
                          <a:ea typeface="Arial" pitchFamily="34" charset="-122"/>
                          <a:cs typeface="Arial" pitchFamily="34" charset="-120"/>
                        </a:rPr>
                        <a:t>TOTALE MISSIONE</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E7F6FF"/>
                    </a:solidFill>
                  </a:tcPr>
                </a:tc>
                <a:tc>
                  <a:txBody>
                    <a:bodyPr/>
                    <a:lstStyle/>
                    <a:p>
                      <a:pPr algn="ctr" indent="0" marL="0">
                        <a:buNone/>
                      </a:pPr>
                      <a:r>
                        <a:rPr lang="en-US" sz="1250" b="1" dirty="0">
                          <a:solidFill>
                            <a:srgbClr val="102C53"/>
                          </a:solidFill>
                          <a:latin typeface="Arial" pitchFamily="34" charset="0"/>
                          <a:ea typeface="Arial" pitchFamily="34" charset="-122"/>
                          <a:cs typeface="Arial" pitchFamily="34" charset="-120"/>
                        </a:rPr>
                        <a:t>11,8897</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E7F6FF"/>
                    </a:solidFill>
                  </a:tcPr>
                </a:tc>
                <a:tc>
                  <a:txBody>
                    <a:bodyPr/>
                    <a:lstStyle/>
                    <a:p>
                      <a:pPr algn="ctr" indent="0" marL="0">
                        <a:buNone/>
                      </a:pPr>
                      <a:r>
                        <a:rPr lang="en-US" sz="1250" b="1" dirty="0">
                          <a:solidFill>
                            <a:srgbClr val="102C53"/>
                          </a:solidFill>
                          <a:latin typeface="Arial" pitchFamily="34" charset="0"/>
                          <a:ea typeface="Arial" pitchFamily="34" charset="-122"/>
                          <a:cs typeface="Arial" pitchFamily="34" charset="-120"/>
                        </a:rPr>
                        <a:t>211,9</a:t>
                      </a:r>
                      <a:endParaRPr lang="en-US" sz="1250" dirty="0">
                        <a:latin typeface="Arial" charset="0"/>
                        <a:ea typeface="Arial" charset="0"/>
                        <a:cs typeface="Arial" charset="0"/>
                      </a:endParaRPr>
                    </a:p>
                  </a:txBody>
                  <a:tcPr marL="91440" marR="91440" marT="45720" marB="45720" anchor="ctr">
                    <a:lnL w="12700" cap="flat" cmpd="sng" algn="ctr">
                      <a:solidFill>
                        <a:srgbClr val="DBE3EE"/>
                      </a:solidFill>
                      <a:prstDash val="solid"/>
                      <a:round/>
                      <a:headEnd type="none" w="med" len="med"/>
                      <a:tailEnd type="none" w="med" len="med"/>
                    </a:lnL>
                    <a:lnR w="12700" cap="flat" cmpd="sng" algn="ctr">
                      <a:solidFill>
                        <a:srgbClr val="DBE3EE"/>
                      </a:solidFill>
                      <a:prstDash val="solid"/>
                      <a:round/>
                      <a:headEnd type="none" w="med" len="med"/>
                      <a:tailEnd type="none" w="med" len="med"/>
                    </a:lnR>
                    <a:lnT w="12700" cap="flat" cmpd="sng" algn="ctr">
                      <a:solidFill>
                        <a:srgbClr val="DBE3EE"/>
                      </a:solidFill>
                      <a:prstDash val="solid"/>
                      <a:round/>
                      <a:headEnd type="none" w="med" len="med"/>
                      <a:tailEnd type="none" w="med" len="med"/>
                    </a:lnT>
                    <a:lnB w="12700" cap="flat" cmpd="sng" algn="ctr">
                      <a:solidFill>
                        <a:srgbClr val="DBE3EE"/>
                      </a:solidFill>
                      <a:prstDash val="solid"/>
                      <a:round/>
                      <a:headEnd type="none" w="med" len="med"/>
                      <a:tailEnd type="none" w="med" len="med"/>
                    </a:lnB>
                    <a:solidFill>
                      <a:srgbClr val="E7F6FF"/>
                    </a:solidFill>
                  </a:tcPr>
                </a:tc>
              </a:tr>
            </a:tbl>
          </a:graphicData>
        </a:graphic>
      </p:graphicFrame>
      <p:sp>
        <p:nvSpPr>
          <p:cNvPr id="8" name="Shape 4"/>
          <p:cNvSpPr/>
          <p:nvPr/>
        </p:nvSpPr>
        <p:spPr>
          <a:xfrm>
            <a:off x="6720840" y="1828800"/>
            <a:ext cx="4892040" cy="1463040"/>
          </a:xfrm>
          <a:prstGeom prst="roundRect">
            <a:avLst>
              <a:gd name="adj" fmla="val 6250"/>
            </a:avLst>
          </a:prstGeom>
          <a:solidFill>
            <a:srgbClr val="102C53"/>
          </a:solidFill>
          <a:ln/>
          <a:effectLst>
            <a:outerShdw sx="100000" sy="100000" kx="0" ky="0" algn="bl" rotWithShape="0" blurRad="114300" dist="38100" dir="5400000">
              <a:srgbClr val="6E7F95">
                <a:alpha val="20000"/>
              </a:srgbClr>
            </a:outerShdw>
          </a:effectLst>
        </p:spPr>
      </p:sp>
      <p:pic>
        <p:nvPicPr>
          <p:cNvPr id="9" name="Image 1" descr="preencoded.png">    </p:cNvPr>
          <p:cNvPicPr>
            <a:picLocks noChangeAspect="1"/>
          </p:cNvPicPr>
          <p:nvPr/>
        </p:nvPicPr>
        <p:blipFill>
          <a:blip r:embed="rId2"/>
          <a:stretch>
            <a:fillRect/>
          </a:stretch>
        </p:blipFill>
        <p:spPr>
          <a:xfrm>
            <a:off x="6967728" y="2212848"/>
            <a:ext cx="457200" cy="457200"/>
          </a:xfrm>
          <a:prstGeom prst="rect">
            <a:avLst/>
          </a:prstGeom>
        </p:spPr>
      </p:pic>
      <p:sp>
        <p:nvSpPr>
          <p:cNvPr id="10" name="Text 5"/>
          <p:cNvSpPr/>
          <p:nvPr/>
        </p:nvSpPr>
        <p:spPr>
          <a:xfrm>
            <a:off x="7589520" y="1993392"/>
            <a:ext cx="3840480" cy="8686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11,89 </a:t>
            </a:r>
            <a:pPr indent="0" marL="0">
              <a:buNone/>
            </a:pPr>
            <a:r>
              <a:rPr lang="en-US" sz="1800" b="1" dirty="0">
                <a:solidFill>
                  <a:srgbClr val="4DC9FF"/>
                </a:solidFill>
              </a:rPr>
              <a:t>km/s</a:t>
            </a:r>
            <a:endParaRPr lang="en-US" sz="4000" dirty="0"/>
          </a:p>
        </p:txBody>
      </p:sp>
      <p:sp>
        <p:nvSpPr>
          <p:cNvPr id="11" name="Text 6"/>
          <p:cNvSpPr/>
          <p:nvPr/>
        </p:nvSpPr>
        <p:spPr>
          <a:xfrm>
            <a:off x="7607808" y="2788920"/>
            <a:ext cx="3840480" cy="365760"/>
          </a:xfrm>
          <a:prstGeom prst="rect">
            <a:avLst/>
          </a:prstGeom>
          <a:noFill/>
          <a:ln/>
        </p:spPr>
        <p:txBody>
          <a:bodyPr wrap="square" lIns="0" tIns="0" rIns="0" bIns="0" rtlCol="0" anchor="ctr"/>
          <a:lstStyle/>
          <a:p>
            <a:pPr indent="0" marL="0">
              <a:buNone/>
            </a:pPr>
            <a:r>
              <a:rPr lang="en-US" sz="1200" dirty="0">
                <a:solidFill>
                  <a:srgbClr val="C9DBF0"/>
                </a:solidFill>
                <a:latin typeface="Arial" pitchFamily="34" charset="0"/>
                <a:ea typeface="Arial" pitchFamily="34" charset="-122"/>
                <a:cs typeface="Arial" pitchFamily="34" charset="-120"/>
              </a:rPr>
              <a:t>delta-V totale della missione</a:t>
            </a:r>
            <a:endParaRPr lang="en-US" sz="1200" dirty="0"/>
          </a:p>
        </p:txBody>
      </p:sp>
      <p:sp>
        <p:nvSpPr>
          <p:cNvPr id="12" name="Shape 7"/>
          <p:cNvSpPr/>
          <p:nvPr/>
        </p:nvSpPr>
        <p:spPr>
          <a:xfrm>
            <a:off x="6720840" y="3456432"/>
            <a:ext cx="4892040" cy="1463040"/>
          </a:xfrm>
          <a:prstGeom prst="roundRect">
            <a:avLst>
              <a:gd name="adj" fmla="val 6250"/>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3" name="Shape 8"/>
          <p:cNvSpPr/>
          <p:nvPr/>
        </p:nvSpPr>
        <p:spPr>
          <a:xfrm>
            <a:off x="6967728" y="3840480"/>
            <a:ext cx="457200" cy="457200"/>
          </a:xfrm>
          <a:prstGeom prst="ellipse">
            <a:avLst/>
          </a:prstGeom>
          <a:solidFill>
            <a:srgbClr val="102C53"/>
          </a:solidFill>
          <a:ln/>
        </p:spPr>
      </p:sp>
      <p:pic>
        <p:nvPicPr>
          <p:cNvPr id="14" name="Image 2" descr="preencoded.png">    </p:cNvPr>
          <p:cNvPicPr>
            <a:picLocks noChangeAspect="1"/>
          </p:cNvPicPr>
          <p:nvPr/>
        </p:nvPicPr>
        <p:blipFill>
          <a:blip r:embed="rId3"/>
          <a:stretch>
            <a:fillRect/>
          </a:stretch>
        </p:blipFill>
        <p:spPr>
          <a:xfrm>
            <a:off x="6967728" y="3840480"/>
            <a:ext cx="457200" cy="457200"/>
          </a:xfrm>
          <a:prstGeom prst="rect">
            <a:avLst/>
          </a:prstGeom>
        </p:spPr>
      </p:pic>
      <p:sp>
        <p:nvSpPr>
          <p:cNvPr id="15" name="Text 9"/>
          <p:cNvSpPr/>
          <p:nvPr/>
        </p:nvSpPr>
        <p:spPr>
          <a:xfrm>
            <a:off x="7589520" y="3621024"/>
            <a:ext cx="3840480" cy="868680"/>
          </a:xfrm>
          <a:prstGeom prst="rect">
            <a:avLst/>
          </a:prstGeom>
          <a:noFill/>
          <a:ln/>
        </p:spPr>
        <p:txBody>
          <a:bodyPr wrap="square" lIns="0" tIns="0" rIns="0" bIns="0" rtlCol="0" anchor="ctr"/>
          <a:lstStyle/>
          <a:p>
            <a:pPr indent="0" marL="0">
              <a:buNone/>
            </a:pPr>
            <a:r>
              <a:rPr lang="en-US" sz="4000" b="1" dirty="0">
                <a:solidFill>
                  <a:srgbClr val="102C53"/>
                </a:solidFill>
                <a:latin typeface="Arial" pitchFamily="34" charset="0"/>
                <a:ea typeface="Arial" pitchFamily="34" charset="-122"/>
                <a:cs typeface="Arial" pitchFamily="34" charset="-120"/>
              </a:rPr>
              <a:t>≈ 212 </a:t>
            </a:r>
            <a:pPr indent="0" marL="0">
              <a:buNone/>
            </a:pPr>
            <a:r>
              <a:rPr lang="en-US" sz="1800" b="1" dirty="0">
                <a:solidFill>
                  <a:srgbClr val="1C82C0"/>
                </a:solidFill>
              </a:rPr>
              <a:t>giorni</a:t>
            </a:r>
            <a:endParaRPr lang="en-US" sz="4000" dirty="0"/>
          </a:p>
        </p:txBody>
      </p:sp>
      <p:sp>
        <p:nvSpPr>
          <p:cNvPr id="16" name="Text 10"/>
          <p:cNvSpPr/>
          <p:nvPr/>
        </p:nvSpPr>
        <p:spPr>
          <a:xfrm>
            <a:off x="7607808" y="4416552"/>
            <a:ext cx="3840480" cy="365760"/>
          </a:xfrm>
          <a:prstGeom prst="rect">
            <a:avLst/>
          </a:prstGeom>
          <a:noFill/>
          <a:ln/>
        </p:spPr>
        <p:txBody>
          <a:bodyPr wrap="square" lIns="0" tIns="0" rIns="0" bIns="0" rtlCol="0" anchor="ctr"/>
          <a:lstStyle/>
          <a:p>
            <a:pPr indent="0" marL="0">
              <a:buNone/>
            </a:pPr>
            <a:r>
              <a:rPr lang="en-US" sz="1200" dirty="0">
                <a:solidFill>
                  <a:srgbClr val="35475E"/>
                </a:solidFill>
                <a:latin typeface="Arial" pitchFamily="34" charset="0"/>
                <a:ea typeface="Arial" pitchFamily="34" charset="-122"/>
                <a:cs typeface="Arial" pitchFamily="34" charset="-120"/>
              </a:rPr>
              <a:t>tempo totale, dominato dalla soluzione dello SC1</a:t>
            </a:r>
            <a:endParaRPr lang="en-US" sz="1200" dirty="0"/>
          </a:p>
        </p:txBody>
      </p:sp>
      <p:sp>
        <p:nvSpPr>
          <p:cNvPr id="17" name="Text 11"/>
          <p:cNvSpPr/>
          <p:nvPr/>
        </p:nvSpPr>
        <p:spPr>
          <a:xfrm>
            <a:off x="566928" y="5440680"/>
            <a:ext cx="10972800" cy="457200"/>
          </a:xfrm>
          <a:prstGeom prst="rect">
            <a:avLst/>
          </a:prstGeom>
          <a:noFill/>
          <a:ln/>
        </p:spPr>
        <p:txBody>
          <a:bodyPr wrap="square" lIns="0" tIns="0" rIns="0" bIns="0" rtlCol="0" anchor="ctr"/>
          <a:lstStyle/>
          <a:p>
            <a:pPr indent="0" marL="0">
              <a:buNone/>
            </a:pPr>
            <a:r>
              <a:rPr lang="en-US" sz="1100" i="1" dirty="0">
                <a:solidFill>
                  <a:srgbClr val="7C8BA1"/>
                </a:solidFill>
                <a:latin typeface="Arial" pitchFamily="34" charset="0"/>
                <a:ea typeface="Arial" pitchFamily="34" charset="-122"/>
                <a:cs typeface="Arial" pitchFamily="34" charset="-120"/>
              </a:rPr>
              <a:t>Stima cautelativa: non include manovre di gravity assist ne' i margini statistici di sicurezza sulle manovre.</a:t>
            </a:r>
            <a:endParaRPr lang="en-US" sz="1100" dirty="0"/>
          </a:p>
        </p:txBody>
      </p:sp>
      <p:sp>
        <p:nvSpPr>
          <p:cNvPr id="18" name="Text 12"/>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19" name="Text 13"/>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CONCLUSIONI · 2/3</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Dal delta-V al propellente, al lanciatore</a:t>
            </a:r>
            <a:endParaRPr lang="en-US" sz="2600" dirty="0"/>
          </a:p>
        </p:txBody>
      </p:sp>
      <p:sp>
        <p:nvSpPr>
          <p:cNvPr id="6" name="Shape 3"/>
          <p:cNvSpPr/>
          <p:nvPr/>
        </p:nvSpPr>
        <p:spPr>
          <a:xfrm>
            <a:off x="566928" y="1463040"/>
            <a:ext cx="11055096" cy="0"/>
          </a:xfrm>
          <a:prstGeom prst="line">
            <a:avLst/>
          </a:prstGeom>
          <a:noFill/>
          <a:ln w="12700">
            <a:solidFill>
              <a:srgbClr val="DBE3EE"/>
            </a:solidFill>
            <a:prstDash val="solid"/>
          </a:ln>
        </p:spPr>
      </p:sp>
      <p:sp>
        <p:nvSpPr>
          <p:cNvPr id="7" name="Text 4"/>
          <p:cNvSpPr/>
          <p:nvPr/>
        </p:nvSpPr>
        <p:spPr>
          <a:xfrm>
            <a:off x="566928" y="1691640"/>
            <a:ext cx="5577840" cy="310896"/>
          </a:xfrm>
          <a:prstGeom prst="rect">
            <a:avLst/>
          </a:prstGeom>
          <a:noFill/>
          <a:ln/>
        </p:spPr>
        <p:txBody>
          <a:bodyPr wrap="square" lIns="0" tIns="0" rIns="0" bIns="0" rtlCol="0" anchor="ctr"/>
          <a:lstStyle/>
          <a:p>
            <a:pPr indent="0" marL="0">
              <a:buNone/>
            </a:pPr>
            <a:r>
              <a:rPr lang="en-US" sz="1300" b="1" dirty="0">
                <a:solidFill>
                  <a:srgbClr val="102C53"/>
                </a:solidFill>
                <a:latin typeface="Arial" pitchFamily="34" charset="0"/>
                <a:ea typeface="Arial" pitchFamily="34" charset="-122"/>
                <a:cs typeface="Arial" pitchFamily="34" charset="-120"/>
              </a:rPr>
              <a:t>Equazione di Tsiolkovsky</a:t>
            </a:r>
            <a:pPr indent="0" marL="0">
              <a:buNone/>
            </a:pPr>
            <a:r>
              <a:rPr lang="en-US" sz="1300" dirty="0">
                <a:solidFill>
                  <a:srgbClr val="35475E"/>
                </a:solidFill>
                <a:latin typeface="Arial" pitchFamily="34" charset="0"/>
                <a:ea typeface="Arial" pitchFamily="34" charset="-122"/>
                <a:cs typeface="Arial" pitchFamily="34" charset="-120"/>
              </a:rPr>
              <a:t>  ·  bipropellente LH₂/LOX, Isp = 450 s</a:t>
            </a:r>
            <a:endParaRPr lang="en-US" sz="1300" dirty="0"/>
          </a:p>
        </p:txBody>
      </p:sp>
      <p:sp>
        <p:nvSpPr>
          <p:cNvPr id="8" name="Shape 5"/>
          <p:cNvSpPr/>
          <p:nvPr/>
        </p:nvSpPr>
        <p:spPr>
          <a:xfrm>
            <a:off x="566928" y="2084832"/>
            <a:ext cx="5532120" cy="566928"/>
          </a:xfrm>
          <a:prstGeom prst="roundRect">
            <a:avLst>
              <a:gd name="adj" fmla="val 12903"/>
            </a:avLst>
          </a:prstGeom>
          <a:solidFill>
            <a:srgbClr val="EEF2F7"/>
          </a:solidFill>
          <a:ln w="12700">
            <a:solidFill>
              <a:srgbClr val="DBE3EE"/>
            </a:solidFill>
            <a:prstDash val="solid"/>
          </a:ln>
        </p:spPr>
      </p:sp>
      <p:sp>
        <p:nvSpPr>
          <p:cNvPr id="9" name="Text 6"/>
          <p:cNvSpPr/>
          <p:nvPr/>
        </p:nvSpPr>
        <p:spPr>
          <a:xfrm>
            <a:off x="566928" y="2084832"/>
            <a:ext cx="5532120" cy="566928"/>
          </a:xfrm>
          <a:prstGeom prst="rect">
            <a:avLst/>
          </a:prstGeom>
          <a:noFill/>
          <a:ln/>
        </p:spPr>
        <p:txBody>
          <a:bodyPr wrap="square" lIns="0" tIns="0" rIns="0" bIns="0" rtlCol="0" anchor="ctr"/>
          <a:lstStyle/>
          <a:p>
            <a:pPr algn="ctr" indent="0" marL="0">
              <a:buNone/>
            </a:pPr>
            <a:r>
              <a:rPr lang="en-US" sz="1500" b="1" i="1" dirty="0">
                <a:solidFill>
                  <a:srgbClr val="102C53"/>
                </a:solidFill>
                <a:latin typeface="Arial" pitchFamily="34" charset="0"/>
                <a:ea typeface="Arial" pitchFamily="34" charset="-122"/>
                <a:cs typeface="Arial" pitchFamily="34" charset="-120"/>
              </a:rPr>
              <a:t>mₚ / m₀ = 1 − e^(−ΔV / Isp·g₀)   =   93,24 %</a:t>
            </a:r>
            <a:endParaRPr lang="en-US" sz="1500" dirty="0"/>
          </a:p>
        </p:txBody>
      </p:sp>
      <p:sp>
        <p:nvSpPr>
          <p:cNvPr id="10" name="Shape 7"/>
          <p:cNvSpPr/>
          <p:nvPr/>
        </p:nvSpPr>
        <p:spPr>
          <a:xfrm>
            <a:off x="566928" y="2926080"/>
            <a:ext cx="493776" cy="493776"/>
          </a:xfrm>
          <a:prstGeom prst="ellipse">
            <a:avLst/>
          </a:prstGeom>
          <a:solidFill>
            <a:srgbClr val="102C53"/>
          </a:solidFill>
          <a:ln/>
        </p:spPr>
      </p:sp>
      <p:pic>
        <p:nvPicPr>
          <p:cNvPr id="11" name="Image 1" descr="preencoded.png">    </p:cNvPr>
          <p:cNvPicPr>
            <a:picLocks noChangeAspect="1"/>
          </p:cNvPicPr>
          <p:nvPr/>
        </p:nvPicPr>
        <p:blipFill>
          <a:blip r:embed="rId2"/>
          <a:stretch>
            <a:fillRect/>
          </a:stretch>
        </p:blipFill>
        <p:spPr>
          <a:xfrm>
            <a:off x="685800" y="3044952"/>
            <a:ext cx="256032" cy="256032"/>
          </a:xfrm>
          <a:prstGeom prst="rect">
            <a:avLst/>
          </a:prstGeom>
        </p:spPr>
      </p:pic>
      <p:sp>
        <p:nvSpPr>
          <p:cNvPr id="12" name="Text 8"/>
          <p:cNvSpPr/>
          <p:nvPr/>
        </p:nvSpPr>
        <p:spPr>
          <a:xfrm>
            <a:off x="1243584" y="2880360"/>
            <a:ext cx="484632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93,24% di propellente</a:t>
            </a:r>
            <a:endParaRPr lang="en-US" sz="1400" dirty="0"/>
          </a:p>
        </p:txBody>
      </p:sp>
      <p:sp>
        <p:nvSpPr>
          <p:cNvPr id="13" name="Text 9"/>
          <p:cNvSpPr/>
          <p:nvPr/>
        </p:nvSpPr>
        <p:spPr>
          <a:xfrm>
            <a:off x="1243584" y="3163824"/>
            <a:ext cx="484632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Con 500 kg di massa a secco, servono ≈ 7 400 kg al lancio, di cui ≈ 6,9 t di solo propellente.</a:t>
            </a:r>
            <a:endParaRPr lang="en-US" sz="1150" dirty="0"/>
          </a:p>
        </p:txBody>
      </p:sp>
      <p:sp>
        <p:nvSpPr>
          <p:cNvPr id="14" name="Shape 10"/>
          <p:cNvSpPr/>
          <p:nvPr/>
        </p:nvSpPr>
        <p:spPr>
          <a:xfrm>
            <a:off x="566928" y="3886200"/>
            <a:ext cx="493776" cy="493776"/>
          </a:xfrm>
          <a:prstGeom prst="ellipse">
            <a:avLst/>
          </a:prstGeom>
          <a:solidFill>
            <a:srgbClr val="102C53"/>
          </a:solidFill>
          <a:ln/>
        </p:spPr>
      </p:sp>
      <p:pic>
        <p:nvPicPr>
          <p:cNvPr id="15" name="Image 2" descr="preencoded.png">    </p:cNvPr>
          <p:cNvPicPr>
            <a:picLocks noChangeAspect="1"/>
          </p:cNvPicPr>
          <p:nvPr/>
        </p:nvPicPr>
        <p:blipFill>
          <a:blip r:embed="rId3"/>
          <a:stretch>
            <a:fillRect/>
          </a:stretch>
        </p:blipFill>
        <p:spPr>
          <a:xfrm>
            <a:off x="685800" y="4005072"/>
            <a:ext cx="256032" cy="256032"/>
          </a:xfrm>
          <a:prstGeom prst="rect">
            <a:avLst/>
          </a:prstGeom>
        </p:spPr>
      </p:pic>
      <p:sp>
        <p:nvSpPr>
          <p:cNvPr id="16" name="Text 11"/>
          <p:cNvSpPr/>
          <p:nvPr/>
        </p:nvSpPr>
        <p:spPr>
          <a:xfrm>
            <a:off x="1243584" y="3840480"/>
            <a:ext cx="4846320" cy="292608"/>
          </a:xfrm>
          <a:prstGeom prst="rect">
            <a:avLst/>
          </a:prstGeom>
          <a:noFill/>
          <a:ln/>
        </p:spPr>
        <p:txBody>
          <a:bodyPr wrap="square" lIns="0" tIns="0" rIns="0" bIns="0" rtlCol="0" anchor="ctr"/>
          <a:lstStyle/>
          <a:p>
            <a:pPr indent="0" marL="0">
              <a:buNone/>
            </a:pPr>
            <a:r>
              <a:rPr lang="en-US" sz="1400" b="1" dirty="0">
                <a:solidFill>
                  <a:srgbClr val="0E2342"/>
                </a:solidFill>
                <a:latin typeface="Arial" pitchFamily="34" charset="0"/>
                <a:ea typeface="Arial" pitchFamily="34" charset="-122"/>
                <a:cs typeface="Arial" pitchFamily="34" charset="-120"/>
              </a:rPr>
              <a:t>Lanciatore: Falcon Heavy (SpaceX)</a:t>
            </a:r>
            <a:endParaRPr lang="en-US" sz="1400" dirty="0"/>
          </a:p>
        </p:txBody>
      </p:sp>
      <p:sp>
        <p:nvSpPr>
          <p:cNvPr id="17" name="Text 12"/>
          <p:cNvSpPr/>
          <p:nvPr/>
        </p:nvSpPr>
        <p:spPr>
          <a:xfrm>
            <a:off x="1243584" y="4123944"/>
            <a:ext cx="4846320" cy="548640"/>
          </a:xfrm>
          <a:prstGeom prst="rect">
            <a:avLst/>
          </a:prstGeom>
          <a:noFill/>
          <a:ln/>
        </p:spPr>
        <p:txBody>
          <a:bodyPr wrap="square" lIns="0" tIns="0" rIns="0" bIns="0" rtlCol="0" anchor="ctr"/>
          <a:lstStyle/>
          <a:p>
            <a:pPr indent="0" marL="0">
              <a:lnSpc>
                <a:spcPct val="98000"/>
              </a:lnSpc>
              <a:buNone/>
            </a:pPr>
            <a:r>
              <a:rPr lang="en-US" sz="1150" dirty="0">
                <a:solidFill>
                  <a:srgbClr val="35475E"/>
                </a:solidFill>
                <a:latin typeface="Arial" pitchFamily="34" charset="0"/>
                <a:ea typeface="Arial" pitchFamily="34" charset="-122"/>
                <a:cs typeface="Arial" pitchFamily="34" charset="-120"/>
              </a:rPr>
              <a:t>Un lanciatore pesante per immettere ≈ 7,4 t su traiettoria interplanetaria.</a:t>
            </a:r>
            <a:endParaRPr lang="en-US" sz="1150" dirty="0"/>
          </a:p>
        </p:txBody>
      </p:sp>
      <p:sp>
        <p:nvSpPr>
          <p:cNvPr id="18" name="Shape 13"/>
          <p:cNvSpPr/>
          <p:nvPr/>
        </p:nvSpPr>
        <p:spPr>
          <a:xfrm>
            <a:off x="6720840" y="1737360"/>
            <a:ext cx="4892040" cy="3246120"/>
          </a:xfrm>
          <a:prstGeom prst="roundRect">
            <a:avLst>
              <a:gd name="adj" fmla="val 2817"/>
            </a:avLst>
          </a:prstGeom>
          <a:solidFill>
            <a:srgbClr val="FFFFFF"/>
          </a:solidFill>
          <a:ln w="12700">
            <a:solidFill>
              <a:srgbClr val="DBE3EE"/>
            </a:solidFill>
            <a:prstDash val="solid"/>
          </a:ln>
          <a:effectLst>
            <a:outerShdw sx="100000" sy="100000" kx="0" ky="0" algn="bl" rotWithShape="0" blurRad="114300" dist="38100" dir="5400000">
              <a:srgbClr val="6E7F95">
                <a:alpha val="20000"/>
              </a:srgbClr>
            </a:outerShdw>
          </a:effectLst>
        </p:spPr>
      </p:sp>
      <p:pic>
        <p:nvPicPr>
          <p:cNvPr id="19" name="Image 3" descr="preencoded.png">    </p:cNvPr>
          <p:cNvPicPr>
            <a:picLocks noChangeAspect="1"/>
          </p:cNvPicPr>
          <p:nvPr/>
        </p:nvPicPr>
        <p:blipFill>
          <a:blip r:embed="rId4"/>
          <a:stretch>
            <a:fillRect/>
          </a:stretch>
        </p:blipFill>
        <p:spPr>
          <a:xfrm>
            <a:off x="6967728" y="1938528"/>
            <a:ext cx="365760" cy="365760"/>
          </a:xfrm>
          <a:prstGeom prst="rect">
            <a:avLst/>
          </a:prstGeom>
        </p:spPr>
      </p:pic>
      <p:sp>
        <p:nvSpPr>
          <p:cNvPr id="20" name="Text 14"/>
          <p:cNvSpPr/>
          <p:nvPr/>
        </p:nvSpPr>
        <p:spPr>
          <a:xfrm>
            <a:off x="7406640" y="1920240"/>
            <a:ext cx="3931920" cy="384048"/>
          </a:xfrm>
          <a:prstGeom prst="rect">
            <a:avLst/>
          </a:prstGeom>
          <a:noFill/>
          <a:ln/>
        </p:spPr>
        <p:txBody>
          <a:bodyPr wrap="square" lIns="0" tIns="0" rIns="0" bIns="0" rtlCol="0" anchor="ctr"/>
          <a:lstStyle/>
          <a:p>
            <a:pPr indent="0" marL="0">
              <a:buNone/>
            </a:pPr>
            <a:r>
              <a:rPr lang="en-US" sz="1400" b="1" dirty="0">
                <a:solidFill>
                  <a:srgbClr val="102C53"/>
                </a:solidFill>
                <a:latin typeface="Arial" pitchFamily="34" charset="0"/>
                <a:ea typeface="Arial" pitchFamily="34" charset="-122"/>
                <a:cs typeface="Arial" pitchFamily="34" charset="-120"/>
              </a:rPr>
              <a:t>Stima economica diretta</a:t>
            </a:r>
            <a:endParaRPr lang="en-US" sz="1400" dirty="0"/>
          </a:p>
        </p:txBody>
      </p:sp>
      <p:sp>
        <p:nvSpPr>
          <p:cNvPr id="21" name="Text 15"/>
          <p:cNvSpPr/>
          <p:nvPr/>
        </p:nvSpPr>
        <p:spPr>
          <a:xfrm>
            <a:off x="7424928" y="2304288"/>
            <a:ext cx="3931920" cy="201168"/>
          </a:xfrm>
          <a:prstGeom prst="rect">
            <a:avLst/>
          </a:prstGeom>
          <a:noFill/>
          <a:ln/>
        </p:spPr>
        <p:txBody>
          <a:bodyPr wrap="square" lIns="0" tIns="0" rIns="0" bIns="0" rtlCol="0" anchor="ctr"/>
          <a:lstStyle/>
          <a:p>
            <a:pPr indent="0" marL="0">
              <a:buNone/>
            </a:pPr>
            <a:r>
              <a:rPr lang="en-US" sz="950" i="1" dirty="0">
                <a:solidFill>
                  <a:srgbClr val="7C8BA1"/>
                </a:solidFill>
                <a:latin typeface="Arial" pitchFamily="34" charset="0"/>
                <a:ea typeface="Arial" pitchFamily="34" charset="-122"/>
                <a:cs typeface="Arial" pitchFamily="34" charset="-120"/>
              </a:rPr>
              <a:t>valori in milioni di $</a:t>
            </a:r>
            <a:endParaRPr lang="en-US" sz="950" dirty="0"/>
          </a:p>
        </p:txBody>
      </p:sp>
      <p:sp>
        <p:nvSpPr>
          <p:cNvPr id="22" name="Text 16"/>
          <p:cNvSpPr/>
          <p:nvPr/>
        </p:nvSpPr>
        <p:spPr>
          <a:xfrm>
            <a:off x="6967728" y="2487168"/>
            <a:ext cx="3246120" cy="384048"/>
          </a:xfrm>
          <a:prstGeom prst="rect">
            <a:avLst/>
          </a:prstGeom>
          <a:noFill/>
          <a:ln/>
        </p:spPr>
        <p:txBody>
          <a:bodyPr wrap="square" lIns="0" tIns="0" rIns="0" bIns="0" rtlCol="0" anchor="ctr"/>
          <a:lstStyle/>
          <a:p>
            <a:pPr indent="0" marL="0">
              <a:buNone/>
            </a:pPr>
            <a:r>
              <a:rPr lang="en-US" sz="1150" dirty="0">
                <a:solidFill>
                  <a:srgbClr val="35475E"/>
                </a:solidFill>
                <a:latin typeface="Arial" pitchFamily="34" charset="0"/>
                <a:ea typeface="Arial" pitchFamily="34" charset="-122"/>
                <a:cs typeface="Arial" pitchFamily="34" charset="-120"/>
              </a:rPr>
              <a:t>Lanciatore pesante (Falcon Heavy)</a:t>
            </a:r>
            <a:endParaRPr lang="en-US" sz="1150" dirty="0"/>
          </a:p>
        </p:txBody>
      </p:sp>
      <p:sp>
        <p:nvSpPr>
          <p:cNvPr id="23" name="Text 17"/>
          <p:cNvSpPr/>
          <p:nvPr/>
        </p:nvSpPr>
        <p:spPr>
          <a:xfrm>
            <a:off x="10241280" y="2487168"/>
            <a:ext cx="1143000" cy="384048"/>
          </a:xfrm>
          <a:prstGeom prst="rect">
            <a:avLst/>
          </a:prstGeom>
          <a:noFill/>
          <a:ln/>
        </p:spPr>
        <p:txBody>
          <a:bodyPr wrap="square" lIns="0" tIns="0" rIns="0" bIns="0" rtlCol="0" anchor="ctr"/>
          <a:lstStyle/>
          <a:p>
            <a:pPr algn="r" indent="0" marL="0">
              <a:buNone/>
            </a:pPr>
            <a:r>
              <a:rPr lang="en-US" sz="1250" b="1" dirty="0">
                <a:solidFill>
                  <a:srgbClr val="0E2342"/>
                </a:solidFill>
                <a:latin typeface="Arial" pitchFamily="34" charset="0"/>
                <a:ea typeface="Arial" pitchFamily="34" charset="-122"/>
                <a:cs typeface="Arial" pitchFamily="34" charset="-120"/>
              </a:rPr>
              <a:t>150,0</a:t>
            </a:r>
            <a:endParaRPr lang="en-US" sz="1250" dirty="0"/>
          </a:p>
        </p:txBody>
      </p:sp>
      <p:sp>
        <p:nvSpPr>
          <p:cNvPr id="24" name="Text 18"/>
          <p:cNvSpPr/>
          <p:nvPr/>
        </p:nvSpPr>
        <p:spPr>
          <a:xfrm>
            <a:off x="6967728" y="2944368"/>
            <a:ext cx="3246120" cy="384048"/>
          </a:xfrm>
          <a:prstGeom prst="rect">
            <a:avLst/>
          </a:prstGeom>
          <a:noFill/>
          <a:ln/>
        </p:spPr>
        <p:txBody>
          <a:bodyPr wrap="square" lIns="0" tIns="0" rIns="0" bIns="0" rtlCol="0" anchor="ctr"/>
          <a:lstStyle/>
          <a:p>
            <a:pPr indent="0" marL="0">
              <a:buNone/>
            </a:pPr>
            <a:r>
              <a:rPr lang="en-US" sz="1150" dirty="0">
                <a:solidFill>
                  <a:srgbClr val="35475E"/>
                </a:solidFill>
                <a:latin typeface="Arial" pitchFamily="34" charset="0"/>
                <a:ea typeface="Arial" pitchFamily="34" charset="-122"/>
                <a:cs typeface="Arial" pitchFamily="34" charset="-120"/>
              </a:rPr>
              <a:t>Propellente criogenico (≈6,9 t)</a:t>
            </a:r>
            <a:endParaRPr lang="en-US" sz="1150" dirty="0"/>
          </a:p>
        </p:txBody>
      </p:sp>
      <p:sp>
        <p:nvSpPr>
          <p:cNvPr id="25" name="Text 19"/>
          <p:cNvSpPr/>
          <p:nvPr/>
        </p:nvSpPr>
        <p:spPr>
          <a:xfrm>
            <a:off x="10241280" y="2944368"/>
            <a:ext cx="1143000" cy="384048"/>
          </a:xfrm>
          <a:prstGeom prst="rect">
            <a:avLst/>
          </a:prstGeom>
          <a:noFill/>
          <a:ln/>
        </p:spPr>
        <p:txBody>
          <a:bodyPr wrap="square" lIns="0" tIns="0" rIns="0" bIns="0" rtlCol="0" anchor="ctr"/>
          <a:lstStyle/>
          <a:p>
            <a:pPr algn="r" indent="0" marL="0">
              <a:buNone/>
            </a:pPr>
            <a:r>
              <a:rPr lang="en-US" sz="1250" b="1" dirty="0">
                <a:solidFill>
                  <a:srgbClr val="0E2342"/>
                </a:solidFill>
                <a:latin typeface="Arial" pitchFamily="34" charset="0"/>
                <a:ea typeface="Arial" pitchFamily="34" charset="-122"/>
                <a:cs typeface="Arial" pitchFamily="34" charset="-120"/>
              </a:rPr>
              <a:t>0,2</a:t>
            </a:r>
            <a:endParaRPr lang="en-US" sz="1250" dirty="0"/>
          </a:p>
        </p:txBody>
      </p:sp>
      <p:sp>
        <p:nvSpPr>
          <p:cNvPr id="26" name="Text 20"/>
          <p:cNvSpPr/>
          <p:nvPr/>
        </p:nvSpPr>
        <p:spPr>
          <a:xfrm>
            <a:off x="6967728" y="3401568"/>
            <a:ext cx="3246120" cy="384048"/>
          </a:xfrm>
          <a:prstGeom prst="rect">
            <a:avLst/>
          </a:prstGeom>
          <a:noFill/>
          <a:ln/>
        </p:spPr>
        <p:txBody>
          <a:bodyPr wrap="square" lIns="0" tIns="0" rIns="0" bIns="0" rtlCol="0" anchor="ctr"/>
          <a:lstStyle/>
          <a:p>
            <a:pPr indent="0" marL="0">
              <a:buNone/>
            </a:pPr>
            <a:r>
              <a:rPr lang="en-US" sz="1150" dirty="0">
                <a:solidFill>
                  <a:srgbClr val="35475E"/>
                </a:solidFill>
                <a:latin typeface="Arial" pitchFamily="34" charset="0"/>
                <a:ea typeface="Arial" pitchFamily="34" charset="-122"/>
                <a:cs typeface="Arial" pitchFamily="34" charset="-120"/>
              </a:rPr>
              <a:t>Operazioni di missione + rete DSN</a:t>
            </a:r>
            <a:endParaRPr lang="en-US" sz="1150" dirty="0"/>
          </a:p>
        </p:txBody>
      </p:sp>
      <p:sp>
        <p:nvSpPr>
          <p:cNvPr id="27" name="Text 21"/>
          <p:cNvSpPr/>
          <p:nvPr/>
        </p:nvSpPr>
        <p:spPr>
          <a:xfrm>
            <a:off x="10241280" y="3401568"/>
            <a:ext cx="1143000" cy="384048"/>
          </a:xfrm>
          <a:prstGeom prst="rect">
            <a:avLst/>
          </a:prstGeom>
          <a:noFill/>
          <a:ln/>
        </p:spPr>
        <p:txBody>
          <a:bodyPr wrap="square" lIns="0" tIns="0" rIns="0" bIns="0" rtlCol="0" anchor="ctr"/>
          <a:lstStyle/>
          <a:p>
            <a:pPr algn="r" indent="0" marL="0">
              <a:buNone/>
            </a:pPr>
            <a:r>
              <a:rPr lang="en-US" sz="1250" b="1" dirty="0">
                <a:solidFill>
                  <a:srgbClr val="0E2342"/>
                </a:solidFill>
                <a:latin typeface="Arial" pitchFamily="34" charset="0"/>
                <a:ea typeface="Arial" pitchFamily="34" charset="-122"/>
                <a:cs typeface="Arial" pitchFamily="34" charset="-120"/>
              </a:rPr>
              <a:t>40,0</a:t>
            </a:r>
            <a:endParaRPr lang="en-US" sz="1250" dirty="0"/>
          </a:p>
        </p:txBody>
      </p:sp>
      <p:sp>
        <p:nvSpPr>
          <p:cNvPr id="28" name="Shape 22"/>
          <p:cNvSpPr/>
          <p:nvPr/>
        </p:nvSpPr>
        <p:spPr>
          <a:xfrm>
            <a:off x="6967728" y="3913632"/>
            <a:ext cx="4416552" cy="0"/>
          </a:xfrm>
          <a:prstGeom prst="line">
            <a:avLst/>
          </a:prstGeom>
          <a:noFill/>
          <a:ln w="12700">
            <a:solidFill>
              <a:srgbClr val="DBE3EE"/>
            </a:solidFill>
            <a:prstDash val="solid"/>
          </a:ln>
        </p:spPr>
      </p:sp>
      <p:sp>
        <p:nvSpPr>
          <p:cNvPr id="29" name="Text 23"/>
          <p:cNvSpPr/>
          <p:nvPr/>
        </p:nvSpPr>
        <p:spPr>
          <a:xfrm>
            <a:off x="6967728" y="4023360"/>
            <a:ext cx="2743200" cy="457200"/>
          </a:xfrm>
          <a:prstGeom prst="rect">
            <a:avLst/>
          </a:prstGeom>
          <a:noFill/>
          <a:ln/>
        </p:spPr>
        <p:txBody>
          <a:bodyPr wrap="square" lIns="0" tIns="0" rIns="0" bIns="0" rtlCol="0" anchor="ctr"/>
          <a:lstStyle/>
          <a:p>
            <a:pPr indent="0" marL="0">
              <a:buNone/>
            </a:pPr>
            <a:r>
              <a:rPr lang="en-US" sz="1250" b="1" dirty="0">
                <a:solidFill>
                  <a:srgbClr val="102C53"/>
                </a:solidFill>
                <a:latin typeface="Arial" pitchFamily="34" charset="0"/>
                <a:ea typeface="Arial" pitchFamily="34" charset="-122"/>
                <a:cs typeface="Arial" pitchFamily="34" charset="-120"/>
              </a:rPr>
              <a:t>Costo totale stimato</a:t>
            </a:r>
            <a:endParaRPr lang="en-US" sz="1250" dirty="0"/>
          </a:p>
        </p:txBody>
      </p:sp>
      <p:sp>
        <p:nvSpPr>
          <p:cNvPr id="30" name="Text 24"/>
          <p:cNvSpPr/>
          <p:nvPr/>
        </p:nvSpPr>
        <p:spPr>
          <a:xfrm>
            <a:off x="8869680" y="4023360"/>
            <a:ext cx="2514600" cy="502920"/>
          </a:xfrm>
          <a:prstGeom prst="rect">
            <a:avLst/>
          </a:prstGeom>
          <a:noFill/>
          <a:ln/>
        </p:spPr>
        <p:txBody>
          <a:bodyPr wrap="square" lIns="0" tIns="0" rIns="0" bIns="0" rtlCol="0" anchor="ctr"/>
          <a:lstStyle/>
          <a:p>
            <a:pPr algn="r" indent="0" marL="0">
              <a:buNone/>
            </a:pPr>
            <a:r>
              <a:rPr lang="en-US" sz="2600" b="1" dirty="0">
                <a:solidFill>
                  <a:srgbClr val="1C82C0"/>
                </a:solidFill>
                <a:latin typeface="Arial" pitchFamily="34" charset="0"/>
                <a:ea typeface="Arial" pitchFamily="34" charset="-122"/>
                <a:cs typeface="Arial" pitchFamily="34" charset="-120"/>
              </a:rPr>
              <a:t>≈ 190,2 </a:t>
            </a:r>
            <a:pPr algn="r" indent="0" marL="0">
              <a:buNone/>
            </a:pPr>
            <a:r>
              <a:rPr lang="en-US" sz="1400" b="1" dirty="0">
                <a:solidFill>
                  <a:srgbClr val="1C82C0"/>
                </a:solidFill>
              </a:rPr>
              <a:t>M$</a:t>
            </a:r>
            <a:endParaRPr lang="en-US" sz="2600" dirty="0"/>
          </a:p>
        </p:txBody>
      </p:sp>
      <p:sp>
        <p:nvSpPr>
          <p:cNvPr id="31" name="Text 25"/>
          <p:cNvSpPr/>
          <p:nvPr/>
        </p:nvSpPr>
        <p:spPr>
          <a:xfrm>
            <a:off x="566928" y="5257800"/>
            <a:ext cx="11018520" cy="548640"/>
          </a:xfrm>
          <a:prstGeom prst="rect">
            <a:avLst/>
          </a:prstGeom>
          <a:noFill/>
          <a:ln/>
        </p:spPr>
        <p:txBody>
          <a:bodyPr wrap="square" lIns="0" tIns="0" rIns="0" bIns="0" rtlCol="0" anchor="ctr"/>
          <a:lstStyle/>
          <a:p>
            <a:pPr indent="0" marL="0">
              <a:lnSpc>
                <a:spcPct val="100000"/>
              </a:lnSpc>
              <a:buNone/>
            </a:pPr>
            <a:r>
              <a:rPr lang="en-US" sz="1100" i="1" dirty="0">
                <a:solidFill>
                  <a:srgbClr val="7C8BA1"/>
                </a:solidFill>
                <a:latin typeface="Arial" pitchFamily="34" charset="0"/>
                <a:ea typeface="Arial" pitchFamily="34" charset="-122"/>
                <a:cs typeface="Arial" pitchFamily="34" charset="-120"/>
              </a:rPr>
              <a:t>Riferimento reale: la missione OSIRIS-REx (NASA) ha raggiunto l'asteroide Bennu con propulsione termochimica, riportando campioni a Terra.</a:t>
            </a:r>
            <a:endParaRPr lang="en-US" sz="1100" dirty="0"/>
          </a:p>
        </p:txBody>
      </p:sp>
      <p:sp>
        <p:nvSpPr>
          <p:cNvPr id="32" name="Text 26"/>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33" name="Text 27"/>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sessions/laughing-busy-clarke/mnt/outputs/polimi/logo_blue.png">    </p:cNvPr>
          <p:cNvPicPr>
            <a:picLocks noChangeAspect="1"/>
          </p:cNvPicPr>
          <p:nvPr/>
        </p:nvPicPr>
        <p:blipFill>
          <a:blip r:embed="rId1"/>
          <a:stretch>
            <a:fillRect/>
          </a:stretch>
        </p:blipFill>
        <p:spPr>
          <a:xfrm>
            <a:off x="9902952" y="292608"/>
            <a:ext cx="1719072" cy="393192"/>
          </a:xfrm>
          <a:prstGeom prst="rect">
            <a:avLst/>
          </a:prstGeom>
        </p:spPr>
      </p:pic>
      <p:sp>
        <p:nvSpPr>
          <p:cNvPr id="3" name="Shape 0"/>
          <p:cNvSpPr/>
          <p:nvPr/>
        </p:nvSpPr>
        <p:spPr>
          <a:xfrm>
            <a:off x="566928" y="475488"/>
            <a:ext cx="118872" cy="118872"/>
          </a:xfrm>
          <a:prstGeom prst="rect">
            <a:avLst/>
          </a:prstGeom>
          <a:solidFill>
            <a:srgbClr val="4DC9FF"/>
          </a:solidFill>
          <a:ln/>
        </p:spPr>
      </p:sp>
      <p:sp>
        <p:nvSpPr>
          <p:cNvPr id="4" name="Text 1"/>
          <p:cNvSpPr/>
          <p:nvPr/>
        </p:nvSpPr>
        <p:spPr>
          <a:xfrm>
            <a:off x="786384" y="384048"/>
            <a:ext cx="7315200" cy="310896"/>
          </a:xfrm>
          <a:prstGeom prst="rect">
            <a:avLst/>
          </a:prstGeom>
          <a:noFill/>
          <a:ln/>
        </p:spPr>
        <p:txBody>
          <a:bodyPr wrap="square" lIns="0" tIns="0" rIns="0" bIns="0" rtlCol="0" anchor="ctr"/>
          <a:lstStyle/>
          <a:p>
            <a:pPr indent="0" marL="0">
              <a:buNone/>
            </a:pPr>
            <a:r>
              <a:rPr lang="en-US" sz="1200" b="1" spc="200" kern="0" dirty="0">
                <a:solidFill>
                  <a:srgbClr val="1C82C0"/>
                </a:solidFill>
                <a:latin typeface="Arial" pitchFamily="34" charset="0"/>
                <a:ea typeface="Arial" pitchFamily="34" charset="-122"/>
                <a:cs typeface="Arial" pitchFamily="34" charset="-120"/>
              </a:rPr>
              <a:t>CONCLUSIONI · 3/3</a:t>
            </a:r>
            <a:endParaRPr lang="en-US" sz="1200" dirty="0"/>
          </a:p>
        </p:txBody>
      </p:sp>
      <p:sp>
        <p:nvSpPr>
          <p:cNvPr id="5" name="Text 2"/>
          <p:cNvSpPr/>
          <p:nvPr/>
        </p:nvSpPr>
        <p:spPr>
          <a:xfrm>
            <a:off x="566928" y="713232"/>
            <a:ext cx="8586216" cy="658368"/>
          </a:xfrm>
          <a:prstGeom prst="rect">
            <a:avLst/>
          </a:prstGeom>
          <a:noFill/>
          <a:ln/>
        </p:spPr>
        <p:txBody>
          <a:bodyPr wrap="square" lIns="0" tIns="0" rIns="0" bIns="0" rtlCol="0" anchor="ctr"/>
          <a:lstStyle/>
          <a:p>
            <a:pPr indent="0" marL="0">
              <a:buNone/>
            </a:pPr>
            <a:r>
              <a:rPr lang="en-US" sz="2600" b="1" dirty="0">
                <a:solidFill>
                  <a:srgbClr val="102C53"/>
                </a:solidFill>
                <a:latin typeface="Arial" pitchFamily="34" charset="0"/>
                <a:ea typeface="Arial" pitchFamily="34" charset="-122"/>
                <a:cs typeface="Arial" pitchFamily="34" charset="-120"/>
              </a:rPr>
              <a:t>Considerazioni finali e fattibilita'</a:t>
            </a:r>
            <a:endParaRPr lang="en-US" sz="2600" dirty="0"/>
          </a:p>
        </p:txBody>
      </p:sp>
      <p:sp>
        <p:nvSpPr>
          <p:cNvPr id="6" name="Shape 3"/>
          <p:cNvSpPr/>
          <p:nvPr/>
        </p:nvSpPr>
        <p:spPr>
          <a:xfrm>
            <a:off x="9793224" y="841248"/>
            <a:ext cx="1828800" cy="365760"/>
          </a:xfrm>
          <a:prstGeom prst="roundRect">
            <a:avLst>
              <a:gd name="adj" fmla="val 50000"/>
            </a:avLst>
          </a:prstGeom>
          <a:solidFill>
            <a:srgbClr val="E7F6FF"/>
          </a:solidFill>
          <a:ln w="12700">
            <a:solidFill>
              <a:srgbClr val="4DC9FF"/>
            </a:solidFill>
            <a:prstDash val="solid"/>
          </a:ln>
        </p:spPr>
      </p:sp>
      <p:sp>
        <p:nvSpPr>
          <p:cNvPr id="7" name="Text 4"/>
          <p:cNvSpPr/>
          <p:nvPr/>
        </p:nvSpPr>
        <p:spPr>
          <a:xfrm>
            <a:off x="9793224" y="841248"/>
            <a:ext cx="1828800" cy="365760"/>
          </a:xfrm>
          <a:prstGeom prst="rect">
            <a:avLst/>
          </a:prstGeom>
          <a:noFill/>
          <a:ln/>
        </p:spPr>
        <p:txBody>
          <a:bodyPr wrap="square" lIns="0" tIns="0" rIns="0" bIns="0" rtlCol="0" anchor="ctr"/>
          <a:lstStyle/>
          <a:p>
            <a:pPr algn="ctr" indent="0" marL="0">
              <a:buNone/>
            </a:pPr>
            <a:r>
              <a:rPr lang="en-US" sz="1000" b="1" spc="150" kern="0" dirty="0">
                <a:solidFill>
                  <a:srgbClr val="1C82C0"/>
                </a:solidFill>
                <a:latin typeface="Arial" pitchFamily="34" charset="0"/>
                <a:ea typeface="Arial" pitchFamily="34" charset="-122"/>
                <a:cs typeface="Arial" pitchFamily="34" charset="-120"/>
              </a:rPr>
              <a:t>APPROFONDIMENTO</a:t>
            </a:r>
            <a:endParaRPr lang="en-US" sz="1000" dirty="0"/>
          </a:p>
        </p:txBody>
      </p:sp>
      <p:sp>
        <p:nvSpPr>
          <p:cNvPr id="8" name="Shape 5"/>
          <p:cNvSpPr/>
          <p:nvPr/>
        </p:nvSpPr>
        <p:spPr>
          <a:xfrm>
            <a:off x="566928" y="1463040"/>
            <a:ext cx="11055096" cy="0"/>
          </a:xfrm>
          <a:prstGeom prst="line">
            <a:avLst/>
          </a:prstGeom>
          <a:noFill/>
          <a:ln w="12700">
            <a:solidFill>
              <a:srgbClr val="DBE3EE"/>
            </a:solidFill>
            <a:prstDash val="solid"/>
          </a:ln>
        </p:spPr>
      </p:sp>
      <p:sp>
        <p:nvSpPr>
          <p:cNvPr id="9" name="Text 6"/>
          <p:cNvSpPr/>
          <p:nvPr/>
        </p:nvSpPr>
        <p:spPr>
          <a:xfrm>
            <a:off x="566928" y="1691640"/>
            <a:ext cx="10881360" cy="1371600"/>
          </a:xfrm>
          <a:prstGeom prst="rect">
            <a:avLst/>
          </a:prstGeom>
          <a:noFill/>
          <a:ln/>
        </p:spPr>
        <p:txBody>
          <a:bodyPr wrap="square" lIns="0" tIns="0" rIns="0" bIns="0" rtlCol="0" anchor="t"/>
          <a:lstStyle/>
          <a:p>
            <a:pPr algn="l" indent="0" marL="0">
              <a:lnSpc>
                <a:spcPct val="112000"/>
              </a:lnSpc>
              <a:buNone/>
            </a:pPr>
            <a:r>
              <a:rPr lang="en-US" sz="1250" b="1" dirty="0">
                <a:solidFill>
                  <a:srgbClr val="102C53"/>
                </a:solidFill>
                <a:latin typeface="Arial" pitchFamily="34" charset="0"/>
                <a:ea typeface="Arial" pitchFamily="34" charset="-122"/>
                <a:cs typeface="Arial" pitchFamily="34" charset="-120"/>
              </a:rPr>
              <a:t>Validita' dell'ipotesi impulsiva. </a:t>
            </a:r>
            <a:pPr algn="l" indent="0" marL="0">
              <a:lnSpc>
                <a:spcPct val="112000"/>
              </a:lnSpc>
              <a:buNone/>
            </a:pPr>
            <a:r>
              <a:rPr lang="en-US" sz="1250" dirty="0">
                <a:solidFill>
                  <a:srgbClr val="35475E"/>
                </a:solidFill>
                <a:latin typeface="Arial" pitchFamily="34" charset="0"/>
                <a:ea typeface="Arial" pitchFamily="34" charset="-122"/>
                <a:cs typeface="Arial" pitchFamily="34" charset="-120"/>
              </a:rPr>
              <a:t>La modellazione impulsiva e' accurata per i motori termochimici, che raggiungono i delta-V richiesti in tempi brevi; sarebbe invece inadeguata per i propulsori elettrici, che a spinta ridotta richiederebbero tempi lunghi e farebbero decadere l'applicabilita' dell'equazione del razzo. Un esempio reale e' OSIRIS-REx, che con propulsione termochimica ha raggiunto Bennu e riportato campioni a Terra.</a:t>
            </a:r>
            <a:endParaRPr lang="en-US" sz="1250" dirty="0"/>
          </a:p>
        </p:txBody>
      </p:sp>
      <p:sp>
        <p:nvSpPr>
          <p:cNvPr id="10" name="Text 7"/>
          <p:cNvSpPr/>
          <p:nvPr/>
        </p:nvSpPr>
        <p:spPr>
          <a:xfrm>
            <a:off x="566928" y="3200400"/>
            <a:ext cx="5440680" cy="2286000"/>
          </a:xfrm>
          <a:prstGeom prst="rect">
            <a:avLst/>
          </a:prstGeom>
          <a:noFill/>
          <a:ln/>
        </p:spPr>
        <p:txBody>
          <a:bodyPr wrap="square" lIns="0" tIns="0" rIns="0" bIns="0" rtlCol="0" anchor="t"/>
          <a:lstStyle/>
          <a:p>
            <a:pPr algn="l" indent="0" marL="0">
              <a:lnSpc>
                <a:spcPct val="112000"/>
              </a:lnSpc>
              <a:buNone/>
            </a:pPr>
            <a:r>
              <a:rPr lang="en-US" sz="1200" b="1" dirty="0">
                <a:solidFill>
                  <a:srgbClr val="102C53"/>
                </a:solidFill>
                <a:latin typeface="Arial" pitchFamily="34" charset="0"/>
                <a:ea typeface="Arial" pitchFamily="34" charset="-122"/>
                <a:cs typeface="Arial" pitchFamily="34" charset="-120"/>
              </a:rPr>
              <a:t>Frazione di propellente. </a:t>
            </a:r>
            <a:pPr algn="l" indent="0" marL="0">
              <a:lnSpc>
                <a:spcPct val="112000"/>
              </a:lnSpc>
              <a:buNone/>
            </a:pPr>
            <a:r>
              <a:rPr lang="en-US" sz="1200" dirty="0">
                <a:solidFill>
                  <a:srgbClr val="35475E"/>
                </a:solidFill>
                <a:latin typeface="Arial" pitchFamily="34" charset="0"/>
                <a:ea typeface="Arial" pitchFamily="34" charset="-122"/>
                <a:cs typeface="Arial" pitchFamily="34" charset="-120"/>
              </a:rPr>
              <a:t>Dalla forma mₚ/m₀ = 1 − e^(−ΔV/(Isp·g₀)), con Isp = 450 s si ottiene un consumo del 93,24%. Pur elevato, un payload leggero puo' compiere la missione. La stima e' inoltre cautelativa: parte delle manovre (in particolare l'immissione in iperbole) e' spesso delegata allo stadio superiore del lanciatore, e non sono stati considerati gravity assist.</a:t>
            </a:r>
            <a:endParaRPr lang="en-US" sz="1200" dirty="0"/>
          </a:p>
        </p:txBody>
      </p:sp>
      <p:sp>
        <p:nvSpPr>
          <p:cNvPr id="11" name="Shape 8"/>
          <p:cNvSpPr/>
          <p:nvPr/>
        </p:nvSpPr>
        <p:spPr>
          <a:xfrm>
            <a:off x="6355080" y="3200400"/>
            <a:ext cx="5257800" cy="1078992"/>
          </a:xfrm>
          <a:prstGeom prst="roundRect">
            <a:avLst>
              <a:gd name="adj" fmla="val 6780"/>
            </a:avLst>
          </a:prstGeom>
          <a:solidFill>
            <a:srgbClr val="EEF2F7"/>
          </a:solidFill>
          <a:ln w="12700">
            <a:solidFill>
              <a:srgbClr val="DBE3EE"/>
            </a:solidFill>
            <a:prstDash val="solid"/>
          </a:ln>
          <a:effectLst>
            <a:outerShdw sx="100000" sy="100000" kx="0" ky="0" algn="bl" rotWithShape="0" blurRad="88900" dist="25400" dir="5400000">
              <a:srgbClr val="35475E">
                <a:alpha val="14000"/>
              </a:srgbClr>
            </a:outerShdw>
          </a:effectLst>
        </p:spPr>
      </p:sp>
      <p:sp>
        <p:nvSpPr>
          <p:cNvPr id="12" name="Text 9"/>
          <p:cNvSpPr/>
          <p:nvPr/>
        </p:nvSpPr>
        <p:spPr>
          <a:xfrm>
            <a:off x="6583680" y="3346704"/>
            <a:ext cx="4754880" cy="310896"/>
          </a:xfrm>
          <a:prstGeom prst="rect">
            <a:avLst/>
          </a:prstGeom>
          <a:noFill/>
          <a:ln/>
        </p:spPr>
        <p:txBody>
          <a:bodyPr wrap="square" lIns="0" tIns="0" rIns="0" bIns="0" rtlCol="0" anchor="ctr"/>
          <a:lstStyle/>
          <a:p>
            <a:pPr indent="0" marL="0">
              <a:buNone/>
            </a:pPr>
            <a:r>
              <a:rPr lang="en-US" sz="1150" dirty="0">
                <a:solidFill>
                  <a:srgbClr val="7C8BA1"/>
                </a:solidFill>
                <a:latin typeface="Arial" pitchFamily="34" charset="0"/>
                <a:ea typeface="Arial" pitchFamily="34" charset="-122"/>
                <a:cs typeface="Arial" pitchFamily="34" charset="-120"/>
              </a:rPr>
              <a:t>Massa a secco ipotizzata</a:t>
            </a:r>
            <a:endParaRPr lang="en-US" sz="1150" dirty="0"/>
          </a:p>
        </p:txBody>
      </p:sp>
      <p:sp>
        <p:nvSpPr>
          <p:cNvPr id="13" name="Text 10"/>
          <p:cNvSpPr/>
          <p:nvPr/>
        </p:nvSpPr>
        <p:spPr>
          <a:xfrm>
            <a:off x="6583680" y="3657600"/>
            <a:ext cx="4846320" cy="502920"/>
          </a:xfrm>
          <a:prstGeom prst="rect">
            <a:avLst/>
          </a:prstGeom>
          <a:noFill/>
          <a:ln/>
        </p:spPr>
        <p:txBody>
          <a:bodyPr wrap="square" lIns="0" tIns="0" rIns="0" bIns="0" rtlCol="0" anchor="ctr"/>
          <a:lstStyle/>
          <a:p>
            <a:pPr indent="0" marL="0">
              <a:buNone/>
            </a:pPr>
            <a:r>
              <a:rPr lang="en-US" sz="2600" b="1" dirty="0">
                <a:solidFill>
                  <a:srgbClr val="102C53"/>
                </a:solidFill>
              </a:rPr>
              <a:t>500 </a:t>
            </a:r>
            <a:pPr indent="0" marL="0">
              <a:buNone/>
            </a:pPr>
            <a:r>
              <a:rPr lang="en-US" sz="1300" b="1" dirty="0">
                <a:solidFill>
                  <a:srgbClr val="102C53"/>
                </a:solidFill>
              </a:rPr>
              <a:t>kg</a:t>
            </a:r>
            <a:pPr indent="0" marL="0">
              <a:buNone/>
            </a:pPr>
            <a:r>
              <a:rPr lang="en-US" sz="1200" dirty="0">
                <a:solidFill>
                  <a:srgbClr val="35475E"/>
                </a:solidFill>
              </a:rPr>
              <a:t>   →   massa al lancio  </a:t>
            </a:r>
            <a:pPr indent="0" marL="0">
              <a:buNone/>
            </a:pPr>
            <a:r>
              <a:rPr lang="en-US" sz="1500" b="1" dirty="0">
                <a:solidFill>
                  <a:srgbClr val="1C82C0"/>
                </a:solidFill>
              </a:rPr>
              <a:t>≈ 7 400 kg</a:t>
            </a:r>
            <a:endParaRPr lang="en-US" sz="2600" dirty="0"/>
          </a:p>
        </p:txBody>
      </p:sp>
      <p:sp>
        <p:nvSpPr>
          <p:cNvPr id="14" name="Shape 11"/>
          <p:cNvSpPr/>
          <p:nvPr/>
        </p:nvSpPr>
        <p:spPr>
          <a:xfrm>
            <a:off x="6355080" y="4407408"/>
            <a:ext cx="5257800" cy="1078992"/>
          </a:xfrm>
          <a:prstGeom prst="roundRect">
            <a:avLst>
              <a:gd name="adj" fmla="val 6780"/>
            </a:avLst>
          </a:prstGeom>
          <a:solidFill>
            <a:srgbClr val="102C53"/>
          </a:solidFill>
          <a:ln/>
          <a:effectLst>
            <a:outerShdw sx="100000" sy="100000" kx="0" ky="0" algn="bl" rotWithShape="0" blurRad="114300" dist="38100" dir="5400000">
              <a:srgbClr val="6E7F95">
                <a:alpha val="20000"/>
              </a:srgbClr>
            </a:outerShdw>
          </a:effectLst>
        </p:spPr>
      </p:sp>
      <p:sp>
        <p:nvSpPr>
          <p:cNvPr id="15" name="Text 12"/>
          <p:cNvSpPr/>
          <p:nvPr/>
        </p:nvSpPr>
        <p:spPr>
          <a:xfrm>
            <a:off x="6583680" y="4553712"/>
            <a:ext cx="4754880" cy="310896"/>
          </a:xfrm>
          <a:prstGeom prst="rect">
            <a:avLst/>
          </a:prstGeom>
          <a:noFill/>
          <a:ln/>
        </p:spPr>
        <p:txBody>
          <a:bodyPr wrap="square" lIns="0" tIns="0" rIns="0" bIns="0" rtlCol="0" anchor="ctr"/>
          <a:lstStyle/>
          <a:p>
            <a:pPr indent="0" marL="0">
              <a:buNone/>
            </a:pPr>
            <a:r>
              <a:rPr lang="en-US" sz="1150" dirty="0">
                <a:solidFill>
                  <a:srgbClr val="C9DBF0"/>
                </a:solidFill>
                <a:latin typeface="Arial" pitchFamily="34" charset="0"/>
                <a:ea typeface="Arial" pitchFamily="34" charset="-122"/>
                <a:cs typeface="Arial" pitchFamily="34" charset="-120"/>
              </a:rPr>
              <a:t>Costo diretto di lancio e operazioni</a:t>
            </a:r>
            <a:endParaRPr lang="en-US" sz="1150" dirty="0"/>
          </a:p>
        </p:txBody>
      </p:sp>
      <p:sp>
        <p:nvSpPr>
          <p:cNvPr id="16" name="Text 13"/>
          <p:cNvSpPr/>
          <p:nvPr/>
        </p:nvSpPr>
        <p:spPr>
          <a:xfrm>
            <a:off x="6583680" y="4864608"/>
            <a:ext cx="4846320" cy="502920"/>
          </a:xfrm>
          <a:prstGeom prst="rect">
            <a:avLst/>
          </a:prstGeom>
          <a:noFill/>
          <a:ln/>
        </p:spPr>
        <p:txBody>
          <a:bodyPr wrap="square" lIns="0" tIns="0" rIns="0" bIns="0" rtlCol="0" anchor="ctr"/>
          <a:lstStyle/>
          <a:p>
            <a:pPr indent="0" marL="0">
              <a:buNone/>
            </a:pPr>
            <a:r>
              <a:rPr lang="en-US" sz="2800" b="1" dirty="0">
                <a:solidFill>
                  <a:srgbClr val="FFFFFF"/>
                </a:solidFill>
              </a:rPr>
              <a:t>≈ 190,2 </a:t>
            </a:r>
            <a:pPr indent="0" marL="0">
              <a:buNone/>
            </a:pPr>
            <a:r>
              <a:rPr lang="en-US" sz="1400" b="1" dirty="0">
                <a:solidFill>
                  <a:srgbClr val="4DC9FF"/>
                </a:solidFill>
              </a:rPr>
              <a:t>milioni di $</a:t>
            </a:r>
            <a:endParaRPr lang="en-US" sz="2800" dirty="0"/>
          </a:p>
        </p:txBody>
      </p:sp>
      <p:sp>
        <p:nvSpPr>
          <p:cNvPr id="17" name="Text 14"/>
          <p:cNvSpPr/>
          <p:nvPr/>
        </p:nvSpPr>
        <p:spPr>
          <a:xfrm>
            <a:off x="566928" y="5760720"/>
            <a:ext cx="10881360" cy="457200"/>
          </a:xfrm>
          <a:prstGeom prst="rect">
            <a:avLst/>
          </a:prstGeom>
          <a:noFill/>
          <a:ln/>
        </p:spPr>
        <p:txBody>
          <a:bodyPr wrap="square" lIns="0" tIns="0" rIns="0" bIns="0" rtlCol="0" anchor="ctr"/>
          <a:lstStyle/>
          <a:p>
            <a:pPr indent="0" marL="0">
              <a:buNone/>
            </a:pPr>
            <a:r>
              <a:rPr lang="en-US" sz="1150" i="1" dirty="0">
                <a:solidFill>
                  <a:srgbClr val="7C8BA1"/>
                </a:solidFill>
                <a:latin typeface="Arial" pitchFamily="34" charset="0"/>
                <a:ea typeface="Arial" pitchFamily="34" charset="-122"/>
                <a:cs typeface="Arial" pitchFamily="34" charset="-120"/>
              </a:rPr>
              <a:t>Una missione impegnativa ma fattibile, coerente con i casi reali di esplorazione dei near-Earth asteroids.</a:t>
            </a:r>
            <a:endParaRPr lang="en-US" sz="1150" dirty="0"/>
          </a:p>
        </p:txBody>
      </p:sp>
      <p:sp>
        <p:nvSpPr>
          <p:cNvPr id="18" name="Text 15"/>
          <p:cNvSpPr/>
          <p:nvPr/>
        </p:nvSpPr>
        <p:spPr>
          <a:xfrm>
            <a:off x="566928" y="6473952"/>
            <a:ext cx="8686800" cy="274320"/>
          </a:xfrm>
          <a:prstGeom prst="rect">
            <a:avLst/>
          </a:prstGeom>
          <a:noFill/>
          <a:ln/>
        </p:spPr>
        <p:txBody>
          <a:bodyPr wrap="square" lIns="0" tIns="0" rIns="0" bIns="0" rtlCol="0" anchor="ctr"/>
          <a:lstStyle/>
          <a:p>
            <a:pPr algn="l" indent="0" marL="0">
              <a:buNone/>
            </a:pPr>
            <a:r>
              <a:rPr lang="en-US" sz="900" dirty="0">
                <a:solidFill>
                  <a:srgbClr val="7C8BA1"/>
                </a:solidFill>
                <a:latin typeface="Arial" pitchFamily="34" charset="0"/>
                <a:ea typeface="Arial" pitchFamily="34" charset="-122"/>
                <a:cs typeface="Arial" pitchFamily="34" charset="-120"/>
              </a:rPr>
              <a:t>Gruppo 23  ·  Laboratorio di Analisi di Missioni Spaziali  ·  A.A. 2025-2026</a:t>
            </a:r>
            <a:endParaRPr lang="en-US" sz="900" dirty="0"/>
          </a:p>
        </p:txBody>
      </p:sp>
      <p:sp>
        <p:nvSpPr>
          <p:cNvPr id="19" name="Text 16"/>
          <p:cNvSpPr/>
          <p:nvPr/>
        </p:nvSpPr>
        <p:spPr>
          <a:xfrm>
            <a:off x="11137392" y="6473952"/>
            <a:ext cx="502920" cy="274320"/>
          </a:xfrm>
          <a:prstGeom prst="rect">
            <a:avLst/>
          </a:prstGeom>
          <a:noFill/>
          <a:ln/>
        </p:spPr>
        <p:txBody>
          <a:bodyPr wrap="square" lIns="0" tIns="0" rIns="0" bIns="0" rtlCol="0" anchor="ctr"/>
          <a:lstStyle/>
          <a:p>
            <a:pPr algn="r" indent="0" marL="0">
              <a:buNone/>
            </a:pPr>
            <a:r>
              <a:rPr lang="en-US" sz="900" dirty="0">
                <a:solidFill>
                  <a:srgbClr val="7C8BA1"/>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sessions/laughing-busy-clarke/mnt/outputs/polimi/logo_white.png">    </p:cNvPr>
          <p:cNvPicPr>
            <a:picLocks noChangeAspect="1"/>
          </p:cNvPicPr>
          <p:nvPr/>
        </p:nvPicPr>
        <p:blipFill>
          <a:blip r:embed="rId2"/>
          <a:stretch>
            <a:fillRect/>
          </a:stretch>
        </p:blipFill>
        <p:spPr>
          <a:xfrm>
            <a:off x="9902952" y="292608"/>
            <a:ext cx="1719072" cy="393192"/>
          </a:xfrm>
          <a:prstGeom prst="rect">
            <a:avLst/>
          </a:prstGeom>
        </p:spPr>
      </p:pic>
      <p:pic>
        <p:nvPicPr>
          <p:cNvPr id="3" name="Image 1" descr="/sessions/laughing-busy-clarke/mnt/outputs/assets/asteroid.png">    </p:cNvPr>
          <p:cNvPicPr>
            <a:picLocks noChangeAspect="1"/>
          </p:cNvPicPr>
          <p:nvPr/>
        </p:nvPicPr>
        <p:blipFill>
          <a:blip r:embed="rId3">
            <a:alphaModFix amt="90000"/>
          </a:blip>
          <a:stretch>
            <a:fillRect/>
          </a:stretch>
        </p:blipFill>
        <p:spPr>
          <a:xfrm>
            <a:off x="8595360" y="457200"/>
            <a:ext cx="3017520" cy="3017520"/>
          </a:xfrm>
          <a:prstGeom prst="rect">
            <a:avLst/>
          </a:prstGeom>
        </p:spPr>
      </p:pic>
      <p:sp>
        <p:nvSpPr>
          <p:cNvPr id="4" name="Text 0"/>
          <p:cNvSpPr/>
          <p:nvPr/>
        </p:nvSpPr>
        <p:spPr>
          <a:xfrm>
            <a:off x="640080" y="914400"/>
            <a:ext cx="7315200" cy="457200"/>
          </a:xfrm>
          <a:prstGeom prst="rect">
            <a:avLst/>
          </a:prstGeom>
          <a:noFill/>
          <a:ln/>
        </p:spPr>
        <p:txBody>
          <a:bodyPr wrap="square" lIns="0" tIns="0" rIns="0" bIns="0" rtlCol="0" anchor="ctr"/>
          <a:lstStyle/>
          <a:p>
            <a:pPr indent="0" marL="0">
              <a:buNone/>
            </a:pPr>
            <a:r>
              <a:rPr lang="en-US" sz="1400" b="1" spc="200" kern="0" dirty="0">
                <a:solidFill>
                  <a:srgbClr val="4DC9FF"/>
                </a:solidFill>
                <a:latin typeface="Arial" pitchFamily="34" charset="0"/>
                <a:ea typeface="Arial" pitchFamily="34" charset="-122"/>
                <a:cs typeface="Arial" pitchFamily="34" charset="-120"/>
              </a:rPr>
              <a:t>In sintesi</a:t>
            </a:r>
            <a:endParaRPr lang="en-US" sz="1400" dirty="0"/>
          </a:p>
        </p:txBody>
      </p:sp>
      <p:sp>
        <p:nvSpPr>
          <p:cNvPr id="5" name="Text 1"/>
          <p:cNvSpPr/>
          <p:nvPr/>
        </p:nvSpPr>
        <p:spPr>
          <a:xfrm>
            <a:off x="640080" y="1371600"/>
            <a:ext cx="7680960" cy="1188720"/>
          </a:xfrm>
          <a:prstGeom prst="rect">
            <a:avLst/>
          </a:prstGeom>
          <a:noFill/>
          <a:ln/>
        </p:spPr>
        <p:txBody>
          <a:bodyPr wrap="square" lIns="0" tIns="0" rIns="0" bIns="0" rtlCol="0" anchor="ctr"/>
          <a:lstStyle/>
          <a:p>
            <a:pPr indent="0" marL="0">
              <a:lnSpc>
                <a:spcPct val="104000"/>
              </a:lnSpc>
              <a:buNone/>
            </a:pPr>
            <a:r>
              <a:rPr lang="en-US" sz="2900" b="1" dirty="0">
                <a:solidFill>
                  <a:srgbClr val="FFFFFF"/>
                </a:solidFill>
                <a:latin typeface="Arial" pitchFamily="34" charset="0"/>
                <a:ea typeface="Arial" pitchFamily="34" charset="-122"/>
                <a:cs typeface="Arial" pitchFamily="34" charset="-120"/>
              </a:rPr>
              <a:t>Una missione completa, dall'orbita di parcheggio all'asteroide</a:t>
            </a:r>
            <a:endParaRPr lang="en-US" sz="2900" dirty="0"/>
          </a:p>
        </p:txBody>
      </p:sp>
      <p:sp>
        <p:nvSpPr>
          <p:cNvPr id="6" name="Text 2"/>
          <p:cNvSpPr/>
          <p:nvPr/>
        </p:nvSpPr>
        <p:spPr>
          <a:xfrm>
            <a:off x="658368" y="2743200"/>
            <a:ext cx="7589520" cy="1828800"/>
          </a:xfrm>
          <a:prstGeom prst="rect">
            <a:avLst/>
          </a:prstGeom>
          <a:noFill/>
          <a:ln/>
        </p:spPr>
        <p:txBody>
          <a:bodyPr wrap="square" lIns="0" tIns="0" rIns="0" bIns="0" rtlCol="0" anchor="ctr"/>
          <a:lstStyle/>
          <a:p>
            <a:pPr marL="203200" indent="-203200">
              <a:lnSpc>
                <a:spcPct val="104000"/>
              </a:lnSpc>
              <a:spcAft>
                <a:spcPts val="1100"/>
              </a:spcAft>
              <a:buSzPct val="100000"/>
              <a:buChar char="•"/>
            </a:pPr>
            <a:r>
              <a:rPr lang="en-US" sz="1450" dirty="0">
                <a:solidFill>
                  <a:srgbClr val="D5E2F2"/>
                </a:solidFill>
                <a:latin typeface="Arial" pitchFamily="34" charset="0"/>
                <a:ea typeface="Arial" pitchFamily="34" charset="-122"/>
                <a:cs typeface="Arial" pitchFamily="34" charset="-120"/>
              </a:rPr>
              <a:t>Tre scenari concatenati risolti con il modello a patched conics e manovre impulsive.</a:t>
            </a:r>
            <a:endParaRPr lang="en-US" sz="1450" dirty="0"/>
          </a:p>
          <a:p>
            <a:pPr marL="203200" indent="-203200">
              <a:lnSpc>
                <a:spcPct val="104000"/>
              </a:lnSpc>
              <a:spcAft>
                <a:spcPts val="1100"/>
              </a:spcAft>
              <a:buSzPct val="100000"/>
              <a:buChar char="•"/>
            </a:pPr>
            <a:r>
              <a:rPr lang="en-US" sz="1450" dirty="0">
                <a:solidFill>
                  <a:srgbClr val="D5E2F2"/>
                </a:solidFill>
                <a:latin typeface="Arial" pitchFamily="34" charset="0"/>
                <a:ea typeface="Arial" pitchFamily="34" charset="-122"/>
                <a:cs typeface="Arial" pitchFamily="34" charset="-120"/>
              </a:rPr>
              <a:t>Ottimizzazione validata da tre metodi indipendenti (GridSearch, GA, PSO): ΔV = 7,1380 km/s.</a:t>
            </a:r>
            <a:endParaRPr lang="en-US" sz="1450" dirty="0"/>
          </a:p>
          <a:p>
            <a:pPr marL="203200" indent="-203200">
              <a:lnSpc>
                <a:spcPct val="104000"/>
              </a:lnSpc>
              <a:buSzPct val="100000"/>
              <a:buChar char="•"/>
            </a:pPr>
            <a:r>
              <a:rPr lang="en-US" sz="1450" dirty="0">
                <a:solidFill>
                  <a:srgbClr val="D5E2F2"/>
                </a:solidFill>
                <a:latin typeface="Arial" pitchFamily="34" charset="0"/>
                <a:ea typeface="Arial" pitchFamily="34" charset="-122"/>
                <a:cs typeface="Arial" pitchFamily="34" charset="-120"/>
              </a:rPr>
              <a:t>Bilancio complessivo: ΔV ≈ 11,89 km/s in ≈ 212 giorni, 93% di propellente, ≈ 190 M$.</a:t>
            </a:r>
            <a:endParaRPr lang="en-US" sz="1450" dirty="0"/>
          </a:p>
        </p:txBody>
      </p:sp>
      <p:sp>
        <p:nvSpPr>
          <p:cNvPr id="7" name="Shape 3"/>
          <p:cNvSpPr/>
          <p:nvPr/>
        </p:nvSpPr>
        <p:spPr>
          <a:xfrm>
            <a:off x="658368" y="4892040"/>
            <a:ext cx="6949440" cy="0"/>
          </a:xfrm>
          <a:prstGeom prst="line">
            <a:avLst/>
          </a:prstGeom>
          <a:noFill/>
          <a:ln w="15240">
            <a:solidFill>
              <a:srgbClr val="2C4A72"/>
            </a:solidFill>
            <a:prstDash val="solid"/>
          </a:ln>
        </p:spPr>
      </p:sp>
      <p:sp>
        <p:nvSpPr>
          <p:cNvPr id="8" name="Text 4"/>
          <p:cNvSpPr/>
          <p:nvPr/>
        </p:nvSpPr>
        <p:spPr>
          <a:xfrm>
            <a:off x="640080" y="507492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Grazie per l'attenzione</a:t>
            </a:r>
            <a:endParaRPr lang="en-US" sz="2400" dirty="0"/>
          </a:p>
        </p:txBody>
      </p:sp>
      <p:sp>
        <p:nvSpPr>
          <p:cNvPr id="9" name="Text 5"/>
          <p:cNvSpPr/>
          <p:nvPr/>
        </p:nvSpPr>
        <p:spPr>
          <a:xfrm>
            <a:off x="658368" y="5669280"/>
            <a:ext cx="8229600" cy="329184"/>
          </a:xfrm>
          <a:prstGeom prst="rect">
            <a:avLst/>
          </a:prstGeom>
          <a:noFill/>
          <a:ln/>
        </p:spPr>
        <p:txBody>
          <a:bodyPr wrap="square" lIns="0" tIns="0" rIns="0" bIns="0" rtlCol="0" anchor="ctr"/>
          <a:lstStyle/>
          <a:p>
            <a:pPr indent="0" marL="0">
              <a:buNone/>
            </a:pPr>
            <a:r>
              <a:rPr lang="en-US" sz="1250" dirty="0">
                <a:solidFill>
                  <a:srgbClr val="9DB2CC"/>
                </a:solidFill>
                <a:latin typeface="Arial" pitchFamily="34" charset="0"/>
                <a:ea typeface="Arial" pitchFamily="34" charset="-122"/>
                <a:cs typeface="Arial" pitchFamily="34" charset="-120"/>
              </a:rPr>
              <a:t>Gruppo 23 · Amr Abou Eish · Simone Amoruso · Filippo Antonioni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Trasferimento orbitale verso l'asteroide 363505 (2003 UC20)</dc:title>
  <dc:subject>PptxGenJS Presentation</dc:subject>
  <dc:creator>Gruppo 23 - LAMS - Politecnico di Milano</dc:creator>
  <cp:lastModifiedBy>Gruppo 23 - LAMS - Politecnico di Milano</cp:lastModifiedBy>
  <cp:revision>1</cp:revision>
  <dcterms:created xsi:type="dcterms:W3CDTF">2026-06-19T16:42:15Z</dcterms:created>
  <dcterms:modified xsi:type="dcterms:W3CDTF">2026-06-19T16:42:15Z</dcterms:modified>
</cp:coreProperties>
</file>