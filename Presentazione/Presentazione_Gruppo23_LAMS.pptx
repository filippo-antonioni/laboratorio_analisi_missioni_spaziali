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[00:00-00:40] (cumulativo 00:40)
Buongiorno. Presentiamo il lavoro del Gruppo 23: la progettazione di un trasferimento orbitale verso l'asteroide 363505, noto come 2003 UC20. E' un near-Earth asteroid della classe Aten, classificato dalla NASA come potenzialmente pericoloso. L'intera analisi e' stata sviluppata in MATLAB. In 15 minuti vi mostriamo come abbiamo stimato costi (delta-V) e tempi dell'intera missione, scomponendola in tre scenari concatenati. Tono: aprire con sicurezza, dare il filo conduttore (tre scenari) e passare subito alla metodologia.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[00:40-01:50] (cumulativo 01:50)
Due parole sul metodo, perche' regge tutto il resto. Primo: usiamo il modello delle patched conics. Dividiamo lo spazio in sfere d'influenza e dentro ciascuna consideriamo solo l'attrattore dominante: cosi' un problema complicato a n-corpi diventa una sequenza di problemi a due corpi, le classiche orbite kepleriane. Secondo: assumiamo manovre impulsive, cioe' variazioni di velocita' istantanee; e' un'ipotesi adeguata con motori termochimici e per una stima preliminare. Usiamo tre sistemi di riferimento a seconda della fase. La missione e' scomposta in tre scenari concatenati che vedete a destra: orbita di parcheggio, trasferimento interplanetario, fuga e arrivo. Li percorriamo in ordine. Ritmo: chiaro e veloce, e' la mappa del discorso.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[01:50-02:05] (cumulativo 02:05)
Primo scenario, attrattore Terra. Dobbiamo portare il satellite da un'orbita GTO a un'orbita di parcheggio. L'obiettivo prioritario e' minimizzare il delta-V, e di conseguenza il propellente, anche accettando tempi piu' lunghi. Transizione rapida.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[02:05-03:10] (cumulativo 03:10)
Partiamo da una baseline: la strategia standard. E' la sequenza piu' intuitiva, tre manovre in ordine fisso. Prima il cambio di piano - inclinazione e RAAN - che conviene fare lontano dall'attrattore dove si va piu' lenti. Poi la rotazione dell'argomento del pericentro. Infine un trasferimento bitangente pericentro-apocentro per sistemare la geometria. Il risultato, lo vedete nei riquadri: 6,44 km/s in circa 1,4 giorni. Tenete a mente questo numero: e' la baseline che cercheremo di battere. Nell'animazione si vede l'intera sequenza nel sistema ECI. Indicare il delta-V e dire: 'questo e' il costo da abbattere'.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[03:10-04:15] (cumulativo 04:15)
Qui sta il primo guadagno. Le manovre sono le stesse, ma l'ORDINE conta. Abbiamo scritto un algoritmo che confronta tutte le sequenze possibili e sceglie quella ottimale: bitangente, poi cambio piano, poi cambio pericentro. Due ragioni fisiche. L'effetto Oberth: se aumento la velocita' nel punto d'innesco, il primo impulso del bitangente costa meno. E facendo il cambio piano DOPO, lo eseguo su un'orbita piu' grande, dove la velocita' e' piu' bassa e quindi il cambio piano costa meno. Cosi' scendiamo da 6,44 a 5,70 km/s. Nota importante: la sequenza piu' veloce, 0,61 giorni, NON e' la piu' economica. Compare il classico trade-off delta-V contro tempo. La rotazione del pericentro resta la voce piu' cara: la attacchiamo nella prossima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[04:15-05:35] (cumulativo 05:35)
Ecco il colpo grosso dello scenario 1. La voce piu' cara era ruotare il pericentro, e il suo costo e' proporzionale all'eccentricita'. Allora forziamo un'orbita ausiliaria CIRCOLARE: con e uguale a zero, la rotazione del pericentro diventa gratuita, costo zero. In piu' il cambio piano scala come uno su radice di a, quindi conviene farlo su un'orbita grande. Due soluzioni. La A spinge l'orbita ausiliaria ai margini della sfera d'influenza: delta-V crolla a 2,87 km/s, meno cinquanta per cento, ma servono 112 giorni. La B e' il compromesso pratico: un singolo impulso all'apocentro della GTO, 4,04 km/s ma solo 2,3 giorni. A seconda che la missione privilegi propellente o tempo, si sceglie l'una o l'altra. Per il bilancio finale useremo la soluzione A. Indicare le due card e nominare il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[05:35-05:50] (cumulativo 05:50)
Secondo scenario, ora l'attrattore e' il Sole. Progettiamo il trasferimento interplanetario diretto: due impulsi, dall'orbita della Terra a quella dell'asteroide. Lo affrontiamo con tre metodi diversi per validare il risultato. Transizione.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[05:50-06:50] (cumulativo 06:50)
Vediamo il bersaglio. L'asteroide e' un corpo della classe Aten: orbita piu' interna, semiasse circa 1,17 volte 10 all'ottava km, eccentricita' 0,34, quasi nel piano dell'eclittica. Diametro quasi 2 km, massa dell'ordine di 7 mila miliardi di kg - dati presi dal database JPL della NASA. A destra vedete le due orbite, Terra e asteroide attorno al Sole. Il problema di ottimizzazione ha tre incognite: theta uno, da dove parto sulla Terra; theta due, dove intercetto l'asteroide; e omega T, l'orientamento dell'orbita di trasferimento. Trovare la terna ottima che minimizza il delta-V e' il cuore dello scenario 2. Indicare le tre incognite, sono il dominio di ricerca delle prossime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[06:50-07:45] (cumulativo 07:45)
Primo metodo: GridSearch, una ricerca a griglia. Esploriamo lo spazio delle tre variabili, da 0 a 2 pi greco ciascuna. Il trucco e' una griglia adattiva: ad ogni passo si ricentra sul miglior punto trovato e dimezza l'ampiezza, zoomando progressivamente sull'ottimo. Imponiamo due vincoli fisici: niente orbite aperte, e un margine di sicurezza dal Sole per evitare shock termici. Ci si ferma quando il miglioramento scende sotto 10 alla meno 4. Risultato: delta-V minimo 7,1380 km/s, con la terna di angoli indicata. A destra, per dare l'idea della sensibilita', il fascio di orbite che si ottiene variando omega T: geometrie molto diverse. Il metodo e' robusto ma computazionalmente pesante: da qui il passaggio agli algoritmi evolutivi.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[07:45-09:10] (cumulativo 09:10)
Secondo metodo, il piu' elegante: gli algoritmi evolutivi. L'algoritmo genetico imita l'evoluzione darwiniana. Ogni individuo e' una terna di variabili; la sua fitness e' il delta-V, piu' basso e' meglio. Si parte da una popolazione casuale e si itera: selezione dei migliori, crossover - cioe' ricombinazione - e mutazione per mantenere diversita' ed evitare i minimi locali. Due accortezze: il tuning automatico degli iperparametri, basato sulla deviazione standard, e un raffinamento finale con fmincon che lima l'ultima cifra. Abbiamo provato anche la PSO, gli sciami di particelle: 200 run, stessa identica soluzione, con dispersione ancora minore. Il punto chiave e' in basso a destra: tre metodi indipendenti, GridSearch, GA e PSO, danno lo stesso valore, 7,1380 km/s. Questo ci da' fiducia che sia l'ottimo globale, non un caso fortunato. E gli evolutivi ci arrivano a costo computazionale molto piu' basso. Enfatizzare: la convergenza dei tre metodi e' la validazione.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[09:10-09:25] (cumulativo 09:25)
Terzo e ultimo scenario: le fasi di fuga e di arrivo. Sono le iperboli che raccordano i due scenari precedenti - uscire dalla Terra ed entrare attorno all'asteroide. Si lavora ai confini delle sfere d'influenza. Transizione.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[09:25-10:35] (cumulativo 10:35)
La fuga dalla Terra. Il parametro di partenza e' la velocita' di eccesso iperbolico, v infinito: la differenza tra la velocita' che serve sul trasferimento e quella della Terra. Abbiamo studiato due casi. Il 2D, ideale e complanare: pericentri coincidenti, un semplice impulso tangente, costa solo 0,94 km/s. Ma e' irrealistico, perche' v infinito sta sul piano dell'eclittica mentre l'orbita di parcheggio sta sul piano equatoriale terrestre, inclinati di 23 gradi e mezzo. Nel caso 3D la manovra deve fare due cose insieme: aumentare l'energia E cambiare piano. Il punto d'innesco ottimale e' un compromesso, e infatti - guardate la stella nell'animazione - NON e' al pericentro. Costo realistico: 3,79 km/s in poco piu' di 4 giorni. E' il prezzo da pagare per orientare correttamente la velocita' nello spazio.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[10:35-11:45] (cumulativo 11:45)
Ultima manovra: la cattura attorno all'asteroide. Qui c'e' una difficolta' tutta nuova: la sfera d'influenza dell'asteroide e' minuscola, tra 8 e 16 km. Tolleranze di navigazione strettissime. Due conseguenze curiose. Primo, l'iperbole di arrivo e' praticamente una retta: la massa dell'asteroide e' cosi' piccola che l'eccentricita' tende a infinito e l'asintoto si raddrizza. Secondo, frenare costa CARO: 5,23 km/s. Sembra un paradosso, ma proprio perche' la gravita' e' debolissima la velocita' d'orbita e' bassa, e serve un grande delta-V per smaltire la velocita' iperbolica in ingresso. Abbiamo confrontato cattura circolare ed ellittica: vince l'ellittica, ma di un nulla, lo 0,004 per cento. Il tempo dall'ingresso nella SOI al pericentro? Tre secondi: praticamente istantaneo. Far notare il paradosso 'gravita' debole = frenata costosa', e' controintuitivo e colpisce.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[11:45-12:50] (cumulativo 12:50)
Tiriamo le somme. Sommando le tre fasi - manovre dello scenario 1 con la soluzione di circolarizzazione, fuga dalla Terra e cattura - otteniamo il bilancio in tabella. Delta-V totale: 11,89 km/s. Tempo totale: circa 212 giorni, dominato dalla fase iniziale, perche' abbiamo scelto la circolarizzazione economica ma lenta. Notate che la cattura, da sola, e' la voce piu' cara in delta-V, e la fuga la piu' veloce. Un'avvertenza onesta: e' una stima cautelativa. Non abbiamo sfruttato gravity assist, che ridurrebbero i costi, ne' abbiamo aggiunto i margini di sicurezza statistici, che li aumenterebbero. E' un ordine di grandezza solido per uno studio preliminare. Indicare il numerone 11,89 e dire 'questo si traduce in propellente'.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[12:50-13:55] (cumulativo 13:55)
Cosa significano 11,89 km/s in pratica? Lo traduciamo in propellente con l'equazione del razzo di Tsiolkovsky, ipotizzando un bipropellente ad alta efficienza idrogeno-ossigeno con impulso specifico 450 secondi. Il risultato e' severo: il 93 per cento della massa al lancio deve essere propellente. In numeri: con appena 500 kg di sonda a secco, servono circa 7.400 kg al lancio, di cui quasi 7 tonnellate di solo carburante. Per mettere 7,4 tonnellate su una traiettoria interplanetaria serve un lanciatore pesante: abbiamo preso a riferimento il Falcon Heavy di SpaceX. La stima economica diretta - lancio, propellente, operazioni e rete DSN - si aggira sui 190 milioni di dollari. Per chiudere il cerchio con la realta': una missione come questa esiste, OSIRIS-REx della NASA, che con propulsione termochimica ha raggiunto Bennu e riportato campioni. Le nostre ipotesi sono quindi realistiche. Far percepire il 93% come un risultato 'forte'.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[13:55-15:00] (cumulativo 15:00)
Chiudo riassumendo il filo. Abbiamo progettato una missione completa verso l'asteroide 2003 UC20 scomponendola in tre scenari concatenati, tutti risolti con patched conics e manovre impulsive. Nel cuore della missione, il trasferimento interplanetario, abbiamo ottenuto e validato l'ottimo con tre metodi indipendenti che convergono sullo stesso valore, 7,1380 km/s: e' la garanzia di robustezza del risultato. Il bilancio complessivo e' di circa 11,9 km/s in 212 giorni, che si traducono in un 93 per cento di propellente e in un costo di lancio attorno ai 190 milioni di dollari, con il Falcon Heavy. Una missione impegnativa ma fattibile, in linea con casi reali come OSIRIS-REx. Grazie per l'attenzione, siamo a disposizione per le domande. Chiudere con calma, lasciare la slide di sintesi a schermo per il dibattito.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gif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gif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gif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aughing-busy-clarke/mnt/outputs/assets/astero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7160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38160" y="5074920"/>
            <a:ext cx="3108960" cy="365760"/>
          </a:xfrm>
          <a:prstGeom prst="ellipse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 ANALISI DI MISSIONI SPAZIALI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Progettazione di un trasferimento orbitale verso l'asteroide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566928" y="3200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363505 </a:t>
            </a:r>
            <a:pPr indent="0" marL="0">
              <a:buNone/>
            </a:pPr>
            <a:r>
              <a:rPr lang="en-US" sz="3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(2003 UC20)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66928" y="3886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Near-Earth Asteroid · classe Aten · Potentially Hazardous (PHA)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6400800" cy="0"/>
          </a:xfrm>
          <a:prstGeom prst="line">
            <a:avLst/>
          </a:prstGeom>
          <a:noFill/>
          <a:ln w="15240">
            <a:solidFill>
              <a:srgbClr val="2E4A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68172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</a:t>
            </a:r>
            <a:pPr indent="0" marL="0">
              <a:buNone/>
            </a:pPr>
            <a:r>
              <a:rPr lang="en-US" sz="1250" dirty="0">
                <a:solidFill>
                  <a:srgbClr val="C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Amr Abou Eish   ·   Simone Amoruso   ·   Filippo Antonioni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50292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Docenti: Prof. Mauro Massari · Prof. Fabio Ferrari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 e approccio metodologico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83080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906524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46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a Patched Conics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0208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spazio e' diviso in sfere d'influenza (SOI): un problema di n-corpi diventa una catena di problemi a 2 corpi kepleriani.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71576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83921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79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Manovre impulsive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280160" y="2953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Variazioni di velocita' istantanee: ipotesi valida per propulsione termochimica e per una stima preliminare dei costi.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3648456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77190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611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sistemi di riferimento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28016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Earth-Centered Inertial (ECI), Inerziale Eliocentrico (HCI) e Perifocale, scelti in base alla fase di missione.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537960" y="16916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missione in tre scenari concatenati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37960" y="21031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20840" y="2322576"/>
            <a:ext cx="475488" cy="475488"/>
          </a:xfrm>
          <a:prstGeom prst="ellipse">
            <a:avLst/>
          </a:prstGeom>
          <a:solidFill>
            <a:srgbClr val="001940"/>
          </a:solidFill>
          <a:ln/>
        </p:spPr>
      </p:sp>
      <p:sp>
        <p:nvSpPr>
          <p:cNvPr id="22" name="Text 17"/>
          <p:cNvSpPr/>
          <p:nvPr/>
        </p:nvSpPr>
        <p:spPr>
          <a:xfrm>
            <a:off x="6720840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7406640" y="22494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Raggiungimento dell'orbita di parcheggio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406640" y="26060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GTO a orbita di parcheggio geocentrica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37960" y="316382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20840" y="3383280"/>
            <a:ext cx="475488" cy="475488"/>
          </a:xfrm>
          <a:prstGeom prst="ellipse">
            <a:avLst/>
          </a:prstGeom>
          <a:solidFill>
            <a:srgbClr val="001940"/>
          </a:solidFill>
          <a:ln/>
        </p:spPr>
      </p:sp>
      <p:sp>
        <p:nvSpPr>
          <p:cNvPr id="27" name="Text 22"/>
          <p:cNvSpPr/>
          <p:nvPr/>
        </p:nvSpPr>
        <p:spPr>
          <a:xfrm>
            <a:off x="672084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28" name="Text 23"/>
          <p:cNvSpPr/>
          <p:nvPr/>
        </p:nvSpPr>
        <p:spPr>
          <a:xfrm>
            <a:off x="7406640" y="33101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Trasferimento interplanetario diretto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406640" y="366674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 eliocentrica Terra -&gt; asteroide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537960" y="422452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20840" y="4443984"/>
            <a:ext cx="475488" cy="475488"/>
          </a:xfrm>
          <a:prstGeom prst="ellipse">
            <a:avLst/>
          </a:prstGeom>
          <a:solidFill>
            <a:srgbClr val="001940"/>
          </a:solidFill>
          <a:ln/>
        </p:spPr>
      </p:sp>
      <p:sp>
        <p:nvSpPr>
          <p:cNvPr id="32" name="Text 27"/>
          <p:cNvSpPr/>
          <p:nvPr/>
        </p:nvSpPr>
        <p:spPr>
          <a:xfrm>
            <a:off x="672084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28"/>
          <p:cNvSpPr/>
          <p:nvPr/>
        </p:nvSpPr>
        <p:spPr>
          <a:xfrm>
            <a:off x="7406640" y="43708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 di fuga e di arrivo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06640" y="472744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Iperboli di fuga dalla Terra e cattura sull'asteroide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04088" y="32004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3108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ATTRATTORE: TERRA (ECI)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456432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Raggiungimento dell'orbita di parcheggio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76656" y="4572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Dall'orbita GTO iniziale a un'orbita di parcheggio geocentrica, privilegiando il risparmio di delta-V (e quindi di propellente) rispetto al tempo.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TRASFERIMENTO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Strategia standard: la baseline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predefinita in tre manovre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272284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11226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Cambio di piano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80160" y="23865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di inclinazione e RAAN, piu' efficiente lontano dall'attrattore.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3044952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68396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008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Cambio argomento del pericentro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280160" y="32826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Rotazione delle apsidi nel nuovo piano orbitale.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941064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064508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Trasferimento bitangente (pa)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280160" y="41788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pericentro iniziale e apocentro finale: efficiente per grandi variazioni di a ed 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502920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31520" y="513892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6.44</a:t>
            </a:r>
            <a:pPr algn="l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km/s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31520" y="568756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TOTALE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355848" y="502920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3520440" y="513892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</a:t>
            </a:r>
            <a:pPr algn="l" indent="0" marL="0">
              <a:buNone/>
            </a:pPr>
            <a:r>
              <a:rPr lang="en-US" sz="1300" b="1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giorni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3520440" y="568756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 VOLO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355080" y="17830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0A1A33"/>
          </a:solidFill>
          <a:ln w="12700">
            <a:solidFill>
              <a:srgbClr val="00194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27" name="Image 3" descr="/sessions/laughing-busy-clarke/mnt/outputs/gifs/sc1_standard.gif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64808" y="1892808"/>
            <a:ext cx="5038344" cy="3703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501384" y="192938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09EE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98882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19293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464808" y="5650992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standard di manovre (ECI)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OTTIMIZZAZIONE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Sequenza ottima delle manovre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Riordinare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stesse manovre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il costo. Un algoritmo confronta tutte le combinazioni di sequenza e ne sceglie la migliore.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ottima: Bitangente -&gt; Cambio piano -&gt; Cambio pericentro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Oberth: aumentando la velocita' al punto d'innesco, il bitangente costa meno.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Eseguito per primo, il cambio piano avviene su un'orbita piu' grande (velocita' minore -&gt; piu' economico).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rotazione del pericentro resta la voce dominante: la affronteremo con le orbite ausiliarie.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61772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7274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5.70</a:t>
            </a:r>
            <a:pPr algn="l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km/s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527608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(OTTIMO)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461772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47274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pPr algn="l" indent="0" marL="0">
              <a:buNone/>
            </a:pPr>
            <a:r>
              <a:rPr lang="en-US" sz="1300" b="1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giorni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20440" y="527608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 TEMPO (SEQ. 4)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sequenza piu' rapida (0,61 gg) non coincide con la piu' economica: emerge il compromesso delta-V / delta-t.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18" name="Image 0" descr="/sessions/laughing-busy-clarke/mnt/outputs/figs/sc1_seq_otti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3096" y="1819656"/>
            <a:ext cx="5001768" cy="39227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83096" y="581558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ottima per delta-V (Fig. 2.3 del report)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ORBITE AUSILIARIE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Circolarizzazione: abbattere il costo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chiave: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un'orbita ausiliaria circolare (e=0) la rotazione del pericentro diventa GRATUITA, e il cambio piano decade come 1/√a.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514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soluzioni a confronto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880360"/>
            <a:ext cx="2670048" cy="2240280"/>
          </a:xfrm>
          <a:prstGeom prst="roundRect">
            <a:avLst>
              <a:gd name="adj" fmla="val 367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302666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Quota ottimizzata (ai margini della SOI)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364845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2.87</a:t>
            </a:r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 km/s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" y="41239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112 giorni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445312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-50% di delta-V vs baseline, ma tempi molto lunghi.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2880360"/>
            <a:ext cx="2670048" cy="2240280"/>
          </a:xfrm>
          <a:prstGeom prst="roundRect">
            <a:avLst>
              <a:gd name="adj" fmla="val 367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302666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Quota GTO (singolo impulso all'apocentro)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364845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4.04</a:t>
            </a:r>
            <a:pPr indent="0" marL="0">
              <a:buNone/>
            </a:pPr>
            <a:r>
              <a:rPr lang="en-US" sz="1200" b="1" dirty="0">
                <a:solidFill>
                  <a:srgbClr val="009EE3"/>
                </a:solidFill>
              </a:rPr>
              <a:t> km/s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0440" y="41239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2.3 giorni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445312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Compromesso: -29% di delta-V mantenendo tempi brevi.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a_aux ottimo = a_aux,max ≈ 900.000 km, compatibile con la SOI terrestre (≈ 9,29·10⁵ km).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0A1A33"/>
          </a:solidFill>
          <a:ln w="12700">
            <a:solidFill>
              <a:srgbClr val="00194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21" name="Image 0" descr="/sessions/laughing-busy-clarke/mnt/outputs/gifs/sc1_circ_gto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64808" y="1801368"/>
            <a:ext cx="5038344" cy="39776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501384" y="183794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09EE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89738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812280" y="18379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464808" y="5833872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Circolarizzazione a quota GTO (soluzione B)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04088" y="32004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3108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ATTRATTORE: SOLE (HCI)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456432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Trasferimento interplanetario diretto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76656" y="4572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trasferimento a due impulsi dall'orbita eliocentrica della Terra a quella dell'asteroide. Tre metodi indipendenti per trovare - e validare - l'orbita ottima.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LE ORBITE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Terra, asteroide e variabili di progetto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8366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Asteroide 363505 (2003 UC20)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Semiasse  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20824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1,169·10⁸ km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74136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Eccentricita'  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99432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0,3369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" y="2706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Inclinazione  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20824" y="2706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0,066 rad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74136" y="2706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Diametro  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99432" y="2706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 km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5528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 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020824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6,914·10¹² kg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74136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 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99432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252 giorni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38404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incognite definiscono l'orbita di trasferimento: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66928" y="4251960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375404"/>
            <a:ext cx="265176" cy="2651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80160" y="42153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 — anomalia di partenza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1280160" y="44897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sull'orbita terrestre da cui parte il satellite.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66928" y="4965192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88636"/>
            <a:ext cx="265176" cy="2651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80160" y="49286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— anomalia di arrivo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280160" y="52029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in cui il satellite intercetta l'asteroide.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566928" y="5678424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801868"/>
            <a:ext cx="265176" cy="26517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80160" y="5641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ω_T — argomento del pericentro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1280160" y="5916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Orientamento dell'orbita di trasferimento nel piano.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36" name="Image 4" descr="/sessions/laughing-busy-clarke/mnt/outputs/figs/sc2_orbite_heli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83096" y="1819656"/>
            <a:ext cx="5001768" cy="39227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83096" y="581558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 eliocentriche di Terra e asteroide (Fig. 3.1)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METODO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GridSearch: ricerca a griglia adattiva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Esplorazione sistematica dello spazio [0, 2π]³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272284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11226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Griglia che si raffina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80160" y="23865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iterazione la griglia si ricentra sul minimo locale e dimezza l'ampiezza.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99008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1353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953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fisici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280160" y="32278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Scartate le orbite iperboliche (e≥1) e quelle che violano il margine di sicurezza dal Sole.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831336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954780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7947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280160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quando la variazione di delta-V tra due iterazioni scende sotto 10⁻⁴ km/s.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89204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31520" y="5001768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7.1380</a:t>
            </a:r>
            <a:pPr algn="l" indent="0" marL="0">
              <a:buNone/>
            </a:pPr>
            <a:r>
              <a:rPr lang="en-US" sz="1300" b="1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km/s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31520" y="555040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MINIMO  ·  Θᵢ=232,2°  ΘF=175,8°  Ω_T=126,0°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66928" y="6126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ma costoso: esplora l'intero dominio senza assunzioni iniziali.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25" name="Image 3" descr="/sessions/laughing-busy-clarke/mnt/outputs/figs/sc2_fasci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3096" y="1819656"/>
            <a:ext cx="5001768" cy="39227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83096" y="581558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Fascio di orbite sub-ottimali al variare di ω_T (Fig. 3.3)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METODO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Algoritmi evolutivi: GA e PSO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Genetico</a:t>
            </a:r>
            <a:pPr indent="0" marL="0">
              <a:buNone/>
            </a:pPr>
            <a:r>
              <a:rPr lang="en-US" sz="12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evoluzione di una popolazione di soluzioni x = [θᵢ, θf, ω_T]: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5486400" cy="420624"/>
          </a:xfrm>
          <a:prstGeom prst="roundRect">
            <a:avLst>
              <a:gd name="adj" fmla="val 26087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1168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Inizializzazione</a:t>
            </a:r>
            <a:pPr algn="ctr" indent="0" marL="0">
              <a:buNone/>
            </a:pPr>
            <a:r>
              <a:rPr lang="en-US" sz="1050" b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ctr" indent="0" marL="0">
              <a:buNone/>
            </a:pPr>
            <a:r>
              <a:rPr lang="en-US" sz="1050" b="1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ΔV</a:t>
            </a:r>
            <a:pPr algn="ctr" indent="0" marL="0">
              <a:buNone/>
            </a:pPr>
            <a:r>
              <a:rPr lang="en-US" sz="1050" b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ctr" indent="0" marL="0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pPr algn="ctr" indent="0" marL="0">
              <a:buNone/>
            </a:pPr>
            <a:r>
              <a:rPr lang="en-US" sz="1050" b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ctr" indent="0" marL="0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pPr algn="ctr" indent="0" marL="0">
              <a:buNone/>
            </a:pPr>
            <a:r>
              <a:rPr lang="en-US" sz="1050" b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ctr" indent="0" marL="0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Mutazione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Stocastico e derivative-free: ideale per domini non convessi con molti minimi locali.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automatico degli iperparametri (PopulationSize, MaxGenerations ≈ 80-130) via criterio sulla deviazione standard.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Raffinamento finale con fmincon (SQP): la curva e' quasi una retta orizzontale, segno dell'accuratezza del GA.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0F8FE"/>
          </a:solidFill>
          <a:ln w="12700">
            <a:solidFill>
              <a:srgbClr val="CDE7F8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736592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70432" y="46817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— Particle Swarm Optimization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70432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Sciami di particelle (Kennedy &amp; Eberhart, 1995). 200 run + fmincon: stessa soluzione del GA, con deviazione standard ancora minore (0,0345 km/s).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55080" y="1691640"/>
            <a:ext cx="52578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16" name="Image 1" descr="/sessions/laughing-busy-clarke/mnt/outputs/figs/sc2_ga_conv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3096" y="1819656"/>
            <a:ext cx="5001768" cy="2551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83096" y="444398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 dell'Algoritmo Genetico (Fig. 3.5)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355080" y="493776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001940"/>
          </a:solidFill>
          <a:ln/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83680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7.1380 km/s</a:t>
            </a:r>
            <a:endParaRPr lang="en-US" sz="2500" dirty="0"/>
          </a:p>
        </p:txBody>
      </p:sp>
      <p:sp>
        <p:nvSpPr>
          <p:cNvPr id="20" name="Text 16"/>
          <p:cNvSpPr/>
          <p:nvPr/>
        </p:nvSpPr>
        <p:spPr>
          <a:xfrm>
            <a:off x="8823960" y="5074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GridSearch, GA e PSO convergono allo STESSO risultato: ottimo globale validato.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04088" y="32004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3108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· IPERBOLI DI RACCORDO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456432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di fuga e di arrivo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76656" y="4572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coniche aperte che saldano i due scenari precedenti: l'iperbole di fuga dalla Terra e l'iperbole di cattura attorno all'asteroide.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· FUGA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Iperbole di fuga dalla Terra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2D ideale al 3D realistico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2140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24485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0848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Velocita' di eccesso iperbolico v∞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80160" y="23591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tra la velocita' sul trasferimento e quella della Terra: definisce l'iperbole.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99008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1353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953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2D — complanare (ideale)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280160" y="32278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Pericentri coincidenti, impulso tangente: delta-V ≈ 0,94 km/s.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85876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98221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221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3D — realistico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280160" y="40965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v∞ giace sull'eclittica, l'orbita di parcheggio sull'equatore: l'innesco e' un compromesso energia / cambio piano.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9377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31520" y="50474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3.79</a:t>
            </a:r>
            <a:pPr algn="l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km/s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31520" y="559612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FUGA (3D)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355848" y="49377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3520440" y="50474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4.37</a:t>
            </a:r>
            <a:pPr algn="l" indent="0" marL="0">
              <a:buNone/>
            </a:pPr>
            <a:r>
              <a:rPr lang="en-US" sz="1300" b="1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giorni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3520440" y="559612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 MANOVRA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66928" y="6126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L'iniezione ottimale (★) non e' al pericentro: e' il punto di minimo dispendio di propellente.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0A1A33"/>
          </a:solidFill>
          <a:ln w="12700">
            <a:solidFill>
              <a:srgbClr val="00194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28" name="Image 3" descr="/sessions/laughing-busy-clarke/mnt/outputs/gifs/sc3_fuga3d.gif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64808" y="1801368"/>
            <a:ext cx="5038344" cy="3977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501384" y="183794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09EE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89738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12280" y="18379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64808" y="5833872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Iperbole di fuga tridimensionale (ECI)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· ARRIVO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Cattura attorno all'asteroide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SOI minuscola: [8,05 – 16,23] km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2140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24485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0848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Iperbole quasi rettilinea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80160" y="23591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μ_ast ≈ 4,6·10⁻⁷ km³/s², l'eccentricita' e→∞: l'asintoto tende a una retta.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99008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1353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953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Circolare vs ellittica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280160" y="32278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su raggio ed eccentricita': l'ellittica vince di pochissimo (la circolare e' peggiore solo dello 0,004%).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858768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98221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221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elevato di frenata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280160" y="40965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L'attrazione debolissima impone un grande delta-V per inserirsi in orbita; il r_p ottimo e' il minimo.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9377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31520" y="50474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5.23</a:t>
            </a:r>
            <a:pPr algn="l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km/s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31520" y="559612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CATTURA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355848" y="49377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3520440" y="50474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3.09</a:t>
            </a:r>
            <a:pPr algn="l" indent="0" marL="0">
              <a:buNone/>
            </a:pPr>
            <a:r>
              <a:rPr lang="en-US" sz="1300" b="1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secondi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3520440" y="559612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SOI -&gt; PERICENTRO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66928" y="6126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 volo quasi istantaneo: SOI piccolissima e v∞ elevata in ingresso.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0A1A33"/>
          </a:solidFill>
          <a:ln w="12700">
            <a:solidFill>
              <a:srgbClr val="00194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28" name="Image 3" descr="/sessions/laughing-busy-clarke/mnt/outputs/gifs/sc3_cattura_ell.gif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64808" y="1801368"/>
            <a:ext cx="5038344" cy="3977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501384" y="183794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09EE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89738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12280" y="18379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64808" y="5833872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in orbita di cattura ellittica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· 1/2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Bilancio di missione: delta-V e tempi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852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di missione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ΔV [km/s]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 [giorni]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Manovre SC1  (circolarizzazione)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dalla Terra  (iperbole 3D)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Cattura sull'asteroide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5,2297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1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MISSIONE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1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11,8897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1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-8229600" y="-82296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Le singole celle ΔV e Δt sono allineate al centro; la fase a sinistra.</a:t>
            </a:r>
            <a:endParaRPr lang="en-US" sz="100" dirty="0"/>
          </a:p>
        </p:txBody>
      </p:sp>
      <p:sp>
        <p:nvSpPr>
          <p:cNvPr id="9" name="Shape 6"/>
          <p:cNvSpPr/>
          <p:nvPr/>
        </p:nvSpPr>
        <p:spPr>
          <a:xfrm>
            <a:off x="6720840" y="1828800"/>
            <a:ext cx="4892040" cy="1463040"/>
          </a:xfrm>
          <a:prstGeom prst="roundRect">
            <a:avLst>
              <a:gd name="adj" fmla="val 7500"/>
            </a:avLst>
          </a:prstGeom>
          <a:solidFill>
            <a:srgbClr val="001940"/>
          </a:solidFill>
          <a:ln/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2128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9933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11,89 </a:t>
            </a:r>
            <a:pPr indent="0" marL="0">
              <a:buNone/>
            </a:pPr>
            <a:r>
              <a:rPr lang="en-US" sz="1800" b="1" dirty="0">
                <a:solidFill>
                  <a:srgbClr val="009EE3"/>
                </a:solidFill>
              </a:rPr>
              <a:t>km/s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607808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totale della missione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720840" y="3456432"/>
            <a:ext cx="4892040" cy="146304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25400" dir="5400000">
              <a:srgbClr val="3A4654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67728" y="3840480"/>
            <a:ext cx="457200" cy="457200"/>
          </a:xfrm>
          <a:prstGeom prst="ellipse">
            <a:avLst/>
          </a:prstGeom>
          <a:solidFill>
            <a:srgbClr val="009EE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840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362102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212 </a:t>
            </a:r>
            <a:pPr indent="0" marL="0">
              <a:buNone/>
            </a:pPr>
            <a:r>
              <a:rPr lang="en-US" sz="1800" b="1" dirty="0">
                <a:solidFill>
                  <a:srgbClr val="009EE3"/>
                </a:solidFill>
              </a:rPr>
              <a:t>giorni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7607808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totale, dominato dalla soluzione dello SC1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66928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 cautelativa: non include gravity assist ne' i margini statistici di sicurezza sulle manovre.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365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· 2/2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delta-V al propellente, al lanciatore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916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Equazione di Tsiolkovsky</a:t>
            </a:r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bipropellente LH₂/LOX, Isp = 450 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19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mₚ / m₀ = 1 − e^(−ΔV / Isp·g₀)   =   93,24 %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049524"/>
            <a:ext cx="26517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8895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93,24% di propellente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80160" y="3163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500 kg di massa a secco, servono ≈ 7.400 kg al lancio, di cui ≈ 6,9 t di solo propellente.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886200"/>
            <a:ext cx="512064" cy="512064"/>
          </a:xfrm>
          <a:prstGeom prst="ellipse">
            <a:avLst/>
          </a:prstGeom>
          <a:solidFill>
            <a:srgbClr val="00194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009644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384962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Lanciatore: Falcon Heavy (SpaceX)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280160" y="41239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lanciatore pesante per immettere ≈ 7,4 t su traiettoria interplanetaria.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720840" y="1737360"/>
            <a:ext cx="48920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E8CA0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9385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0664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 economica diretta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424928" y="2304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milioni di $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967728" y="24871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Lanciatore pesante (Falcon Heavy)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0241280" y="24871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967728" y="29443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Propellente criogenico (≈6,9 t)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0241280" y="29443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967728" y="3401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 di missione + rete DSN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0241280" y="34015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967728" y="3913632"/>
            <a:ext cx="441655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967728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totale stimato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86968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190,2 </a:t>
            </a:r>
            <a:pPr algn="r" indent="0" marL="0">
              <a:buNone/>
            </a:pPr>
            <a:r>
              <a:rPr lang="en-US" sz="1400" b="1" dirty="0">
                <a:solidFill>
                  <a:srgbClr val="F2A900"/>
                </a:solidFill>
              </a:rPr>
              <a:t>M$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566928" y="5257800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 reale: la missione OSIRIS-REx (NASA) ha raggiunto l'asteroide Bennu con propulsione termochimica, riportando campioni a Terra.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 ·  Laboratorio di Analisi di Missioni Spaziali  ·  A.A. 2025-2026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310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</a:t>
            </a:r>
            <a:pPr algn="r" indent="0" marL="0">
              <a:buNone/>
            </a:pPr>
            <a:r>
              <a:rPr lang="en-US" sz="1100" b="1" spc="14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MILANO</a:t>
            </a:r>
            <a:endParaRPr lang="en-US" sz="1100" dirty="0"/>
          </a:p>
        </p:txBody>
      </p:sp>
      <p:pic>
        <p:nvPicPr>
          <p:cNvPr id="3" name="Image 0" descr="/sessions/laughing-busy-clarke/mnt/outputs/assets/asteroid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8503920" y="457200"/>
            <a:ext cx="310896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9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missione completa, dall'orbita di parcheggio all'asteroide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76656" y="27432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5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scenari concatenati risolti con il modello a patched conics e manovre impulsive.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5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 validata da tre metodi indipendenti (GridSearch, GA, PSO): ΔV = 7,1380 km/s.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5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Bilancio complessivo: ΔV ≈ 11,89 km/s in ≈ 212 giorni, 93% di propellente, ≈ 190 M$.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76656" y="4892040"/>
            <a:ext cx="6949440" cy="0"/>
          </a:xfrm>
          <a:prstGeom prst="line">
            <a:avLst/>
          </a:prstGeom>
          <a:noFill/>
          <a:ln w="15240">
            <a:solidFill>
              <a:srgbClr val="2E4A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074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5669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23 · Amr Abou Eish · Simone Amoruso · Filippo Antonioni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Trasferimento orbitale verso l'asteroide 363505 (2003 UC20)</dc:title>
  <dc:subject>PptxGenJS Presentation</dc:subject>
  <dc:creator>Gruppo 23 - LAMS</dc:creator>
  <cp:lastModifiedBy>Gruppo 23 - LAMS</cp:lastModifiedBy>
  <cp:revision>1</cp:revision>
  <dcterms:created xsi:type="dcterms:W3CDTF">2026-06-19T15:37:35Z</dcterms:created>
  <dcterms:modified xsi:type="dcterms:W3CDTF">2026-06-19T15:37:35Z</dcterms:modified>
</cp:coreProperties>
</file>